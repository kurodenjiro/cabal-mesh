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09728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0972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920" y="201168"/>
            <a:ext cx="-109728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201168"/>
            <a:ext cx="0" cy="10972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488168"/>
            <a:ext cx="109728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488168"/>
            <a:ext cx="0" cy="-10972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0488168"/>
            <a:ext cx="-109728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0488168"/>
            <a:ext cx="0" cy="-109728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38404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b="1" spc="2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CABALMESH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32504" y="384048"/>
            <a:ext cx="3108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800" b="1" spc="22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· ONE PAGE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" y="566928"/>
            <a:ext cx="67208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pic>
        <p:nvPicPr>
          <p:cNvPr id="13" name="Image 0" descr="/Users/mac/dev/Cabal-Mesh/src/ds/assets/logo/minimal-m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92824" y="786384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0624" y="786384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TRUE STORY, THEN THE NETWORK AROUND IT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93192" y="98755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months, five phases,</a:t>
            </a:r>
            <a:endParaRPr lang="en-US" sz="2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dependency chain.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20624" y="17190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phase is scoped from what the code does today, and sequenced so each one unblocks the next. Windows are planned execution ranges: phase N+1 starts when phase N’s definition of done is met, not on a calendar trigger.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420624" y="2103120"/>
            <a:ext cx="67208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2157984"/>
            <a:ext cx="149733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20" b="1" spc="16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530352" y="2276856"/>
            <a:ext cx="149733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2026 → Jan 2027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100834" y="2103120"/>
            <a:ext cx="0" cy="384048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10562" y="2157984"/>
            <a:ext cx="149733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20" b="1" spc="16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620" dirty="0"/>
          </a:p>
        </p:txBody>
      </p:sp>
      <p:sp>
        <p:nvSpPr>
          <p:cNvPr id="22" name="Text 19"/>
          <p:cNvSpPr/>
          <p:nvPr/>
        </p:nvSpPr>
        <p:spPr>
          <a:xfrm>
            <a:off x="2210562" y="2276856"/>
            <a:ext cx="149733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kurodenjiro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781044" y="2103120"/>
            <a:ext cx="0" cy="384048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90772" y="2157984"/>
            <a:ext cx="149733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20" b="1" spc="16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620" dirty="0"/>
          </a:p>
        </p:txBody>
      </p:sp>
      <p:sp>
        <p:nvSpPr>
          <p:cNvPr id="25" name="Text 22"/>
          <p:cNvSpPr/>
          <p:nvPr/>
        </p:nvSpPr>
        <p:spPr>
          <a:xfrm>
            <a:off x="3890772" y="2276856"/>
            <a:ext cx="149733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product-status.md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61254" y="2103120"/>
            <a:ext cx="0" cy="384048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70982" y="2157984"/>
            <a:ext cx="149733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20" b="1" spc="16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</a:t>
            </a:r>
            <a:endParaRPr lang="en-US" sz="620" dirty="0"/>
          </a:p>
        </p:txBody>
      </p:sp>
      <p:sp>
        <p:nvSpPr>
          <p:cNvPr id="28" name="Text 25"/>
          <p:cNvSpPr/>
          <p:nvPr/>
        </p:nvSpPr>
        <p:spPr>
          <a:xfrm>
            <a:off x="5570982" y="2276856"/>
            <a:ext cx="149733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2026-08-19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20624" y="2468880"/>
            <a:ext cx="67208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20624" y="2656332"/>
            <a:ext cx="82296" cy="822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1" name="Text 28"/>
          <p:cNvSpPr/>
          <p:nvPr/>
        </p:nvSpPr>
        <p:spPr>
          <a:xfrm>
            <a:off x="594360" y="2615184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— READ OUT OF THE CODE, NOT THE PITCH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20624" y="2798064"/>
            <a:ext cx="67208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0624" y="2907792"/>
            <a:ext cx="2130552" cy="20117"/>
          </a:xfrm>
          <a:prstGeom prst="rect">
            <a:avLst/>
          </a:prstGeom>
          <a:solidFill>
            <a:srgbClr val="9BFF00"/>
          </a:solidFill>
          <a:ln/>
        </p:spPr>
      </p:sp>
      <p:sp>
        <p:nvSpPr>
          <p:cNvPr id="34" name="Text 31"/>
          <p:cNvSpPr/>
          <p:nvPr/>
        </p:nvSpPr>
        <p:spPr>
          <a:xfrm>
            <a:off x="420624" y="2990088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40" b="1" spc="120" kern="0" dirty="0">
                <a:solidFill>
                  <a:srgbClr val="9B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END TO END</a:t>
            </a:r>
            <a:endParaRPr lang="en-US" sz="640" dirty="0"/>
          </a:p>
        </p:txBody>
      </p:sp>
      <p:sp>
        <p:nvSpPr>
          <p:cNvPr id="35" name="Text 32"/>
          <p:cNvSpPr/>
          <p:nvPr/>
        </p:nvSpPr>
        <p:spPr>
          <a:xfrm>
            <a:off x="420624" y="3145536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libp2p, mDNS, gossipsub</a:t>
            </a:r>
            <a:endParaRPr lang="en-US" sz="690" dirty="0"/>
          </a:p>
        </p:txBody>
      </p:sp>
      <p:sp>
        <p:nvSpPr>
          <p:cNvPr id="36" name="Text 33"/>
          <p:cNvSpPr/>
          <p:nvPr/>
        </p:nvSpPr>
        <p:spPr>
          <a:xfrm>
            <a:off x="420624" y="3275381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offline plane — iOS, Android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420624" y="3405226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lifecycle, compose to proof</a:t>
            </a:r>
            <a:endParaRPr lang="en-US" sz="690" dirty="0"/>
          </a:p>
        </p:txBody>
      </p:sp>
      <p:sp>
        <p:nvSpPr>
          <p:cNvPr id="38" name="Text 35"/>
          <p:cNvSpPr/>
          <p:nvPr/>
        </p:nvSpPr>
        <p:spPr>
          <a:xfrm>
            <a:off x="420624" y="3535070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live on Avalanche Fuji</a:t>
            </a:r>
            <a:endParaRPr lang="en-US" sz="690" dirty="0"/>
          </a:p>
        </p:txBody>
      </p:sp>
      <p:sp>
        <p:nvSpPr>
          <p:cNvPr id="39" name="Text 36"/>
          <p:cNvSpPr/>
          <p:nvPr/>
        </p:nvSpPr>
        <p:spPr>
          <a:xfrm>
            <a:off x="420624" y="3664915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signing + relay queue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420624" y="3794760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— AES-256-GCM</a:t>
            </a:r>
            <a:endParaRPr lang="en-US" sz="690" dirty="0"/>
          </a:p>
        </p:txBody>
      </p:sp>
      <p:sp>
        <p:nvSpPr>
          <p:cNvPr id="41" name="Text 38"/>
          <p:cNvSpPr/>
          <p:nvPr/>
        </p:nvSpPr>
        <p:spPr>
          <a:xfrm>
            <a:off x="420624" y="3924605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mesh unlock</a:t>
            </a:r>
            <a:endParaRPr lang="en-US" sz="690" dirty="0"/>
          </a:p>
        </p:txBody>
      </p:sp>
      <p:sp>
        <p:nvSpPr>
          <p:cNvPr id="42" name="Shape 39"/>
          <p:cNvSpPr/>
          <p:nvPr/>
        </p:nvSpPr>
        <p:spPr>
          <a:xfrm>
            <a:off x="2715768" y="2907792"/>
            <a:ext cx="2130552" cy="20117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3" name="Text 40"/>
          <p:cNvSpPr/>
          <p:nvPr/>
        </p:nvSpPr>
        <p:spPr>
          <a:xfrm>
            <a:off x="2715768" y="2990088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40" b="1" spc="12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EXISTS, BEHAVIOUR DOES NOT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715768" y="3145536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— parsed, no routing code</a:t>
            </a:r>
            <a:endParaRPr lang="en-US" sz="690" dirty="0"/>
          </a:p>
        </p:txBody>
      </p:sp>
      <p:sp>
        <p:nvSpPr>
          <p:cNvPr id="45" name="Text 42"/>
          <p:cNvSpPr/>
          <p:nvPr/>
        </p:nvSpPr>
        <p:spPr>
          <a:xfrm>
            <a:off x="2715768" y="3275381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— labels, no strategy differs</a:t>
            </a:r>
            <a:endParaRPr lang="en-US" sz="690" dirty="0"/>
          </a:p>
        </p:txBody>
      </p:sp>
      <p:sp>
        <p:nvSpPr>
          <p:cNvPr id="46" name="Text 43"/>
          <p:cNvSpPr/>
          <p:nvPr/>
        </p:nvSpPr>
        <p:spPr>
          <a:xfrm>
            <a:off x="2715768" y="3405226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/ STAKE — every path is Escrow</a:t>
            </a:r>
            <a:endParaRPr lang="en-US" sz="690" dirty="0"/>
          </a:p>
        </p:txBody>
      </p:sp>
      <p:sp>
        <p:nvSpPr>
          <p:cNvPr id="47" name="Text 44"/>
          <p:cNvSpPr/>
          <p:nvPr/>
        </p:nvSpPr>
        <p:spPr>
          <a:xfrm>
            <a:off x="2715768" y="3535070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· WETH · BTC.b — never funded</a:t>
            </a:r>
            <a:endParaRPr lang="en-US" sz="690" dirty="0"/>
          </a:p>
        </p:txBody>
      </p:sp>
      <p:sp>
        <p:nvSpPr>
          <p:cNvPr id="48" name="Shape 45"/>
          <p:cNvSpPr/>
          <p:nvPr/>
        </p:nvSpPr>
        <p:spPr>
          <a:xfrm>
            <a:off x="5010912" y="2907792"/>
            <a:ext cx="2130552" cy="20117"/>
          </a:xfrm>
          <a:prstGeom prst="rect">
            <a:avLst/>
          </a:prstGeom>
          <a:solidFill>
            <a:srgbClr val="FF3B3B"/>
          </a:solidFill>
          <a:ln/>
        </p:spPr>
      </p:sp>
      <p:sp>
        <p:nvSpPr>
          <p:cNvPr id="49" name="Text 46"/>
          <p:cNvSpPr/>
          <p:nvPr/>
        </p:nvSpPr>
        <p:spPr>
          <a:xfrm>
            <a:off x="5010912" y="2990088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40" b="1" spc="120" kern="0" dirty="0">
                <a:solidFill>
                  <a:srgbClr val="FF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WIRED UP AT ALL</a:t>
            </a:r>
            <a:endParaRPr lang="en-US" sz="640" dirty="0"/>
          </a:p>
        </p:txBody>
      </p:sp>
      <p:sp>
        <p:nvSpPr>
          <p:cNvPr id="50" name="Text 47"/>
          <p:cNvSpPr/>
          <p:nvPr/>
        </p:nvSpPr>
        <p:spPr>
          <a:xfrm>
            <a:off x="5010912" y="3145536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negotiation — called nowhere</a:t>
            </a:r>
            <a:endParaRPr lang="en-US" sz="690" dirty="0"/>
          </a:p>
        </p:txBody>
      </p:sp>
      <p:sp>
        <p:nvSpPr>
          <p:cNvPr id="51" name="Text 48"/>
          <p:cNvSpPr/>
          <p:nvPr/>
        </p:nvSpPr>
        <p:spPr>
          <a:xfrm>
            <a:off x="5010912" y="3275381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— contracts inert</a:t>
            </a:r>
            <a:endParaRPr lang="en-US" sz="690" dirty="0"/>
          </a:p>
        </p:txBody>
      </p:sp>
      <p:sp>
        <p:nvSpPr>
          <p:cNvPr id="52" name="Text 49"/>
          <p:cNvSpPr/>
          <p:nvPr/>
        </p:nvSpPr>
        <p:spPr>
          <a:xfrm>
            <a:off x="5010912" y="3405226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— no proving code in the build</a:t>
            </a:r>
            <a:endParaRPr lang="en-US" sz="690" dirty="0"/>
          </a:p>
        </p:txBody>
      </p:sp>
      <p:sp>
        <p:nvSpPr>
          <p:cNvPr id="53" name="Text 50"/>
          <p:cNvSpPr/>
          <p:nvPr/>
        </p:nvSpPr>
        <p:spPr>
          <a:xfrm>
            <a:off x="5010912" y="3535070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FHE / MPC — no code exists</a:t>
            </a:r>
            <a:endParaRPr lang="en-US" sz="690" dirty="0"/>
          </a:p>
        </p:txBody>
      </p:sp>
      <p:sp>
        <p:nvSpPr>
          <p:cNvPr id="54" name="Text 51"/>
          <p:cNvSpPr/>
          <p:nvPr/>
        </p:nvSpPr>
        <p:spPr>
          <a:xfrm>
            <a:off x="5010912" y="3664915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delay + veto</a:t>
            </a:r>
            <a:endParaRPr lang="en-US" sz="690" dirty="0"/>
          </a:p>
        </p:txBody>
      </p:sp>
      <p:sp>
        <p:nvSpPr>
          <p:cNvPr id="55" name="Text 52"/>
          <p:cNvSpPr/>
          <p:nvPr/>
        </p:nvSpPr>
        <p:spPr>
          <a:xfrm>
            <a:off x="5010912" y="3794760"/>
            <a:ext cx="213055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9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PIN — blocked on ticket 21</a:t>
            </a:r>
            <a:endParaRPr lang="en-US" sz="690" dirty="0"/>
          </a:p>
        </p:txBody>
      </p:sp>
      <p:sp>
        <p:nvSpPr>
          <p:cNvPr id="56" name="Shape 53"/>
          <p:cNvSpPr/>
          <p:nvPr/>
        </p:nvSpPr>
        <p:spPr>
          <a:xfrm>
            <a:off x="420624" y="4155948"/>
            <a:ext cx="82296" cy="822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7" name="Text 54"/>
          <p:cNvSpPr/>
          <p:nvPr/>
        </p:nvSpPr>
        <p:spPr>
          <a:xfrm>
            <a:off x="594360" y="4114800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420624" y="4297680"/>
            <a:ext cx="67208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063240" y="429768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b="1" spc="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26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3749040" y="429768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b="1" spc="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600" dirty="0"/>
          </a:p>
        </p:txBody>
      </p:sp>
      <p:sp>
        <p:nvSpPr>
          <p:cNvPr id="61" name="Shape 58"/>
          <p:cNvSpPr/>
          <p:nvPr/>
        </p:nvSpPr>
        <p:spPr>
          <a:xfrm>
            <a:off x="3712464" y="4443984"/>
            <a:ext cx="0" cy="123444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434840" y="429768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b="1" spc="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600" dirty="0"/>
          </a:p>
        </p:txBody>
      </p:sp>
      <p:sp>
        <p:nvSpPr>
          <p:cNvPr id="63" name="Shape 60"/>
          <p:cNvSpPr/>
          <p:nvPr/>
        </p:nvSpPr>
        <p:spPr>
          <a:xfrm>
            <a:off x="4398264" y="4443984"/>
            <a:ext cx="0" cy="123444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120640" y="429768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b="1" spc="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600" dirty="0"/>
          </a:p>
        </p:txBody>
      </p:sp>
      <p:sp>
        <p:nvSpPr>
          <p:cNvPr id="65" name="Shape 62"/>
          <p:cNvSpPr/>
          <p:nvPr/>
        </p:nvSpPr>
        <p:spPr>
          <a:xfrm>
            <a:off x="5084064" y="4443984"/>
            <a:ext cx="0" cy="123444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06440" y="429768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b="1" spc="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600" dirty="0"/>
          </a:p>
        </p:txBody>
      </p:sp>
      <p:sp>
        <p:nvSpPr>
          <p:cNvPr id="67" name="Shape 64"/>
          <p:cNvSpPr/>
          <p:nvPr/>
        </p:nvSpPr>
        <p:spPr>
          <a:xfrm>
            <a:off x="5769864" y="4443984"/>
            <a:ext cx="0" cy="123444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492240" y="4297680"/>
            <a:ext cx="6858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b="1" spc="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27</a:t>
            </a:r>
            <a:endParaRPr lang="en-US" sz="600" dirty="0"/>
          </a:p>
        </p:txBody>
      </p:sp>
      <p:sp>
        <p:nvSpPr>
          <p:cNvPr id="69" name="Shape 66"/>
          <p:cNvSpPr/>
          <p:nvPr/>
        </p:nvSpPr>
        <p:spPr>
          <a:xfrm>
            <a:off x="6455664" y="4443984"/>
            <a:ext cx="0" cy="123444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20624" y="4494276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731520" y="4494276"/>
            <a:ext cx="2240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recovery &amp; AI intent parsing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3054096" y="4498848"/>
            <a:ext cx="1280160" cy="1371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3" name="Text 70"/>
          <p:cNvSpPr/>
          <p:nvPr/>
        </p:nvSpPr>
        <p:spPr>
          <a:xfrm>
            <a:off x="420624" y="4741164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731520" y="4741164"/>
            <a:ext cx="2240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sales &amp; hardware devices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739896" y="4745736"/>
            <a:ext cx="1280160" cy="137160"/>
          </a:xfrm>
          <a:prstGeom prst="rect">
            <a:avLst/>
          </a:prstGeom>
          <a:solidFill>
            <a:srgbClr val="00B8CE"/>
          </a:solidFill>
          <a:ln/>
        </p:spPr>
      </p:sp>
      <p:sp>
        <p:nvSpPr>
          <p:cNvPr id="76" name="Text 73"/>
          <p:cNvSpPr/>
          <p:nvPr/>
        </p:nvSpPr>
        <p:spPr>
          <a:xfrm>
            <a:off x="420624" y="498805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731520" y="4988052"/>
            <a:ext cx="2240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goes live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4425696" y="4992624"/>
            <a:ext cx="1280160" cy="137160"/>
          </a:xfrm>
          <a:prstGeom prst="rect">
            <a:avLst/>
          </a:prstGeom>
          <a:solidFill>
            <a:srgbClr val="2E8494"/>
          </a:solidFill>
          <a:ln/>
        </p:spPr>
      </p:sp>
      <p:sp>
        <p:nvSpPr>
          <p:cNvPr id="79" name="Text 76"/>
          <p:cNvSpPr/>
          <p:nvPr/>
        </p:nvSpPr>
        <p:spPr>
          <a:xfrm>
            <a:off x="420624" y="5234940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00" dirty="0"/>
          </a:p>
        </p:txBody>
      </p:sp>
      <p:sp>
        <p:nvSpPr>
          <p:cNvPr id="80" name="Text 77"/>
          <p:cNvSpPr/>
          <p:nvPr/>
        </p:nvSpPr>
        <p:spPr>
          <a:xfrm>
            <a:off x="731520" y="5234940"/>
            <a:ext cx="2240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verification &amp; negotiation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5111496" y="5239512"/>
            <a:ext cx="1280160" cy="137160"/>
          </a:xfrm>
          <a:prstGeom prst="rect">
            <a:avLst/>
          </a:prstGeom>
          <a:solidFill>
            <a:srgbClr val="3C6068"/>
          </a:solidFill>
          <a:ln/>
        </p:spPr>
      </p:sp>
      <p:sp>
        <p:nvSpPr>
          <p:cNvPr id="82" name="Text 79"/>
          <p:cNvSpPr/>
          <p:nvPr/>
        </p:nvSpPr>
        <p:spPr>
          <a:xfrm>
            <a:off x="420624" y="5481828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00" dirty="0"/>
          </a:p>
        </p:txBody>
      </p:sp>
      <p:sp>
        <p:nvSpPr>
          <p:cNvPr id="83" name="Text 80"/>
          <p:cNvSpPr/>
          <p:nvPr/>
        </p:nvSpPr>
        <p:spPr>
          <a:xfrm>
            <a:off x="731520" y="5481828"/>
            <a:ext cx="2240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compute &amp; platform hardening</a:t>
            </a:r>
            <a:endParaRPr lang="en-US" sz="700" dirty="0"/>
          </a:p>
        </p:txBody>
      </p:sp>
      <p:sp>
        <p:nvSpPr>
          <p:cNvPr id="84" name="Shape 81"/>
          <p:cNvSpPr/>
          <p:nvPr/>
        </p:nvSpPr>
        <p:spPr>
          <a:xfrm>
            <a:off x="5797296" y="5486400"/>
            <a:ext cx="1280160" cy="13716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85" name="Shape 82"/>
          <p:cNvSpPr/>
          <p:nvPr/>
        </p:nvSpPr>
        <p:spPr>
          <a:xfrm>
            <a:off x="420624" y="5865876"/>
            <a:ext cx="82296" cy="822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6" name="Text 83"/>
          <p:cNvSpPr/>
          <p:nvPr/>
        </p:nvSpPr>
        <p:spPr>
          <a:xfrm>
            <a:off x="594360" y="5824728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— GOAL AND DEFINITION OF DONE</a:t>
            </a:r>
            <a:endParaRPr lang="en-US" sz="750" dirty="0"/>
          </a:p>
        </p:txBody>
      </p:sp>
      <p:sp>
        <p:nvSpPr>
          <p:cNvPr id="87" name="Shape 84"/>
          <p:cNvSpPr/>
          <p:nvPr/>
        </p:nvSpPr>
        <p:spPr>
          <a:xfrm>
            <a:off x="420624" y="6007608"/>
            <a:ext cx="67208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20624" y="606247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768096" y="6071616"/>
            <a:ext cx="3108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recovery &amp; AI intent parsing</a:t>
            </a:r>
            <a:endParaRPr lang="en-US" sz="820" dirty="0"/>
          </a:p>
        </p:txBody>
      </p:sp>
      <p:sp>
        <p:nvSpPr>
          <p:cNvPr id="90" name="Text 87"/>
          <p:cNvSpPr/>
          <p:nvPr/>
        </p:nvSpPr>
        <p:spPr>
          <a:xfrm>
            <a:off x="3986784" y="608076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60" b="1" spc="1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– SEP 2026</a:t>
            </a:r>
            <a:endParaRPr lang="en-US" sz="660" dirty="0"/>
          </a:p>
        </p:txBody>
      </p:sp>
      <p:sp>
        <p:nvSpPr>
          <p:cNvPr id="91" name="Shape 88"/>
          <p:cNvSpPr/>
          <p:nvPr/>
        </p:nvSpPr>
        <p:spPr>
          <a:xfrm>
            <a:off x="6300216" y="6067044"/>
            <a:ext cx="841248" cy="137160"/>
          </a:xfrm>
          <a:prstGeom prst="rect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300216" y="6067044"/>
            <a:ext cx="8412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b="1" spc="8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540" dirty="0"/>
          </a:p>
        </p:txBody>
      </p:sp>
      <p:sp>
        <p:nvSpPr>
          <p:cNvPr id="93" name="Text 90"/>
          <p:cNvSpPr/>
          <p:nvPr/>
        </p:nvSpPr>
        <p:spPr>
          <a:xfrm>
            <a:off x="768096" y="6213348"/>
            <a:ext cx="6373368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1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lose-the-device risk; turn typed language back into a validated intent draft.</a:t>
            </a:r>
            <a:endParaRPr lang="en-US" sz="710" dirty="0"/>
          </a:p>
        </p:txBody>
      </p:sp>
      <p:sp>
        <p:nvSpPr>
          <p:cNvPr id="94" name="Text 91"/>
          <p:cNvSpPr/>
          <p:nvPr/>
        </p:nvSpPr>
        <p:spPr>
          <a:xfrm>
            <a:off x="768096" y="6350508"/>
            <a:ext cx="637336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— A wiped device restores from 3-of-5 guardians with a live 24h veto window on real hardware, and a typed intent parses into editable chips.</a:t>
            </a:r>
            <a:endParaRPr lang="en-US" sz="670" dirty="0"/>
          </a:p>
        </p:txBody>
      </p:sp>
      <p:sp>
        <p:nvSpPr>
          <p:cNvPr id="95" name="Shape 92"/>
          <p:cNvSpPr/>
          <p:nvPr/>
        </p:nvSpPr>
        <p:spPr>
          <a:xfrm>
            <a:off x="420624" y="6528816"/>
            <a:ext cx="672084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420624" y="656539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97" name="Text 94"/>
          <p:cNvSpPr/>
          <p:nvPr/>
        </p:nvSpPr>
        <p:spPr>
          <a:xfrm>
            <a:off x="768096" y="6574536"/>
            <a:ext cx="3108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sales &amp; hardware devices</a:t>
            </a:r>
            <a:endParaRPr lang="en-US" sz="820" dirty="0"/>
          </a:p>
        </p:txBody>
      </p:sp>
      <p:sp>
        <p:nvSpPr>
          <p:cNvPr id="98" name="Text 95"/>
          <p:cNvSpPr/>
          <p:nvPr/>
        </p:nvSpPr>
        <p:spPr>
          <a:xfrm>
            <a:off x="3986784" y="658368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60" b="1" spc="1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– OCT 2026</a:t>
            </a:r>
            <a:endParaRPr lang="en-US" sz="660" dirty="0"/>
          </a:p>
        </p:txBody>
      </p:sp>
      <p:sp>
        <p:nvSpPr>
          <p:cNvPr id="99" name="Shape 96"/>
          <p:cNvSpPr/>
          <p:nvPr/>
        </p:nvSpPr>
        <p:spPr>
          <a:xfrm>
            <a:off x="6300216" y="6569964"/>
            <a:ext cx="841248" cy="137160"/>
          </a:xfrm>
          <a:prstGeom prst="rect">
            <a:avLst/>
          </a:prstGeom>
          <a:ln w="12700">
            <a:solidFill>
              <a:srgbClr val="BEBEBE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6300216" y="6569964"/>
            <a:ext cx="8412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b="1" spc="80" kern="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540" dirty="0"/>
          </a:p>
        </p:txBody>
      </p:sp>
      <p:sp>
        <p:nvSpPr>
          <p:cNvPr id="101" name="Text 98"/>
          <p:cNvSpPr/>
          <p:nvPr/>
        </p:nvSpPr>
        <p:spPr>
          <a:xfrm>
            <a:off x="768096" y="6716268"/>
            <a:ext cx="6373368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1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ShadowBox and the Nobody Box as concept products, plus a pre-order channel. Marketing/BD, not firmware.</a:t>
            </a:r>
            <a:endParaRPr lang="en-US" sz="710" dirty="0"/>
          </a:p>
        </p:txBody>
      </p:sp>
      <p:sp>
        <p:nvSpPr>
          <p:cNvPr id="102" name="Text 99"/>
          <p:cNvSpPr/>
          <p:nvPr/>
        </p:nvSpPr>
        <p:spPr>
          <a:xfrm>
            <a:off x="768096" y="6853428"/>
            <a:ext cx="637336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— Both devices have finished renders, a pre-order page is live, and one campaign reaches beyond current testers.</a:t>
            </a:r>
            <a:endParaRPr lang="en-US" sz="670" dirty="0"/>
          </a:p>
        </p:txBody>
      </p:sp>
      <p:sp>
        <p:nvSpPr>
          <p:cNvPr id="103" name="Shape 100"/>
          <p:cNvSpPr/>
          <p:nvPr/>
        </p:nvSpPr>
        <p:spPr>
          <a:xfrm>
            <a:off x="420624" y="7031736"/>
            <a:ext cx="672084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420624" y="706831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68096" y="7077456"/>
            <a:ext cx="3108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goes live</a:t>
            </a:r>
            <a:endParaRPr lang="en-US" sz="820" dirty="0"/>
          </a:p>
        </p:txBody>
      </p:sp>
      <p:sp>
        <p:nvSpPr>
          <p:cNvPr id="106" name="Text 103"/>
          <p:cNvSpPr/>
          <p:nvPr/>
        </p:nvSpPr>
        <p:spPr>
          <a:xfrm>
            <a:off x="3986784" y="708660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60" b="1" spc="1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– NOV 2026</a:t>
            </a:r>
            <a:endParaRPr lang="en-US" sz="660" dirty="0"/>
          </a:p>
        </p:txBody>
      </p:sp>
      <p:sp>
        <p:nvSpPr>
          <p:cNvPr id="107" name="Shape 104"/>
          <p:cNvSpPr/>
          <p:nvPr/>
        </p:nvSpPr>
        <p:spPr>
          <a:xfrm>
            <a:off x="6300216" y="7072884"/>
            <a:ext cx="841248" cy="137160"/>
          </a:xfrm>
          <a:prstGeom prst="rect">
            <a:avLst/>
          </a:prstGeom>
          <a:ln w="12700">
            <a:solidFill>
              <a:srgbClr val="BEBEBE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6300216" y="7072884"/>
            <a:ext cx="8412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b="1" spc="80" kern="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540" dirty="0"/>
          </a:p>
        </p:txBody>
      </p:sp>
      <p:sp>
        <p:nvSpPr>
          <p:cNvPr id="109" name="Text 106"/>
          <p:cNvSpPr/>
          <p:nvPr/>
        </p:nvSpPr>
        <p:spPr>
          <a:xfrm>
            <a:off x="768096" y="7219188"/>
            <a:ext cx="6373368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1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traffic → MB → AVAX → modules → higher relay yield. Fix mintVoucher access control first.</a:t>
            </a:r>
            <a:endParaRPr lang="en-US" sz="710" dirty="0"/>
          </a:p>
        </p:txBody>
      </p:sp>
      <p:sp>
        <p:nvSpPr>
          <p:cNvPr id="110" name="Text 107"/>
          <p:cNvSpPr/>
          <p:nvPr/>
        </p:nvSpPr>
        <p:spPr>
          <a:xfrm>
            <a:off x="768096" y="7356348"/>
            <a:ext cx="637336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— A user earns MB from real gateway relaying, converts it to AVAX, and equips a module that visibly changes relay yield on HOME.</a:t>
            </a:r>
            <a:endParaRPr lang="en-US" sz="670" dirty="0"/>
          </a:p>
        </p:txBody>
      </p:sp>
      <p:sp>
        <p:nvSpPr>
          <p:cNvPr id="111" name="Shape 108"/>
          <p:cNvSpPr/>
          <p:nvPr/>
        </p:nvSpPr>
        <p:spPr>
          <a:xfrm>
            <a:off x="420624" y="7534656"/>
            <a:ext cx="672084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420624" y="757123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13" name="Text 110"/>
          <p:cNvSpPr/>
          <p:nvPr/>
        </p:nvSpPr>
        <p:spPr>
          <a:xfrm>
            <a:off x="768096" y="7580376"/>
            <a:ext cx="3108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verification &amp; negotiation</a:t>
            </a:r>
            <a:endParaRPr lang="en-US" sz="820" dirty="0"/>
          </a:p>
        </p:txBody>
      </p:sp>
      <p:sp>
        <p:nvSpPr>
          <p:cNvPr id="114" name="Text 111"/>
          <p:cNvSpPr/>
          <p:nvPr/>
        </p:nvSpPr>
        <p:spPr>
          <a:xfrm>
            <a:off x="3986784" y="758952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60" b="1" spc="1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– DEC 2026</a:t>
            </a:r>
            <a:endParaRPr lang="en-US" sz="660" dirty="0"/>
          </a:p>
        </p:txBody>
      </p:sp>
      <p:sp>
        <p:nvSpPr>
          <p:cNvPr id="115" name="Shape 112"/>
          <p:cNvSpPr/>
          <p:nvPr/>
        </p:nvSpPr>
        <p:spPr>
          <a:xfrm>
            <a:off x="6300216" y="7575804"/>
            <a:ext cx="841248" cy="137160"/>
          </a:xfrm>
          <a:prstGeom prst="rect">
            <a:avLst/>
          </a:prstGeom>
          <a:ln w="12700">
            <a:solidFill>
              <a:srgbClr val="7A7A7A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6300216" y="7575804"/>
            <a:ext cx="8412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b="1" spc="8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540" dirty="0"/>
          </a:p>
        </p:txBody>
      </p:sp>
      <p:sp>
        <p:nvSpPr>
          <p:cNvPr id="117" name="Text 114"/>
          <p:cNvSpPr/>
          <p:nvPr/>
        </p:nvSpPr>
        <p:spPr>
          <a:xfrm>
            <a:off x="768096" y="7722108"/>
            <a:ext cx="6373368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1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ZK and AI claims true end to end: write the circuit and the proving path, and enforce guardrails in Rust.</a:t>
            </a:r>
            <a:endParaRPr lang="en-US" sz="710" dirty="0"/>
          </a:p>
        </p:txBody>
      </p:sp>
      <p:sp>
        <p:nvSpPr>
          <p:cNvPr id="118" name="Text 115"/>
          <p:cNvSpPr/>
          <p:nvPr/>
        </p:nvSpPr>
        <p:spPr>
          <a:xfrm>
            <a:off x="768096" y="7859268"/>
            <a:ext cx="637336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— A bid’s proof is generated and verified against a real circuit from a command the app calls; two agents complete a bounded negotiation without breaching a guardrail.</a:t>
            </a:r>
            <a:endParaRPr lang="en-US" sz="670" dirty="0"/>
          </a:p>
        </p:txBody>
      </p:sp>
      <p:sp>
        <p:nvSpPr>
          <p:cNvPr id="119" name="Shape 116"/>
          <p:cNvSpPr/>
          <p:nvPr/>
        </p:nvSpPr>
        <p:spPr>
          <a:xfrm>
            <a:off x="420624" y="8037576"/>
            <a:ext cx="6720840" cy="0"/>
          </a:xfrm>
          <a:prstGeom prst="line">
            <a:avLst/>
          </a:prstGeom>
          <a:noFill/>
          <a:ln w="12700">
            <a:solidFill>
              <a:srgbClr val="1C1C1C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420624" y="8074152"/>
            <a:ext cx="38404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768096" y="8083296"/>
            <a:ext cx="31089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compute &amp; platform hardening</a:t>
            </a:r>
            <a:endParaRPr lang="en-US" sz="820" dirty="0"/>
          </a:p>
        </p:txBody>
      </p:sp>
      <p:sp>
        <p:nvSpPr>
          <p:cNvPr id="122" name="Text 119"/>
          <p:cNvSpPr/>
          <p:nvPr/>
        </p:nvSpPr>
        <p:spPr>
          <a:xfrm>
            <a:off x="3986784" y="8092440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60" b="1" spc="1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2026 – JAN 2027</a:t>
            </a:r>
            <a:endParaRPr lang="en-US" sz="660" dirty="0"/>
          </a:p>
        </p:txBody>
      </p:sp>
      <p:sp>
        <p:nvSpPr>
          <p:cNvPr id="123" name="Shape 120"/>
          <p:cNvSpPr/>
          <p:nvPr/>
        </p:nvSpPr>
        <p:spPr>
          <a:xfrm>
            <a:off x="6300216" y="8078724"/>
            <a:ext cx="841248" cy="13716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6300216" y="8078724"/>
            <a:ext cx="8412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" b="1" spc="8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</a:t>
            </a:r>
            <a:endParaRPr lang="en-US" sz="540" dirty="0"/>
          </a:p>
        </p:txBody>
      </p:sp>
      <p:sp>
        <p:nvSpPr>
          <p:cNvPr id="125" name="Text 122"/>
          <p:cNvSpPr/>
          <p:nvPr/>
        </p:nvSpPr>
        <p:spPr>
          <a:xfrm>
            <a:off x="768096" y="8225028"/>
            <a:ext cx="6373368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1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FHE/MPC feasibility, desktop key store, and the Windows/Linux BLE decision.</a:t>
            </a:r>
            <a:endParaRPr lang="en-US" sz="710" dirty="0"/>
          </a:p>
        </p:txBody>
      </p:sp>
      <p:sp>
        <p:nvSpPr>
          <p:cNvPr id="126" name="Text 123"/>
          <p:cNvSpPr/>
          <p:nvPr/>
        </p:nvSpPr>
        <p:spPr>
          <a:xfrm>
            <a:off x="768096" y="8362188"/>
            <a:ext cx="6373368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 — A feasibility write-up and a scoped follow-on plan for FHE/MPC — not shipped code.</a:t>
            </a:r>
            <a:endParaRPr lang="en-US" sz="670" dirty="0"/>
          </a:p>
        </p:txBody>
      </p:sp>
      <p:sp>
        <p:nvSpPr>
          <p:cNvPr id="127" name="Shape 124"/>
          <p:cNvSpPr/>
          <p:nvPr/>
        </p:nvSpPr>
        <p:spPr>
          <a:xfrm>
            <a:off x="420624" y="8590788"/>
            <a:ext cx="82296" cy="822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8" name="Text 125"/>
          <p:cNvSpPr/>
          <p:nvPr/>
        </p:nvSpPr>
        <p:spPr>
          <a:xfrm>
            <a:off x="594360" y="8549640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BLOCKERS</a:t>
            </a:r>
            <a:endParaRPr lang="en-US" sz="750" dirty="0"/>
          </a:p>
        </p:txBody>
      </p:sp>
      <p:sp>
        <p:nvSpPr>
          <p:cNvPr id="129" name="Shape 126"/>
          <p:cNvSpPr/>
          <p:nvPr/>
        </p:nvSpPr>
        <p:spPr>
          <a:xfrm>
            <a:off x="420624" y="8732520"/>
            <a:ext cx="67208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3945636" y="8590788"/>
            <a:ext cx="82296" cy="8229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1" name="Text 128"/>
          <p:cNvSpPr/>
          <p:nvPr/>
        </p:nvSpPr>
        <p:spPr>
          <a:xfrm>
            <a:off x="4119372" y="8549640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30 / 60 / 90</a:t>
            </a:r>
            <a:endParaRPr lang="en-US" sz="750" dirty="0"/>
          </a:p>
        </p:txBody>
      </p:sp>
      <p:sp>
        <p:nvSpPr>
          <p:cNvPr id="132" name="Shape 129"/>
          <p:cNvSpPr/>
          <p:nvPr/>
        </p:nvSpPr>
        <p:spPr>
          <a:xfrm>
            <a:off x="3945636" y="8732520"/>
            <a:ext cx="3195828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420624" y="8805672"/>
            <a:ext cx="27386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physical iOS/Android test device</a:t>
            </a:r>
            <a:endParaRPr lang="en-US" sz="720" dirty="0"/>
          </a:p>
        </p:txBody>
      </p:sp>
      <p:sp>
        <p:nvSpPr>
          <p:cNvPr id="134" name="Text 131"/>
          <p:cNvSpPr/>
          <p:nvPr/>
        </p:nvSpPr>
        <p:spPr>
          <a:xfrm>
            <a:off x="3250692" y="881481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66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660" dirty="0"/>
          </a:p>
        </p:txBody>
      </p:sp>
      <p:sp>
        <p:nvSpPr>
          <p:cNvPr id="135" name="Text 132"/>
          <p:cNvSpPr/>
          <p:nvPr/>
        </p:nvSpPr>
        <p:spPr>
          <a:xfrm>
            <a:off x="420624" y="8926373"/>
            <a:ext cx="3195828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test hardware before Phase 1 is called done.</a:t>
            </a:r>
            <a:endParaRPr lang="en-US" sz="670" dirty="0"/>
          </a:p>
        </p:txBody>
      </p:sp>
      <p:sp>
        <p:nvSpPr>
          <p:cNvPr id="136" name="Text 133"/>
          <p:cNvSpPr/>
          <p:nvPr/>
        </p:nvSpPr>
        <p:spPr>
          <a:xfrm>
            <a:off x="420624" y="9057132"/>
            <a:ext cx="27386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key-store plugin (ticket 21)</a:t>
            </a:r>
            <a:endParaRPr lang="en-US" sz="720" dirty="0"/>
          </a:p>
        </p:txBody>
      </p:sp>
      <p:sp>
        <p:nvSpPr>
          <p:cNvPr id="137" name="Text 134"/>
          <p:cNvSpPr/>
          <p:nvPr/>
        </p:nvSpPr>
        <p:spPr>
          <a:xfrm>
            <a:off x="3250692" y="906627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66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660" dirty="0"/>
          </a:p>
        </p:txBody>
      </p:sp>
      <p:sp>
        <p:nvSpPr>
          <p:cNvPr id="138" name="Text 135"/>
          <p:cNvSpPr/>
          <p:nvPr/>
        </p:nvSpPr>
        <p:spPr>
          <a:xfrm>
            <a:off x="420624" y="9177833"/>
            <a:ext cx="3195828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workstream; a PIN needs a hardware retry counter.</a:t>
            </a:r>
            <a:endParaRPr lang="en-US" sz="670" dirty="0"/>
          </a:p>
        </p:txBody>
      </p:sp>
      <p:sp>
        <p:nvSpPr>
          <p:cNvPr id="139" name="Text 136"/>
          <p:cNvSpPr/>
          <p:nvPr/>
        </p:nvSpPr>
        <p:spPr>
          <a:xfrm>
            <a:off x="420624" y="9308592"/>
            <a:ext cx="27386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manufacturing partner</a:t>
            </a:r>
            <a:endParaRPr lang="en-US" sz="720" dirty="0"/>
          </a:p>
        </p:txBody>
      </p:sp>
      <p:sp>
        <p:nvSpPr>
          <p:cNvPr id="140" name="Text 137"/>
          <p:cNvSpPr/>
          <p:nvPr/>
        </p:nvSpPr>
        <p:spPr>
          <a:xfrm>
            <a:off x="3250692" y="93177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66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660" dirty="0"/>
          </a:p>
        </p:txBody>
      </p:sp>
      <p:sp>
        <p:nvSpPr>
          <p:cNvPr id="141" name="Text 138"/>
          <p:cNvSpPr/>
          <p:nvPr/>
        </p:nvSpPr>
        <p:spPr>
          <a:xfrm>
            <a:off x="420624" y="9429293"/>
            <a:ext cx="3195828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runs as marketing/BD; renders do not need it.</a:t>
            </a:r>
            <a:endParaRPr lang="en-US" sz="670" dirty="0"/>
          </a:p>
        </p:txBody>
      </p:sp>
      <p:sp>
        <p:nvSpPr>
          <p:cNvPr id="142" name="Text 139"/>
          <p:cNvSpPr/>
          <p:nvPr/>
        </p:nvSpPr>
        <p:spPr>
          <a:xfrm>
            <a:off x="420624" y="9560052"/>
            <a:ext cx="27386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Voucher redeploy is one-way</a:t>
            </a:r>
            <a:endParaRPr lang="en-US" sz="720" dirty="0"/>
          </a:p>
        </p:txBody>
      </p:sp>
      <p:sp>
        <p:nvSpPr>
          <p:cNvPr id="143" name="Text 140"/>
          <p:cNvSpPr/>
          <p:nvPr/>
        </p:nvSpPr>
        <p:spPr>
          <a:xfrm>
            <a:off x="3250692" y="95691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66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660" dirty="0"/>
          </a:p>
        </p:txBody>
      </p:sp>
      <p:sp>
        <p:nvSpPr>
          <p:cNvPr id="144" name="Text 141"/>
          <p:cNvSpPr/>
          <p:nvPr/>
        </p:nvSpPr>
        <p:spPr>
          <a:xfrm>
            <a:off x="420624" y="9680753"/>
            <a:ext cx="3195828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go/no-go. Testnet, no value locked today.</a:t>
            </a:r>
            <a:endParaRPr lang="en-US" sz="670" dirty="0"/>
          </a:p>
        </p:txBody>
      </p:sp>
      <p:sp>
        <p:nvSpPr>
          <p:cNvPr id="145" name="Text 142"/>
          <p:cNvSpPr/>
          <p:nvPr/>
        </p:nvSpPr>
        <p:spPr>
          <a:xfrm>
            <a:off x="420624" y="9811512"/>
            <a:ext cx="2738628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ZK code, no nargo in CI</a:t>
            </a:r>
            <a:endParaRPr lang="en-US" sz="720" dirty="0"/>
          </a:p>
        </p:txBody>
      </p:sp>
      <p:sp>
        <p:nvSpPr>
          <p:cNvPr id="146" name="Text 143"/>
          <p:cNvSpPr/>
          <p:nvPr/>
        </p:nvSpPr>
        <p:spPr>
          <a:xfrm>
            <a:off x="3250692" y="982065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66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</a:t>
            </a:r>
            <a:endParaRPr lang="en-US" sz="660" dirty="0"/>
          </a:p>
        </p:txBody>
      </p:sp>
      <p:sp>
        <p:nvSpPr>
          <p:cNvPr id="147" name="Text 144"/>
          <p:cNvSpPr/>
          <p:nvPr/>
        </p:nvSpPr>
        <p:spPr>
          <a:xfrm>
            <a:off x="420624" y="9932213"/>
            <a:ext cx="3195828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unused stub was deleted; budget Phase 4 to write the circuit, not wire one.</a:t>
            </a:r>
            <a:endParaRPr lang="en-US" sz="670" dirty="0"/>
          </a:p>
        </p:txBody>
      </p:sp>
      <p:sp>
        <p:nvSpPr>
          <p:cNvPr id="148" name="Text 145"/>
          <p:cNvSpPr/>
          <p:nvPr/>
        </p:nvSpPr>
        <p:spPr>
          <a:xfrm>
            <a:off x="3945636" y="8805672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spc="14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4658868" y="8805672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24h recovery delay + veto notification</a:t>
            </a:r>
            <a:endParaRPr lang="en-US" sz="670" dirty="0"/>
          </a:p>
        </p:txBody>
      </p:sp>
      <p:sp>
        <p:nvSpPr>
          <p:cNvPr id="150" name="Text 147"/>
          <p:cNvSpPr/>
          <p:nvPr/>
        </p:nvSpPr>
        <p:spPr>
          <a:xfrm>
            <a:off x="4658868" y="8922715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Scope ticket 21 as its own workstream</a:t>
            </a:r>
            <a:endParaRPr lang="en-US" sz="670" dirty="0"/>
          </a:p>
        </p:txBody>
      </p:sp>
      <p:sp>
        <p:nvSpPr>
          <p:cNvPr id="151" name="Text 148"/>
          <p:cNvSpPr/>
          <p:nvPr/>
        </p:nvSpPr>
        <p:spPr>
          <a:xfrm>
            <a:off x="4658868" y="9039758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Hide SWAP / STAKE and unfunded assets</a:t>
            </a:r>
            <a:endParaRPr lang="en-US" sz="670" dirty="0"/>
          </a:p>
        </p:txBody>
      </p:sp>
      <p:sp>
        <p:nvSpPr>
          <p:cNvPr id="152" name="Text 149"/>
          <p:cNvSpPr/>
          <p:nvPr/>
        </p:nvSpPr>
        <p:spPr>
          <a:xfrm>
            <a:off x="3945636" y="9226296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spc="1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DAYS</a:t>
            </a:r>
            <a:endParaRPr lang="en-US" sz="700" dirty="0"/>
          </a:p>
        </p:txBody>
      </p:sp>
      <p:sp>
        <p:nvSpPr>
          <p:cNvPr id="153" name="Text 150"/>
          <p:cNvSpPr/>
          <p:nvPr/>
        </p:nvSpPr>
        <p:spPr>
          <a:xfrm>
            <a:off x="4658868" y="9226296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Ship editable chips, QA the chat-intent flow</a:t>
            </a:r>
            <a:endParaRPr lang="en-US" sz="670" dirty="0"/>
          </a:p>
        </p:txBody>
      </p:sp>
      <p:sp>
        <p:nvSpPr>
          <p:cNvPr id="154" name="Text 151"/>
          <p:cNvSpPr/>
          <p:nvPr/>
        </p:nvSpPr>
        <p:spPr>
          <a:xfrm>
            <a:off x="4658868" y="9343339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Recovery assistant for lost devices</a:t>
            </a:r>
            <a:endParaRPr lang="en-US" sz="670" dirty="0"/>
          </a:p>
        </p:txBody>
      </p:sp>
      <p:sp>
        <p:nvSpPr>
          <p:cNvPr id="155" name="Text 152"/>
          <p:cNvSpPr/>
          <p:nvPr/>
        </p:nvSpPr>
        <p:spPr>
          <a:xfrm>
            <a:off x="4658868" y="9460382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Finish renders, draft landing-page copy</a:t>
            </a:r>
            <a:endParaRPr lang="en-US" sz="670" dirty="0"/>
          </a:p>
        </p:txBody>
      </p:sp>
      <p:sp>
        <p:nvSpPr>
          <p:cNvPr id="156" name="Text 153"/>
          <p:cNvSpPr/>
          <p:nvPr/>
        </p:nvSpPr>
        <p:spPr>
          <a:xfrm>
            <a:off x="3945636" y="9646920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b="1" spc="1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700" dirty="0"/>
          </a:p>
        </p:txBody>
      </p:sp>
      <p:sp>
        <p:nvSpPr>
          <p:cNvPr id="157" name="Text 154"/>
          <p:cNvSpPr/>
          <p:nvPr/>
        </p:nvSpPr>
        <p:spPr>
          <a:xfrm>
            <a:off x="4658868" y="9646920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Launch pre-order page + first campaign</a:t>
            </a:r>
            <a:endParaRPr lang="en-US" sz="670" dirty="0"/>
          </a:p>
        </p:txBody>
      </p:sp>
      <p:sp>
        <p:nvSpPr>
          <p:cNvPr id="158" name="Text 155"/>
          <p:cNvSpPr/>
          <p:nvPr/>
        </p:nvSpPr>
        <p:spPr>
          <a:xfrm>
            <a:off x="4658868" y="9763963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Run mesh missions, mint Genesis badges</a:t>
            </a:r>
            <a:endParaRPr lang="en-US" sz="670" dirty="0"/>
          </a:p>
        </p:txBody>
      </p:sp>
      <p:sp>
        <p:nvSpPr>
          <p:cNvPr id="159" name="Text 156"/>
          <p:cNvSpPr/>
          <p:nvPr/>
        </p:nvSpPr>
        <p:spPr>
          <a:xfrm>
            <a:off x="4658868" y="9881006"/>
            <a:ext cx="248259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70" dirty="0">
                <a:solidFill>
                  <a:srgbClr val="BEB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Draft the voucher redeploy go/no-go</a:t>
            </a:r>
            <a:endParaRPr lang="en-US" sz="670" dirty="0"/>
          </a:p>
        </p:txBody>
      </p:sp>
      <p:sp>
        <p:nvSpPr>
          <p:cNvPr id="160" name="Shape 157"/>
          <p:cNvSpPr/>
          <p:nvPr/>
        </p:nvSpPr>
        <p:spPr>
          <a:xfrm>
            <a:off x="420624" y="10122408"/>
            <a:ext cx="67208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420624" y="10213848"/>
            <a:ext cx="67208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PLAN — docs/pitch/CabalMesh-Project-Plan.md  ·  AUDIT — docs/product-status.md  ·  github.com/kurodenjiro/Cabal-Mesh</a:t>
            </a:r>
            <a:endParaRPr lang="en-US" sz="650" dirty="0"/>
          </a:p>
        </p:txBody>
      </p:sp>
      <p:sp>
        <p:nvSpPr>
          <p:cNvPr id="162" name="Text 159"/>
          <p:cNvSpPr/>
          <p:nvPr/>
        </p:nvSpPr>
        <p:spPr>
          <a:xfrm>
            <a:off x="420624" y="10360152"/>
            <a:ext cx="67208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10" b="1" spc="16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PLAN. WHEN THE AUDIT CHANGES, THE PLAN IS WHAT GETS REVISED.</a:t>
            </a:r>
            <a:endParaRPr lang="en-US" sz="6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CabalMesh — Project Plan (one page)</dc:title>
  <dc:subject>PptxGenJS Presentation</dc:subject>
  <dc:creator>CabalMesh</dc:creator>
  <cp:lastModifiedBy>CabalMesh</cp:lastModifiedBy>
  <cp:revision>1</cp:revision>
  <dcterms:created xsi:type="dcterms:W3CDTF">2026-08-27T10:41:20Z</dcterms:created>
  <dcterms:modified xsi:type="dcterms:W3CDTF">2026-08-27T10:41:20Z</dcterms:modified>
</cp:coreProperties>
</file>
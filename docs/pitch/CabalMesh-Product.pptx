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234440"/>
            <a:ext cx="1188720" cy="73152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1965960"/>
            <a:ext cx="1280160" cy="-64008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234440"/>
            <a:ext cx="-502920" cy="128016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2514600"/>
            <a:ext cx="1691640" cy="-54864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2514600"/>
            <a:ext cx="411480" cy="16002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4114800"/>
            <a:ext cx="1645920" cy="54864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0" y="1965960"/>
            <a:ext cx="1554480" cy="105156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81360" y="3017520"/>
            <a:ext cx="-1188720" cy="164592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6156" y="120243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27" name="Shape 25"/>
          <p:cNvSpPr/>
          <p:nvPr/>
        </p:nvSpPr>
        <p:spPr>
          <a:xfrm>
            <a:off x="9294876" y="193395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75036" y="129387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29" name="Shape 27"/>
          <p:cNvSpPr/>
          <p:nvPr/>
        </p:nvSpPr>
        <p:spPr>
          <a:xfrm>
            <a:off x="7603236" y="248259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30" name="Shape 28"/>
          <p:cNvSpPr/>
          <p:nvPr/>
        </p:nvSpPr>
        <p:spPr>
          <a:xfrm>
            <a:off x="8014716" y="408279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31" name="Shape 29"/>
          <p:cNvSpPr/>
          <p:nvPr/>
        </p:nvSpPr>
        <p:spPr>
          <a:xfrm>
            <a:off x="9660636" y="463143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49356" y="298551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2743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27432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1417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IDENTITY · PRIVATE INTENTS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18745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intent.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relay.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proof.</a:t>
            </a:r>
            <a:endParaRPr lang="en-US" sz="5000" dirty="0"/>
          </a:p>
        </p:txBody>
      </p:sp>
      <p:sp>
        <p:nvSpPr>
          <p:cNvPr id="38" name="Shape 36"/>
          <p:cNvSpPr/>
          <p:nvPr/>
        </p:nvSpPr>
        <p:spPr>
          <a:xfrm>
            <a:off x="658368" y="4315968"/>
            <a:ext cx="1188720" cy="3200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45720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 is a zero-identity coordination layer. An intent is signed on-device, carried through nearby peers with no internet, and settled on Avalanche when a gateway returns.</a:t>
            </a:r>
            <a:endParaRPr lang="en-US" sz="1250" dirty="0"/>
          </a:p>
        </p:txBody>
      </p:sp>
      <p:pic>
        <p:nvPicPr>
          <p:cNvPr id="40" name="Image 0" descr="/Users/mac/dev/Cabal-Mesh/src/ds/assets/logo/hero-loc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960120"/>
            <a:ext cx="3566160" cy="475488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58368" y="62636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  ·  AVALANCHE FUJI  ·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assumes a network that is not always there.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rail in use today needs two things at once: a live connection and a persistent identity. Both fail in the moments when local coordination matters most.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2788920"/>
            <a:ext cx="3405226" cy="246888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788920"/>
            <a:ext cx="3405226" cy="25603"/>
          </a:xfrm>
          <a:prstGeom prst="rect">
            <a:avLst/>
          </a:prstGeom>
          <a:solidFill>
            <a:srgbClr val="3A3A3A"/>
          </a:solidFill>
          <a:ln/>
        </p:spPr>
      </p:sp>
      <p:pic>
        <p:nvPicPr>
          <p:cNvPr id="19" name="Image 0" descr="/Users/mac/dev/Cabal-Mesh/docs/pitch/src/icons2/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324612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42416" y="3849624"/>
            <a:ext cx="263713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is brittle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42416" y="4398264"/>
            <a:ext cx="26371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link, no broadcast. A signed intent has nowhere to go and no path back — it simply fails.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4392778" y="2788920"/>
            <a:ext cx="3405226" cy="246888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92778" y="2788920"/>
            <a:ext cx="3405226" cy="25603"/>
          </a:xfrm>
          <a:prstGeom prst="rect">
            <a:avLst/>
          </a:prstGeom>
          <a:solidFill>
            <a:srgbClr val="3A3A3A"/>
          </a:solidFill>
          <a:ln/>
        </p:spPr>
      </p:sp>
      <p:pic>
        <p:nvPicPr>
          <p:cNvPr id="24" name="Image 1" descr="/Users/mac/dev/Cabal-Mesh/docs/pitch/src/icons2/eye_sl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26" y="324612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776826" y="3849624"/>
            <a:ext cx="263713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is exposed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4776826" y="4398264"/>
            <a:ext cx="26371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and public rails leak who acted, from where, and what they intended. The metadata is the leak.</a:t>
            </a:r>
            <a:endParaRPr lang="en-US" sz="1020" dirty="0"/>
          </a:p>
        </p:txBody>
      </p:sp>
      <p:sp>
        <p:nvSpPr>
          <p:cNvPr id="27" name="Shape 23"/>
          <p:cNvSpPr/>
          <p:nvPr/>
        </p:nvSpPr>
        <p:spPr>
          <a:xfrm>
            <a:off x="8127187" y="2788920"/>
            <a:ext cx="3405226" cy="246888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127187" y="2788920"/>
            <a:ext cx="3405226" cy="25603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29" name="Image 2" descr="/Users/mac/dev/Cabal-Mesh/docs/pitch/src/icons2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3246120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511235" y="3849624"/>
            <a:ext cx="263713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needs a witness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8511235" y="4398264"/>
            <a:ext cx="26371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agreement is worthless to a chain until something proves that it happened, exactly as agreed.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device, three layers, no identity.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separates local coordination from global settlement. Each layer is listed with what is running today, not what is intended.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2615184"/>
            <a:ext cx="10874959" cy="1152144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615184"/>
            <a:ext cx="25603" cy="1152144"/>
          </a:xfrm>
          <a:prstGeom prst="rect">
            <a:avLst/>
          </a:prstGeom>
          <a:solidFill>
            <a:srgbClr val="9BFF00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" y="28895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pic>
        <p:nvPicPr>
          <p:cNvPr id="20" name="Image 0" descr="/Users/mac/dev/Cabal-Mesh/docs/pitch/src/icons2/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999232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231136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CLOAK LAYER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2231136" y="31272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TRANSPORT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70448" y="279806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libp2p, mDNS discovery and gossipsub over IP; a BLE plane on iOS and Android for the fully offline case. Multi-hop stripping means no hop knows both ends.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5870448" y="34747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src/mesh.rs · crates/cabal-ble · 9 passing tests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10387584" y="2834640"/>
            <a:ext cx="1097280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87584" y="28300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58368" y="3877056"/>
            <a:ext cx="10874959" cy="1152144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" y="3877056"/>
            <a:ext cx="25603" cy="1152144"/>
          </a:xfrm>
          <a:prstGeom prst="rect">
            <a:avLst/>
          </a:prstGeom>
          <a:solidFill>
            <a:srgbClr val="9BFF00"/>
          </a:solidFill>
          <a:ln/>
        </p:spPr>
      </p:sp>
      <p:sp>
        <p:nvSpPr>
          <p:cNvPr id="29" name="Text 26"/>
          <p:cNvSpPr/>
          <p:nvPr/>
        </p:nvSpPr>
        <p:spPr>
          <a:xfrm>
            <a:off x="969264" y="4151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pic>
        <p:nvPicPr>
          <p:cNvPr id="30" name="Image 1" descr="/Users/mac/dev/Cabal-Mesh/docs/pitch/src/icons2/cu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4261104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231136" y="4096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SETTLEMENT LAYER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2231136" y="43891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870448" y="405993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Escrow contract, live on Fuji. Offline signing, a local relay queue, and auto-confirmation the moment a gateway appears.</a:t>
            </a:r>
            <a:endParaRPr lang="en-US" sz="960" dirty="0"/>
          </a:p>
        </p:txBody>
      </p:sp>
      <p:sp>
        <p:nvSpPr>
          <p:cNvPr id="34" name="Text 30"/>
          <p:cNvSpPr/>
          <p:nvPr/>
        </p:nvSpPr>
        <p:spPr>
          <a:xfrm>
            <a:off x="5870448" y="473659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contracts/Escrow.sol · src/blockchain_bridge.rs</a:t>
            </a:r>
            <a:endParaRPr lang="en-US" sz="780" dirty="0"/>
          </a:p>
        </p:txBody>
      </p:sp>
      <p:sp>
        <p:nvSpPr>
          <p:cNvPr id="35" name="Shape 31"/>
          <p:cNvSpPr/>
          <p:nvPr/>
        </p:nvSpPr>
        <p:spPr>
          <a:xfrm>
            <a:off x="10387584" y="4096512"/>
            <a:ext cx="1097280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0387584" y="40919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658368" y="5138928"/>
            <a:ext cx="10874959" cy="1152144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58368" y="5138928"/>
            <a:ext cx="25603" cy="115214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9" name="Text 35"/>
          <p:cNvSpPr/>
          <p:nvPr/>
        </p:nvSpPr>
        <p:spPr>
          <a:xfrm>
            <a:off x="969264" y="54132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pic>
        <p:nvPicPr>
          <p:cNvPr id="40" name="Image 2" descr="/Users/mac/dev/Cabal-Mesh/docs/pitch/src/icons2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5522976"/>
            <a:ext cx="365760" cy="36576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2231136" y="5358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INVISIBLE BRAIN</a:t>
            </a:r>
            <a:endParaRPr lang="en-US" sz="1350" dirty="0"/>
          </a:p>
        </p:txBody>
      </p:sp>
      <p:sp>
        <p:nvSpPr>
          <p:cNvPr id="42" name="Text 37"/>
          <p:cNvSpPr/>
          <p:nvPr/>
        </p:nvSpPr>
        <p:spPr>
          <a:xfrm>
            <a:off x="2231136" y="56509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INTELLIGENCE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5870448" y="532180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model parses natural language into a validated intent draft, and Rust still validates and signs it. Zero-knowledge bid proofs and agent-to-agent negotiation are Phase 4 — no proving code is in the build.</a:t>
            </a:r>
            <a:endParaRPr lang="en-US" sz="960" dirty="0"/>
          </a:p>
        </p:txBody>
      </p:sp>
      <p:sp>
        <p:nvSpPr>
          <p:cNvPr id="44" name="Text 39"/>
          <p:cNvSpPr/>
          <p:nvPr/>
        </p:nvSpPr>
        <p:spPr>
          <a:xfrm>
            <a:off x="5870448" y="599846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parse_intent_chat · commands.rs</a:t>
            </a:r>
            <a:endParaRPr lang="en-US" sz="780" dirty="0"/>
          </a:p>
        </p:txBody>
      </p:sp>
      <p:sp>
        <p:nvSpPr>
          <p:cNvPr id="45" name="Shape 40"/>
          <p:cNvSpPr/>
          <p:nvPr/>
        </p:nvSpPr>
        <p:spPr>
          <a:xfrm>
            <a:off x="10387584" y="5358384"/>
            <a:ext cx="1097280" cy="201168"/>
          </a:xfrm>
          <a:prstGeom prst="rect">
            <a:avLst/>
          </a:prstGeom>
          <a:ln w="12700">
            <a:solidFill>
              <a:srgbClr val="00E5F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10387584" y="53538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LOOP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Compose. Relay. Reconnect. Settle.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whole product in four moves — and all four are observable in the running app today.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2788920"/>
            <a:ext cx="2487168" cy="237744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099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pic>
        <p:nvPicPr>
          <p:cNvPr id="19" name="Image 0" descr="/Users/mac/dev/Cabal-Mesh/docs/pitch/src/icons2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3575304"/>
            <a:ext cx="420624" cy="4206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69264" y="416052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9264" y="450799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intent is written and signed on-device. No account, no server, no session.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3200400" y="3758184"/>
            <a:ext cx="19659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51860" y="2788920"/>
            <a:ext cx="2487168" cy="237744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62756" y="3099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pic>
        <p:nvPicPr>
          <p:cNvPr id="25" name="Image 1" descr="/Users/mac/dev/Cabal-Mesh/docs/pitch/src/icons2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56" y="3575304"/>
            <a:ext cx="420624" cy="42062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62756" y="416052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3762756" y="450799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peers forward the encrypted payload over BLE or libp2p. No hop learns the origin.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5993892" y="3758184"/>
            <a:ext cx="19659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245352" y="2788920"/>
            <a:ext cx="2487168" cy="237744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56248" y="3099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pic>
        <p:nvPicPr>
          <p:cNvPr id="31" name="Image 2" descr="/Users/mac/dev/Cabal-Mesh/docs/pitch/src/icons2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3575304"/>
            <a:ext cx="420624" cy="42062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556248" y="416052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RECONNECT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556248" y="450799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peer holding internet drains the queued work toward the chain.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787384" y="3758184"/>
            <a:ext cx="19659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038844" y="2788920"/>
            <a:ext cx="2487168" cy="237744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9349740" y="3099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pic>
        <p:nvPicPr>
          <p:cNvPr id="37" name="Image 3" descr="/Users/mac/dev/Cabal-Mesh/docs/pitch/src/icons2/cub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3575304"/>
            <a:ext cx="420624" cy="42062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349740" y="416052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9349740" y="450799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confirms on Avalanche Fuji. The result lands on-chain; the identity never does.</a:t>
            </a:r>
            <a:endParaRPr lang="en-US" sz="940" dirty="0"/>
          </a:p>
        </p:txBody>
      </p:sp>
      <p:sp>
        <p:nvSpPr>
          <p:cNvPr id="40" name="Shape 34"/>
          <p:cNvSpPr/>
          <p:nvPr/>
        </p:nvSpPr>
        <p:spPr>
          <a:xfrm>
            <a:off x="658368" y="5669280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58368" y="58704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observable lifecycle — not a promise of future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with no network. Confirm when the network returns.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one path nothing else in the category does end to end, and it is the path we demo live.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2743200"/>
            <a:ext cx="2002536" cy="233172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419856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OFFLINE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931920"/>
            <a:ext cx="1490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transaction is signed on-device with the radio down.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626864"/>
            <a:ext cx="1563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sign_offline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697480" y="3154680"/>
            <a:ext cx="15087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4932" y="2743200"/>
            <a:ext cx="2002536" cy="233172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40964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40964" y="3419856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LOCALLY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40964" y="3931920"/>
            <a:ext cx="1490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signed payload waits in an encrypted local relay queue.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40964" y="4626864"/>
            <a:ext cx="1563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cabal-vault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4924044" y="3154680"/>
            <a:ext cx="15087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11496" y="2743200"/>
            <a:ext cx="2002536" cy="233172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67528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67528" y="3419856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BY MESH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67528" y="3931920"/>
            <a:ext cx="1490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 in radio range move it hop by hop, still offline.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67528" y="4626864"/>
            <a:ext cx="1563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cabal-ble · mesh.rs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7150608" y="3154680"/>
            <a:ext cx="15087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38060" y="2743200"/>
            <a:ext cx="2002536" cy="233172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94092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94092" y="3419856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 AT GATEWAY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594092" y="3931920"/>
            <a:ext cx="1490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peer with internet replays the queue to Avalanche.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94092" y="4626864"/>
            <a:ext cx="1563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replay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9377172" y="3154680"/>
            <a:ext cx="15087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64624" y="2743200"/>
            <a:ext cx="2002536" cy="2331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20656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820656" y="3419856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ON-CHAIN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820656" y="3931920"/>
            <a:ext cx="1490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settles on Fuji and the app auto-confirms the intent.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20656" y="4626864"/>
            <a:ext cx="1563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deployments/fuji.json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658368" y="5614416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579729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across two Android emulators with the internet plane disabled — see docs/mobile-build-verification.md.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running today.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by reading the code, not the README. Every row names the file it was checked against.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256032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03720" y="256032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75320" y="2560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8368" y="2798064"/>
            <a:ext cx="1087495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94436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networking — libp2p, mDNS, gossipsub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903720" y="2962656"/>
            <a:ext cx="69494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95808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275320" y="298094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src/mesh.rs · tests/ble_loopback.rs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8368" y="3282696"/>
            <a:ext cx="10874959" cy="39319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3374136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offline plane — iOS and Android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903720" y="3392424"/>
            <a:ext cx="69494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387852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275320" y="341071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src/ble/ · crates/cabal-ble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672" y="3803904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lifecycle — compose, broadcast, settle, proof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903720" y="3822192"/>
            <a:ext cx="69494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3817620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275320" y="38404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src/commands.rs · src/intents.rs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58368" y="4142232"/>
            <a:ext cx="10874959" cy="39319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" y="42336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Escrow, live on Avalanche Fuji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903720" y="4251960"/>
            <a:ext cx="69494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4247388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75320" y="427024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contracts/Escrow.sol · deployments/fuji.json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" y="46634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signing, relay queue, auto-confirm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903720" y="4681728"/>
            <a:ext cx="69494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4677156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275320" y="470001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src/blockchain_bridge.rs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8368" y="5001768"/>
            <a:ext cx="10874959" cy="39319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4" name="Text 42"/>
          <p:cNvSpPr/>
          <p:nvPr/>
        </p:nvSpPr>
        <p:spPr>
          <a:xfrm>
            <a:off x="804672" y="509320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encryption — AES-256-GCM, Argon2id unlock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6903720" y="5111496"/>
            <a:ext cx="69494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510692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27532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crates/cabal-vault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" y="5522976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mesh recovery — enroll, request, approve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6903720" y="5541264"/>
            <a:ext cx="69494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5536692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275320" y="55595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crates/cabal-guardian · src/guardian.rs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58368" y="5861304"/>
            <a:ext cx="10874959" cy="39319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53" name="Text 51"/>
          <p:cNvSpPr/>
          <p:nvPr/>
        </p:nvSpPr>
        <p:spPr>
          <a:xfrm>
            <a:off x="804672" y="5952744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— settlement count, computed from chain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6903720" y="5971032"/>
            <a:ext cx="69494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03720" y="5966460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275320" y="598932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src/standing.rs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58368" y="6309360"/>
            <a:ext cx="1087495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PRIVACY MODEL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network, you are a Nobody.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in depth is a subtraction, not a feature list. What is removed matters more than what is added.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2697480"/>
            <a:ext cx="5276088" cy="265176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697480"/>
            <a:ext cx="5276088" cy="25603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19" name="Text 17"/>
          <p:cNvSpPr/>
          <p:nvPr/>
        </p:nvSpPr>
        <p:spPr>
          <a:xfrm>
            <a:off x="1042416" y="302666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42416" y="3547872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16736" y="3447288"/>
            <a:ext cx="42336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location — no IP is attached to a relayed intent.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1042416" y="402336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3922776"/>
            <a:ext cx="42336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identity — the wallet is created on-device and never registered.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1042416" y="4498848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16736" y="4398264"/>
            <a:ext cx="42336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— nothing is stored server-side, because there is no server.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1042416" y="4974336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16736" y="4873752"/>
            <a:ext cx="42336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Linkability — guardian requests carry unlinkable per-request tags.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245352" y="2697480"/>
            <a:ext cx="5276088" cy="265176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45352" y="2697480"/>
            <a:ext cx="5276088" cy="25603"/>
          </a:xfrm>
          <a:prstGeom prst="rect">
            <a:avLst/>
          </a:prstGeom>
          <a:solidFill>
            <a:srgbClr val="9BFF00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302666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29400" y="3547872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3447288"/>
            <a:ext cx="42336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validity — verified by the chain, not by us.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629400" y="402336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922776"/>
            <a:ext cx="42336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state — AVAX locks and releases against the contract.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629400" y="4498848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4398264"/>
            <a:ext cx="42336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— settlement count derived from on-chain history.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6629400" y="4974336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4873752"/>
            <a:ext cx="42336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custody — hardware-backed on iOS, Android and Apple Silicon.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658368" y="574243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zero-knowledge proving ships today — the unused Noir stub was deleted rather than left to imply a capability. A real circuit is Phase 4, labelled, not claimed.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the device, keep the wallet.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wallet with no way out of it is the sharpest risk in any self-custody product. Guardian recovery closes it without ever reconstructing a key on a server.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2743200"/>
            <a:ext cx="2002536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9992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383280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730752"/>
            <a:ext cx="14904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shares are split across five chosen guardians. No share is a key.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4626864"/>
            <a:ext cx="10607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622292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97480" y="3127248"/>
            <a:ext cx="15087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84932" y="2743200"/>
            <a:ext cx="2002536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40964" y="29992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40964" y="3383280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140964" y="3730752"/>
            <a:ext cx="14904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wiped device broadcasts an unlock request over BLE.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40964" y="4626864"/>
            <a:ext cx="10607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40964" y="4622292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924044" y="3127248"/>
            <a:ext cx="15087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11496" y="2743200"/>
            <a:ext cx="2002536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67528" y="29992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67528" y="3383280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67528" y="3730752"/>
            <a:ext cx="14904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guardian approves by hand. The reply is gated on a human, never automatic.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67528" y="4626864"/>
            <a:ext cx="10607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67528" y="4622292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150608" y="3127248"/>
            <a:ext cx="15087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38060" y="2743200"/>
            <a:ext cx="2002536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94092" y="29992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94092" y="3383280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 WINDOW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594092" y="3730752"/>
            <a:ext cx="14904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24–48h delay with a push notification, so a stolen device can be blocked.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94092" y="4626864"/>
            <a:ext cx="1060704" cy="201168"/>
          </a:xfrm>
          <a:prstGeom prst="rect">
            <a:avLst/>
          </a:prstGeom>
          <a:ln w="12700">
            <a:solidFill>
              <a:srgbClr val="00E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94092" y="4622292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377172" y="3127248"/>
            <a:ext cx="15087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64624" y="2743200"/>
            <a:ext cx="2002536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20656" y="29992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820656" y="3383280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820656" y="3730752"/>
            <a:ext cx="14904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of five shares rebuild the vault on the new device.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820656" y="4626864"/>
            <a:ext cx="10607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20656" y="4622292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58368" y="5577840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57607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Passphrase unlock (Argon2id) and full export / import / restore ship today under VAULT → KEYS → ADVANCED.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dark room to the chain.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zones, one direction of travel. Nothing crosses a boundary carrying more than it must.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2743200"/>
            <a:ext cx="3200400" cy="251460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0358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01 · DEVICE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87552" y="331012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3803904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composed and signed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987552" y="4151376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— AES-256-GCM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987552" y="4498848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element key custody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987552" y="4846320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queue while offline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3968496" y="4000500"/>
            <a:ext cx="420624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34256" y="38541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98848" y="2743200"/>
            <a:ext cx="3200400" cy="2514600"/>
          </a:xfrm>
          <a:prstGeom prst="rect">
            <a:avLst/>
          </a:prstGeom>
          <a:solidFill>
            <a:srgbClr val="141414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0358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02 · MESH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28032" y="331012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28032" y="3803904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plane — iOS, Android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828032" y="4151376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libp2p + mDNS + gossipsub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4828032" y="4498848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metadata stripping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4828032" y="4846320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hop knows both ends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7808976" y="4000500"/>
            <a:ext cx="420624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4736" y="38541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39328" y="2743200"/>
            <a:ext cx="3191256" cy="251460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68512" y="30358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03 · CHAIN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68512" y="3310128"/>
            <a:ext cx="25328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FUJI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68512" y="3803904"/>
            <a:ext cx="25328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drains the queue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8668512" y="4151376"/>
            <a:ext cx="25328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locks and releases AVAX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668512" y="4498848"/>
            <a:ext cx="25328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proof recorded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8668512" y="4846320"/>
            <a:ext cx="25328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derived on-chain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658368" y="5742432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592531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mesh never touches the chain. The gateway never learns the origin. The chain never learns the identity.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live, what is not.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deck that survives questions says this out loud. One true story beats three half-built ones — the offline settlement path is the true one.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2670048"/>
            <a:ext cx="3405226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670048"/>
            <a:ext cx="25603" cy="1097280"/>
          </a:xfrm>
          <a:prstGeom prst="rect">
            <a:avLst/>
          </a:prstGeom>
          <a:solidFill>
            <a:srgbClr val="9BFF00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" y="2852928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mesh settlement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969264" y="3145536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Sign, relay, confirm — end to end.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9264" y="3438144"/>
            <a:ext cx="10607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3433572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392778" y="2670048"/>
            <a:ext cx="3405226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92778" y="2670048"/>
            <a:ext cx="25603" cy="1097280"/>
          </a:xfrm>
          <a:prstGeom prst="rect">
            <a:avLst/>
          </a:prstGeom>
          <a:solidFill>
            <a:srgbClr val="9BFF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03674" y="2852928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plane (iOS · Android)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4703674" y="3145536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Two-emulator verification.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3674" y="3438144"/>
            <a:ext cx="10607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3674" y="3433572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127187" y="2670048"/>
            <a:ext cx="3405226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27187" y="2670048"/>
            <a:ext cx="25603" cy="1097280"/>
          </a:xfrm>
          <a:prstGeom prst="rect">
            <a:avLst/>
          </a:prstGeom>
          <a:solidFill>
            <a:srgbClr val="9BFF00"/>
          </a:solidFill>
          <a:ln/>
        </p:spPr>
      </p:sp>
      <p:sp>
        <p:nvSpPr>
          <p:cNvPr id="31" name="Text 29"/>
          <p:cNvSpPr/>
          <p:nvPr/>
        </p:nvSpPr>
        <p:spPr>
          <a:xfrm>
            <a:off x="8438083" y="2852928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on Fuji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8438083" y="3145536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deployed address.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38083" y="3438144"/>
            <a:ext cx="10607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8083" y="3433572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58368" y="3895344"/>
            <a:ext cx="3405226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3895344"/>
            <a:ext cx="25603" cy="1097280"/>
          </a:xfrm>
          <a:prstGeom prst="rect">
            <a:avLst/>
          </a:prstGeom>
          <a:solidFill>
            <a:srgbClr val="9BFF00"/>
          </a:solidFill>
          <a:ln/>
        </p:spPr>
      </p:sp>
      <p:sp>
        <p:nvSpPr>
          <p:cNvPr id="37" name="Text 35"/>
          <p:cNvSpPr/>
          <p:nvPr/>
        </p:nvSpPr>
        <p:spPr>
          <a:xfrm>
            <a:off x="969264" y="4078224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+ guardian recovery</a:t>
            </a:r>
            <a:endParaRPr lang="en-US" sz="1160" dirty="0"/>
          </a:p>
        </p:txBody>
      </p:sp>
      <p:sp>
        <p:nvSpPr>
          <p:cNvPr id="38" name="Text 36"/>
          <p:cNvSpPr/>
          <p:nvPr/>
        </p:nvSpPr>
        <p:spPr>
          <a:xfrm>
            <a:off x="969264" y="4370832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Enrol, approve, restore.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69264" y="4663440"/>
            <a:ext cx="10607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264" y="4658868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392778" y="3895344"/>
            <a:ext cx="3405226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92778" y="3895344"/>
            <a:ext cx="25603" cy="10972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3" name="Text 41"/>
          <p:cNvSpPr/>
          <p:nvPr/>
        </p:nvSpPr>
        <p:spPr>
          <a:xfrm>
            <a:off x="4703674" y="4078224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intent parsing</a:t>
            </a:r>
            <a:endParaRPr lang="en-US" sz="1160" dirty="0"/>
          </a:p>
        </p:txBody>
      </p:sp>
      <p:sp>
        <p:nvSpPr>
          <p:cNvPr id="44" name="Text 42"/>
          <p:cNvSpPr/>
          <p:nvPr/>
        </p:nvSpPr>
        <p:spPr>
          <a:xfrm>
            <a:off x="4703674" y="4370832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still validates and signs.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3674" y="4663440"/>
            <a:ext cx="1060704" cy="201168"/>
          </a:xfrm>
          <a:prstGeom prst="rect">
            <a:avLst/>
          </a:prstGeom>
          <a:ln w="127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3674" y="4658868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127187" y="3895344"/>
            <a:ext cx="3405226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27187" y="3895344"/>
            <a:ext cx="25603" cy="10972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9" name="Text 47"/>
          <p:cNvSpPr/>
          <p:nvPr/>
        </p:nvSpPr>
        <p:spPr>
          <a:xfrm>
            <a:off x="8438083" y="4078224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veto window</a:t>
            </a:r>
            <a:endParaRPr lang="en-US" sz="1160" dirty="0"/>
          </a:p>
        </p:txBody>
      </p:sp>
      <p:sp>
        <p:nvSpPr>
          <p:cNvPr id="50" name="Text 48"/>
          <p:cNvSpPr/>
          <p:nvPr/>
        </p:nvSpPr>
        <p:spPr>
          <a:xfrm>
            <a:off x="8438083" y="4370832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device-level push.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438083" y="4663440"/>
            <a:ext cx="1060704" cy="201168"/>
          </a:xfrm>
          <a:prstGeom prst="rect">
            <a:avLst/>
          </a:prstGeom>
          <a:ln w="12700">
            <a:solidFill>
              <a:srgbClr val="00E5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38083" y="4658868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58368" y="5120640"/>
            <a:ext cx="3405226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" y="5120640"/>
            <a:ext cx="25603" cy="1097280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55" name="Text 53"/>
          <p:cNvSpPr/>
          <p:nvPr/>
        </p:nvSpPr>
        <p:spPr>
          <a:xfrm>
            <a:off x="969264" y="5303520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+ modules</a:t>
            </a:r>
            <a:endParaRPr lang="en-US" sz="1160" dirty="0"/>
          </a:p>
        </p:txBody>
      </p:sp>
      <p:sp>
        <p:nvSpPr>
          <p:cNvPr id="56" name="Text 54"/>
          <p:cNvSpPr/>
          <p:nvPr/>
        </p:nvSpPr>
        <p:spPr>
          <a:xfrm>
            <a:off x="969264" y="5596128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deployed, UI next.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69264" y="5888736"/>
            <a:ext cx="1060704" cy="201168"/>
          </a:xfrm>
          <a:prstGeom prst="rect">
            <a:avLst/>
          </a:prstGeom>
          <a:ln w="12700">
            <a:solidFill>
              <a:srgbClr val="7A7A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9264" y="5884164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392778" y="5120640"/>
            <a:ext cx="3405226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92778" y="5120640"/>
            <a:ext cx="25603" cy="1097280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61" name="Text 59"/>
          <p:cNvSpPr/>
          <p:nvPr/>
        </p:nvSpPr>
        <p:spPr>
          <a:xfrm>
            <a:off x="4703674" y="5303520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bid proofs</a:t>
            </a:r>
            <a:endParaRPr lang="en-US" sz="1160" dirty="0"/>
          </a:p>
        </p:txBody>
      </p:sp>
      <p:sp>
        <p:nvSpPr>
          <p:cNvPr id="62" name="Text 60"/>
          <p:cNvSpPr/>
          <p:nvPr/>
        </p:nvSpPr>
        <p:spPr>
          <a:xfrm>
            <a:off x="4703674" y="5596128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to be written; nargo in CI.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03674" y="5888736"/>
            <a:ext cx="1060704" cy="201168"/>
          </a:xfrm>
          <a:prstGeom prst="rect">
            <a:avLst/>
          </a:prstGeom>
          <a:ln w="12700">
            <a:solidFill>
              <a:srgbClr val="7A7A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3674" y="5884164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127187" y="5120640"/>
            <a:ext cx="3405226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27187" y="5120640"/>
            <a:ext cx="25603" cy="1097280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67" name="Text 65"/>
          <p:cNvSpPr/>
          <p:nvPr/>
        </p:nvSpPr>
        <p:spPr>
          <a:xfrm>
            <a:off x="8438083" y="5303520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negotiation · FHE/MPC</a:t>
            </a:r>
            <a:endParaRPr lang="en-US" sz="1160" dirty="0"/>
          </a:p>
        </p:txBody>
      </p:sp>
      <p:sp>
        <p:nvSpPr>
          <p:cNvPr id="68" name="Text 66"/>
          <p:cNvSpPr/>
          <p:nvPr/>
        </p:nvSpPr>
        <p:spPr>
          <a:xfrm>
            <a:off x="8438083" y="5596128"/>
            <a:ext cx="278343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and Phase 5.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438083" y="5888736"/>
            <a:ext cx="1060704" cy="201168"/>
          </a:xfrm>
          <a:prstGeom prst="rect">
            <a:avLst/>
          </a:prstGeom>
          <a:ln w="12700">
            <a:solidFill>
              <a:srgbClr val="7A7A7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38083" y="5884164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REALITY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offline plane actually runs.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BLE plane needs a radio stack we can drive. Mobile and Apple silicon have it; desktop is scoped, not glossed over.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272491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51760" y="27249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ELEMENT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272491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PLANE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40880" y="272491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" y="2962656"/>
            <a:ext cx="1087495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1455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31638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Enclave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577840" y="3163824"/>
            <a:ext cx="6035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315925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040880" y="31638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target for the offline demo.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8368" y="3547872"/>
            <a:ext cx="10874959" cy="49377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6758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36941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Keystore / StrongBox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577840" y="3694176"/>
            <a:ext cx="6035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68960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040880" y="36941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across two emulators.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804672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4224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Enclave (Apple silicon)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577840" y="4224528"/>
            <a:ext cx="603504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421995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040880" y="42245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CoreBluetooth; Bluetooth usage declared.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58368" y="4608576"/>
            <a:ext cx="10874959" cy="49377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9" name="Text 37"/>
          <p:cNvSpPr/>
          <p:nvPr/>
        </p:nvSpPr>
        <p:spPr>
          <a:xfrm>
            <a:off x="804672" y="4736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5577840" y="4754880"/>
            <a:ext cx="603504" cy="201168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475030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040880" y="4754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back to the IP plane.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804672" y="52669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51760" y="5285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none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577840" y="5285232"/>
            <a:ext cx="603504" cy="201168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528066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040880" y="52852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back to the IP plane.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658368" y="5687568"/>
            <a:ext cx="1087495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592531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offline plane is scoped where the radio stack is real. Desktop keeps the IP plane — Phase 5 decides the rest.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MATTERS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where the internet is the missing part.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658368" y="2377440"/>
            <a:ext cx="3405226" cy="301752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17" name="Image 0" descr="/Users/mac/dev/Cabal-Mesh/docs/pitch/src/icons2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834640"/>
            <a:ext cx="402336" cy="40233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42416" y="3474720"/>
            <a:ext cx="263713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OFF-GRID AND DISASTER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42416" y="4151376"/>
            <a:ext cx="263713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cell tower is down or saturated. Value still has to move between people standing near each other, and settle honestly later.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92778" y="2377440"/>
            <a:ext cx="3405226" cy="301752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21" name="Image 1" descr="/Users/mac/dev/Cabal-Mesh/docs/pitch/src/icons2/sto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26" y="2834640"/>
            <a:ext cx="402336" cy="4023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76826" y="3474720"/>
            <a:ext cx="263713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HYPER-LOCAL TRADE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776826" y="4151376"/>
            <a:ext cx="263713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Markets, borders, festivals, campuses. Counterparties are in radio range; a payment rail that needs a data plan is not.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127187" y="2377440"/>
            <a:ext cx="3405226" cy="301752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25" name="Image 2" descr="/Users/mac/dev/Cabal-Mesh/docs/pitch/src/icons2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834640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11235" y="3474720"/>
            <a:ext cx="263713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PRIVACY-CRITICAL WORK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511235" y="4151376"/>
            <a:ext cx="263713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Journalists, field researchers, activists. The metadata trail is the risk, so the network is built to leave none.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58368" y="5705856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58368" y="5888736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primitive serves all three: a signed intent that survives without a network and proves itself when one returns.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· PLANNED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boxes the software would run on.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" y="1883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exists — no silicon selected, no board, no tooling. Both are drawn to the millimetre from workloads the app already performs, so the spec can be checked against the code instead of a mood board.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2395728"/>
            <a:ext cx="5272430" cy="3310128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18" name="Image 0" descr="/Users/mac/dev/Cabal-Mesh/docs/pitch/src/deck-shadow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2414016"/>
            <a:ext cx="5235854" cy="129844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69264" y="3877056"/>
            <a:ext cx="914400" cy="201168"/>
          </a:xfrm>
          <a:prstGeom prst="rect">
            <a:avLst/>
          </a:prstGeom>
          <a:ln w="12700">
            <a:solidFill>
              <a:srgbClr val="7A7A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38724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4242816"/>
            <a:ext cx="465063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SHADOWBOX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69264" y="4553712"/>
            <a:ext cx="46506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· MODEL · PROVER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69264" y="4736592"/>
            <a:ext cx="46506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 × 160 × 70 mm · 1.9 kg · fanless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969264" y="4974336"/>
            <a:ext cx="46506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node instead of three: it relays for the neighbourhood, runs the local model that reads a sentence, and generates the proof. RADIO / CRYPTO / POWER bays mirror the in-app module system.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6259982" y="2395728"/>
            <a:ext cx="5272430" cy="3310128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26" name="Image 1" descr="/Users/mac/dev/Cabal-Mesh/docs/pitch/src/deck-nobod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8270" y="2414016"/>
            <a:ext cx="5235854" cy="129844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570878" y="3877056"/>
            <a:ext cx="914400" cy="201168"/>
          </a:xfrm>
          <a:prstGeom prst="rect">
            <a:avLst/>
          </a:prstGeom>
          <a:ln w="12700">
            <a:solidFill>
              <a:srgbClr val="7A7A7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570878" y="38724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6570878" y="4242816"/>
            <a:ext cx="465063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NOBODY BOX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6570878" y="4553712"/>
            <a:ext cx="46506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ESCROW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570878" y="4736592"/>
            <a:ext cx="46506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520 × 460 × 720 mm · ≈ 88 L · no keyhole</a:t>
            </a:r>
            <a:endParaRPr lang="en-US" sz="860" dirty="0"/>
          </a:p>
        </p:txBody>
      </p:sp>
      <p:sp>
        <p:nvSpPr>
          <p:cNvPr id="32" name="Text 28"/>
          <p:cNvSpPr/>
          <p:nvPr/>
        </p:nvSpPr>
        <p:spPr>
          <a:xfrm>
            <a:off x="6570878" y="4974336"/>
            <a:ext cx="46506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parcel locker whose bolt turns on the on-chain release. The seller drops the item in, the buyer opens it, nobody in between can. A load cell reports that something left — never what it was.</a:t>
            </a:r>
            <a:endParaRPr lang="en-US" sz="940" dirty="0"/>
          </a:p>
        </p:txBody>
      </p:sp>
      <p:sp>
        <p:nvSpPr>
          <p:cNvPr id="33" name="Shape 29"/>
          <p:cNvSpPr/>
          <p:nvPr/>
        </p:nvSpPr>
        <p:spPr>
          <a:xfrm>
            <a:off x="658368" y="5888736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58368" y="605332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AND DRAWINGS — docs/pitch/hardware-device-prompts.md · the images above are vector renders of that geometry, not photographs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554480"/>
            <a:ext cx="1280160" cy="73152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2286000"/>
            <a:ext cx="1188720" cy="-54864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554480"/>
            <a:ext cx="-365760" cy="128016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834640"/>
            <a:ext cx="1645920" cy="-54864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2834640"/>
            <a:ext cx="548640" cy="146304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0" y="4297680"/>
            <a:ext cx="1737360" cy="4572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2286000"/>
            <a:ext cx="1005840" cy="118872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0476" y="152247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26" name="Shape 24"/>
          <p:cNvSpPr/>
          <p:nvPr/>
        </p:nvSpPr>
        <p:spPr>
          <a:xfrm>
            <a:off x="9660636" y="225399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49356" y="170535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28" name="Shape 26"/>
          <p:cNvSpPr/>
          <p:nvPr/>
        </p:nvSpPr>
        <p:spPr>
          <a:xfrm>
            <a:off x="8014716" y="280263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29" name="Shape 27"/>
          <p:cNvSpPr/>
          <p:nvPr/>
        </p:nvSpPr>
        <p:spPr>
          <a:xfrm>
            <a:off x="8563356" y="426567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00716" y="472287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66476" y="3442716"/>
            <a:ext cx="64008" cy="64008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2743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pic>
        <p:nvPicPr>
          <p:cNvPr id="34" name="Image 0" descr="/Users/mac/dev/Cabal-Mesh/src/ds/assets/logo/minimal-m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371600"/>
            <a:ext cx="658368" cy="6583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21792" y="228600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identity.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intents.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execution.</a:t>
            </a:r>
            <a:endParaRPr lang="en-US" sz="4000" dirty="0"/>
          </a:p>
        </p:txBody>
      </p:sp>
      <p:sp>
        <p:nvSpPr>
          <p:cNvPr id="36" name="Shape 33"/>
          <p:cNvSpPr/>
          <p:nvPr/>
        </p:nvSpPr>
        <p:spPr>
          <a:xfrm>
            <a:off x="658368" y="4590288"/>
            <a:ext cx="1188720" cy="3200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7" name="Text 34"/>
          <p:cNvSpPr/>
          <p:nvPr/>
        </p:nvSpPr>
        <p:spPr>
          <a:xfrm>
            <a:off x="658368" y="487375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2212848" y="484632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EBE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youtu.be/Z3ooub-mnCw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58368" y="523951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212848" y="521208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EBE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github.com/kurodenjiro/Cabal-Mesh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58368" y="560527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2212848" y="557784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EBE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Avalanche Fuji — Escrow live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58368" y="597103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2212848" y="594360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EBE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settlement path: shipped and demonstrable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858000" y="626364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LEAVE NO IDENTITY, ONLY TRACES.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CabalMesh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CabalMesh — Product Introduction</dc:title>
  <dc:subject>PptxGenJS Presentation</dc:subject>
  <dc:creator>CabalMesh</dc:creator>
  <cp:lastModifiedBy>CabalMesh</cp:lastModifiedBy>
  <cp:revision>1</cp:revision>
  <dcterms:created xsi:type="dcterms:W3CDTF">2026-08-27T10:41:20Z</dcterms:created>
  <dcterms:modified xsi:type="dcterms:W3CDTF">2026-08-27T10:41:20Z</dcterms:modified>
</cp:coreProperties>
</file>
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274320" y="274320"/>
            <a:ext cx="146304" cy="0"/>
          </a:xfrm>
          <a:prstGeom prst="line">
            <a:avLst/>
          </a:prstGeom>
          <a:noFill/>
          <a:ln w="12700">
            <a:solidFill>
              <a:srgbClr val="3A3A3A"/>
            </a:solidFill>
            <a:prstDash val="solid"/>
          </a:ln>
        </p:spPr>
      </p:sp>
      <p:sp>
        <p:nvSpPr>
          <p:cNvPr id="3" name="Shape 1"/>
          <p:cNvSpPr/>
          <p:nvPr/>
        </p:nvSpPr>
        <p:spPr>
          <a:xfrm>
            <a:off x="274320" y="274320"/>
            <a:ext cx="0" cy="146304"/>
          </a:xfrm>
          <a:prstGeom prst="line">
            <a:avLst/>
          </a:prstGeom>
          <a:noFill/>
          <a:ln w="12700">
            <a:solidFill>
              <a:srgbClr val="3A3A3A"/>
            </a:solidFill>
            <a:prstDash val="solid"/>
          </a:ln>
        </p:spPr>
      </p:sp>
      <p:sp>
        <p:nvSpPr>
          <p:cNvPr id="4" name="Shape 2"/>
          <p:cNvSpPr/>
          <p:nvPr/>
        </p:nvSpPr>
        <p:spPr>
          <a:xfrm>
            <a:off x="11917375" y="274320"/>
            <a:ext cx="-146304" cy="0"/>
          </a:xfrm>
          <a:prstGeom prst="line">
            <a:avLst/>
          </a:prstGeom>
          <a:noFill/>
          <a:ln w="12700">
            <a:solidFill>
              <a:srgbClr val="3A3A3A"/>
            </a:solidFill>
            <a:prstDash val="solid"/>
          </a:ln>
        </p:spPr>
      </p:sp>
      <p:sp>
        <p:nvSpPr>
          <p:cNvPr id="5" name="Shape 3"/>
          <p:cNvSpPr/>
          <p:nvPr/>
        </p:nvSpPr>
        <p:spPr>
          <a:xfrm>
            <a:off x="11917375" y="274320"/>
            <a:ext cx="0" cy="146304"/>
          </a:xfrm>
          <a:prstGeom prst="line">
            <a:avLst/>
          </a:prstGeom>
          <a:noFill/>
          <a:ln w="12700">
            <a:solidFill>
              <a:srgbClr val="3A3A3A"/>
            </a:solidFill>
            <a:prstDash val="solid"/>
          </a:ln>
        </p:spPr>
      </p:sp>
      <p:sp>
        <p:nvSpPr>
          <p:cNvPr id="6" name="Shape 4"/>
          <p:cNvSpPr/>
          <p:nvPr/>
        </p:nvSpPr>
        <p:spPr>
          <a:xfrm>
            <a:off x="274320" y="6583680"/>
            <a:ext cx="146304" cy="0"/>
          </a:xfrm>
          <a:prstGeom prst="line">
            <a:avLst/>
          </a:prstGeom>
          <a:noFill/>
          <a:ln w="12700">
            <a:solidFill>
              <a:srgbClr val="3A3A3A"/>
            </a:solidFill>
            <a:prstDash val="solid"/>
          </a:ln>
        </p:spPr>
      </p:sp>
      <p:sp>
        <p:nvSpPr>
          <p:cNvPr id="7" name="Shape 5"/>
          <p:cNvSpPr/>
          <p:nvPr/>
        </p:nvSpPr>
        <p:spPr>
          <a:xfrm>
            <a:off x="274320" y="6583680"/>
            <a:ext cx="0" cy="-146304"/>
          </a:xfrm>
          <a:prstGeom prst="line">
            <a:avLst/>
          </a:prstGeom>
          <a:noFill/>
          <a:ln w="12700">
            <a:solidFill>
              <a:srgbClr val="3A3A3A"/>
            </a:solidFill>
            <a:prstDash val="solid"/>
          </a:ln>
        </p:spPr>
      </p:sp>
      <p:sp>
        <p:nvSpPr>
          <p:cNvPr id="8" name="Shape 6"/>
          <p:cNvSpPr/>
          <p:nvPr/>
        </p:nvSpPr>
        <p:spPr>
          <a:xfrm>
            <a:off x="11917375" y="6583680"/>
            <a:ext cx="-146304" cy="0"/>
          </a:xfrm>
          <a:prstGeom prst="line">
            <a:avLst/>
          </a:prstGeom>
          <a:noFill/>
          <a:ln w="12700">
            <a:solidFill>
              <a:srgbClr val="3A3A3A"/>
            </a:solidFill>
            <a:prstDash val="solid"/>
          </a:ln>
        </p:spPr>
      </p:sp>
      <p:sp>
        <p:nvSpPr>
          <p:cNvPr id="9" name="Shape 7"/>
          <p:cNvSpPr/>
          <p:nvPr/>
        </p:nvSpPr>
        <p:spPr>
          <a:xfrm>
            <a:off x="11917375" y="6583680"/>
            <a:ext cx="0" cy="-146304"/>
          </a:xfrm>
          <a:prstGeom prst="line">
            <a:avLst/>
          </a:prstGeom>
          <a:noFill/>
          <a:ln w="12700">
            <a:solidFill>
              <a:srgbClr val="3A3A3A"/>
            </a:solidFill>
            <a:prstDash val="solid"/>
          </a:ln>
        </p:spPr>
      </p:sp>
      <p:sp>
        <p:nvSpPr>
          <p:cNvPr id="10" name="Shape 8"/>
          <p:cNvSpPr/>
          <p:nvPr/>
        </p:nvSpPr>
        <p:spPr>
          <a:xfrm>
            <a:off x="274320" y="274320"/>
            <a:ext cx="146304" cy="0"/>
          </a:xfrm>
          <a:prstGeom prst="line">
            <a:avLst/>
          </a:prstGeom>
          <a:noFill/>
          <a:ln w="12700">
            <a:solidFill>
              <a:srgbClr val="3A3A3A"/>
            </a:solidFill>
            <a:prstDash val="solid"/>
          </a:ln>
        </p:spPr>
      </p:sp>
      <p:sp>
        <p:nvSpPr>
          <p:cNvPr id="11" name="Shape 9"/>
          <p:cNvSpPr/>
          <p:nvPr/>
        </p:nvSpPr>
        <p:spPr>
          <a:xfrm>
            <a:off x="274320" y="274320"/>
            <a:ext cx="0" cy="146304"/>
          </a:xfrm>
          <a:prstGeom prst="line">
            <a:avLst/>
          </a:prstGeom>
          <a:noFill/>
          <a:ln w="12700">
            <a:solidFill>
              <a:srgbClr val="3A3A3A"/>
            </a:solidFill>
            <a:prstDash val="solid"/>
          </a:ln>
        </p:spPr>
      </p:sp>
      <p:sp>
        <p:nvSpPr>
          <p:cNvPr id="12" name="Shape 10"/>
          <p:cNvSpPr/>
          <p:nvPr/>
        </p:nvSpPr>
        <p:spPr>
          <a:xfrm>
            <a:off x="11917375" y="274320"/>
            <a:ext cx="-146304" cy="0"/>
          </a:xfrm>
          <a:prstGeom prst="line">
            <a:avLst/>
          </a:prstGeom>
          <a:noFill/>
          <a:ln w="12700">
            <a:solidFill>
              <a:srgbClr val="3A3A3A"/>
            </a:solidFill>
            <a:prstDash val="solid"/>
          </a:ln>
        </p:spPr>
      </p:sp>
      <p:sp>
        <p:nvSpPr>
          <p:cNvPr id="13" name="Shape 11"/>
          <p:cNvSpPr/>
          <p:nvPr/>
        </p:nvSpPr>
        <p:spPr>
          <a:xfrm>
            <a:off x="11917375" y="274320"/>
            <a:ext cx="0" cy="146304"/>
          </a:xfrm>
          <a:prstGeom prst="line">
            <a:avLst/>
          </a:prstGeom>
          <a:noFill/>
          <a:ln w="12700">
            <a:solidFill>
              <a:srgbClr val="3A3A3A"/>
            </a:solidFill>
            <a:prstDash val="solid"/>
          </a:ln>
        </p:spPr>
      </p:sp>
      <p:sp>
        <p:nvSpPr>
          <p:cNvPr id="14" name="Shape 12"/>
          <p:cNvSpPr/>
          <p:nvPr/>
        </p:nvSpPr>
        <p:spPr>
          <a:xfrm>
            <a:off x="274320" y="6583680"/>
            <a:ext cx="146304" cy="0"/>
          </a:xfrm>
          <a:prstGeom prst="line">
            <a:avLst/>
          </a:prstGeom>
          <a:noFill/>
          <a:ln w="12700">
            <a:solidFill>
              <a:srgbClr val="3A3A3A"/>
            </a:solidFill>
            <a:prstDash val="solid"/>
          </a:ln>
        </p:spPr>
      </p:sp>
      <p:sp>
        <p:nvSpPr>
          <p:cNvPr id="15" name="Shape 13"/>
          <p:cNvSpPr/>
          <p:nvPr/>
        </p:nvSpPr>
        <p:spPr>
          <a:xfrm>
            <a:off x="274320" y="6583680"/>
            <a:ext cx="0" cy="-146304"/>
          </a:xfrm>
          <a:prstGeom prst="line">
            <a:avLst/>
          </a:prstGeom>
          <a:noFill/>
          <a:ln w="12700">
            <a:solidFill>
              <a:srgbClr val="3A3A3A"/>
            </a:solidFill>
            <a:prstDash val="solid"/>
          </a:ln>
        </p:spPr>
      </p:sp>
      <p:sp>
        <p:nvSpPr>
          <p:cNvPr id="16" name="Shape 14"/>
          <p:cNvSpPr/>
          <p:nvPr/>
        </p:nvSpPr>
        <p:spPr>
          <a:xfrm>
            <a:off x="11917375" y="6583680"/>
            <a:ext cx="-146304" cy="0"/>
          </a:xfrm>
          <a:prstGeom prst="line">
            <a:avLst/>
          </a:prstGeom>
          <a:noFill/>
          <a:ln w="12700">
            <a:solidFill>
              <a:srgbClr val="3A3A3A"/>
            </a:solidFill>
            <a:prstDash val="solid"/>
          </a:ln>
        </p:spPr>
      </p:sp>
      <p:sp>
        <p:nvSpPr>
          <p:cNvPr id="17" name="Shape 15"/>
          <p:cNvSpPr/>
          <p:nvPr/>
        </p:nvSpPr>
        <p:spPr>
          <a:xfrm>
            <a:off x="11917375" y="6583680"/>
            <a:ext cx="0" cy="-146304"/>
          </a:xfrm>
          <a:prstGeom prst="line">
            <a:avLst/>
          </a:prstGeom>
          <a:noFill/>
          <a:ln w="12700">
            <a:solidFill>
              <a:srgbClr val="3A3A3A"/>
            </a:solidFill>
            <a:prstDash val="solid"/>
          </a:ln>
        </p:spPr>
      </p:sp>
      <p:sp>
        <p:nvSpPr>
          <p:cNvPr id="18" name="Text 16"/>
          <p:cNvSpPr/>
          <p:nvPr/>
        </p:nvSpPr>
        <p:spPr>
          <a:xfrm>
            <a:off x="658368" y="274320"/>
            <a:ext cx="3657600" cy="237744"/>
          </a:xfrm>
          <a:prstGeom prst="rect">
            <a:avLst/>
          </a:prstGeom>
          <a:noFill/>
          <a:ln/>
        </p:spPr>
        <p:txBody>
          <a:bodyPr wrap="square" rtlCol="0" anchor="ctr"/>
          <a:lstStyle/>
          <a:p>
            <a:pPr indent="0" marL="0">
              <a:buNone/>
            </a:pPr>
            <a:r>
              <a:rPr lang="en-US" sz="900" b="1" spc="300" kern="0" dirty="0">
                <a:solidFill>
                  <a:srgbClr val="FFFFFF"/>
                </a:solidFill>
                <a:latin typeface="Arial" pitchFamily="34" charset="0"/>
                <a:ea typeface="Arial" pitchFamily="34" charset="-122"/>
                <a:cs typeface="Arial" pitchFamily="34" charset="-120"/>
              </a:rPr>
              <a:t>CABALMESH</a:t>
            </a:r>
            <a:endParaRPr lang="en-US" sz="900" dirty="0"/>
          </a:p>
        </p:txBody>
      </p:sp>
      <p:sp>
        <p:nvSpPr>
          <p:cNvPr id="19" name="Text 17"/>
          <p:cNvSpPr/>
          <p:nvPr/>
        </p:nvSpPr>
        <p:spPr>
          <a:xfrm>
            <a:off x="6583680" y="274320"/>
            <a:ext cx="4937760" cy="237744"/>
          </a:xfrm>
          <a:prstGeom prst="rect">
            <a:avLst/>
          </a:prstGeom>
          <a:noFill/>
          <a:ln/>
        </p:spPr>
        <p:txBody>
          <a:bodyPr wrap="square" rtlCol="0" anchor="ctr"/>
          <a:lstStyle/>
          <a:p>
            <a:pPr algn="r" indent="0" marL="0">
              <a:buNone/>
            </a:pPr>
            <a:r>
              <a:rPr lang="en-US" sz="900" b="1" spc="300" kern="0" dirty="0">
                <a:solidFill>
                  <a:srgbClr val="7A7A7A"/>
                </a:solidFill>
                <a:latin typeface="Arial" pitchFamily="34" charset="0"/>
                <a:ea typeface="Arial" pitchFamily="34" charset="-122"/>
                <a:cs typeface="Arial" pitchFamily="34" charset="-120"/>
              </a:rPr>
              <a:t>ROADMAP</a:t>
            </a:r>
            <a:endParaRPr lang="en-US" sz="900" dirty="0"/>
          </a:p>
        </p:txBody>
      </p:sp>
      <p:sp>
        <p:nvSpPr>
          <p:cNvPr id="20" name="Shape 18"/>
          <p:cNvSpPr/>
          <p:nvPr/>
        </p:nvSpPr>
        <p:spPr>
          <a:xfrm>
            <a:off x="658368" y="566928"/>
            <a:ext cx="10874959" cy="0"/>
          </a:xfrm>
          <a:prstGeom prst="line">
            <a:avLst/>
          </a:prstGeom>
          <a:noFill/>
          <a:ln w="12700">
            <a:solidFill>
              <a:srgbClr val="2A2A2A"/>
            </a:solidFill>
            <a:prstDash val="solid"/>
          </a:ln>
        </p:spPr>
      </p:sp>
      <p:pic>
        <p:nvPicPr>
          <p:cNvPr id="21" name="Image 0" descr="/Users/mac/dev/Cabal-Mesh/src/ds/assets/logo/oracle-emblem.png">    </p:cNvPr>
          <p:cNvPicPr>
            <a:picLocks noChangeAspect="1"/>
          </p:cNvPicPr>
          <p:nvPr/>
        </p:nvPicPr>
        <p:blipFill>
          <a:blip r:embed="rId1"/>
          <a:srcRect l="0" r="0" t="0" b="0"/>
          <a:stretch/>
        </p:blipFill>
        <p:spPr>
          <a:xfrm>
            <a:off x="7955280" y="1371600"/>
            <a:ext cx="3474720" cy="3749040"/>
          </a:xfrm>
          <a:prstGeom prst="rect">
            <a:avLst/>
          </a:prstGeom>
        </p:spPr>
      </p:pic>
      <p:sp>
        <p:nvSpPr>
          <p:cNvPr id="22" name="Text 19"/>
          <p:cNvSpPr/>
          <p:nvPr/>
        </p:nvSpPr>
        <p:spPr>
          <a:xfrm>
            <a:off x="658368" y="1234440"/>
            <a:ext cx="7315200" cy="256032"/>
          </a:xfrm>
          <a:prstGeom prst="rect">
            <a:avLst/>
          </a:prstGeom>
          <a:noFill/>
          <a:ln/>
        </p:spPr>
        <p:txBody>
          <a:bodyPr wrap="square" rtlCol="0" anchor="ctr"/>
          <a:lstStyle/>
          <a:p>
            <a:pPr indent="0" marL="0">
              <a:buNone/>
            </a:pPr>
            <a:r>
              <a:rPr lang="en-US" sz="1000" b="1" spc="240" kern="0" dirty="0">
                <a:solidFill>
                  <a:srgbClr val="00E5FF"/>
                </a:solidFill>
                <a:latin typeface="Arial" pitchFamily="34" charset="0"/>
                <a:ea typeface="Arial" pitchFamily="34" charset="-122"/>
                <a:cs typeface="Arial" pitchFamily="34" charset="-120"/>
              </a:rPr>
              <a:t>PRODUCT &amp; GROWTH STRATEGY · AUG 2026 → JAN 2027</a:t>
            </a:r>
            <a:endParaRPr lang="en-US" sz="1000" dirty="0"/>
          </a:p>
        </p:txBody>
      </p:sp>
      <p:sp>
        <p:nvSpPr>
          <p:cNvPr id="23" name="Text 20"/>
          <p:cNvSpPr/>
          <p:nvPr/>
        </p:nvSpPr>
        <p:spPr>
          <a:xfrm>
            <a:off x="621792" y="1700784"/>
            <a:ext cx="7315200" cy="2834640"/>
          </a:xfrm>
          <a:prstGeom prst="rect">
            <a:avLst/>
          </a:prstGeom>
          <a:noFill/>
          <a:ln/>
        </p:spPr>
        <p:txBody>
          <a:bodyPr wrap="square" rtlCol="0" anchor="ctr"/>
          <a:lstStyle/>
          <a:p>
            <a:pPr indent="0" marL="0">
              <a:lnSpc>
                <a:spcPct val="106000"/>
              </a:lnSpc>
              <a:buNone/>
            </a:pPr>
            <a:r>
              <a:rPr lang="en-US" sz="4000" b="1" dirty="0">
                <a:solidFill>
                  <a:srgbClr val="FFFFFF"/>
                </a:solidFill>
                <a:latin typeface="Arial" pitchFamily="34" charset="0"/>
                <a:ea typeface="Arial" pitchFamily="34" charset="-122"/>
                <a:cs typeface="Arial" pitchFamily="34" charset="-120"/>
              </a:rPr>
              <a:t>Ship trust.</a:t>
            </a:r>
            <a:endParaRPr lang="en-US" sz="4000" dirty="0"/>
          </a:p>
          <a:p>
            <a:pPr indent="0" marL="0">
              <a:lnSpc>
                <a:spcPct val="106000"/>
              </a:lnSpc>
              <a:buNone/>
            </a:pPr>
            <a:r>
              <a:rPr lang="en-US" sz="4000" b="1" dirty="0">
                <a:solidFill>
                  <a:srgbClr val="FFFFFF"/>
                </a:solidFill>
                <a:latin typeface="Arial" pitchFamily="34" charset="0"/>
                <a:ea typeface="Arial" pitchFamily="34" charset="-122"/>
                <a:cs typeface="Arial" pitchFamily="34" charset="-120"/>
              </a:rPr>
              <a:t>Sell hardware.</a:t>
            </a:r>
            <a:endParaRPr lang="en-US" sz="4000" dirty="0"/>
          </a:p>
          <a:p>
            <a:pPr indent="0" marL="0">
              <a:lnSpc>
                <a:spcPct val="106000"/>
              </a:lnSpc>
              <a:buNone/>
            </a:pPr>
            <a:r>
              <a:rPr lang="en-US" sz="4000" b="1" dirty="0">
                <a:solidFill>
                  <a:srgbClr val="FFFFFF"/>
                </a:solidFill>
                <a:latin typeface="Arial" pitchFamily="34" charset="0"/>
                <a:ea typeface="Arial" pitchFamily="34" charset="-122"/>
                <a:cs typeface="Arial" pitchFamily="34" charset="-120"/>
              </a:rPr>
              <a:t>Let the network</a:t>
            </a:r>
            <a:endParaRPr lang="en-US" sz="4000" dirty="0"/>
          </a:p>
          <a:p>
            <a:pPr indent="0" marL="0">
              <a:lnSpc>
                <a:spcPct val="106000"/>
              </a:lnSpc>
              <a:buNone/>
            </a:pPr>
            <a:r>
              <a:rPr lang="en-US" sz="4000" b="1" dirty="0">
                <a:solidFill>
                  <a:srgbClr val="FFFFFF"/>
                </a:solidFill>
                <a:latin typeface="Arial" pitchFamily="34" charset="0"/>
                <a:ea typeface="Arial" pitchFamily="34" charset="-122"/>
                <a:cs typeface="Arial" pitchFamily="34" charset="-120"/>
              </a:rPr>
              <a:t>pay for itself.</a:t>
            </a:r>
            <a:endParaRPr lang="en-US" sz="4000" dirty="0"/>
          </a:p>
        </p:txBody>
      </p:sp>
      <p:sp>
        <p:nvSpPr>
          <p:cNvPr id="24" name="Shape 21"/>
          <p:cNvSpPr/>
          <p:nvPr/>
        </p:nvSpPr>
        <p:spPr>
          <a:xfrm>
            <a:off x="658368" y="4700016"/>
            <a:ext cx="1188720" cy="32004"/>
          </a:xfrm>
          <a:prstGeom prst="rect">
            <a:avLst/>
          </a:prstGeom>
          <a:solidFill>
            <a:srgbClr val="00E5FF"/>
          </a:solidFill>
          <a:ln/>
        </p:spPr>
      </p:sp>
      <p:sp>
        <p:nvSpPr>
          <p:cNvPr id="25" name="Text 22"/>
          <p:cNvSpPr/>
          <p:nvPr/>
        </p:nvSpPr>
        <p:spPr>
          <a:xfrm>
            <a:off x="658368" y="4956048"/>
            <a:ext cx="6766560" cy="1005840"/>
          </a:xfrm>
          <a:prstGeom prst="rect">
            <a:avLst/>
          </a:prstGeom>
          <a:noFill/>
          <a:ln/>
        </p:spPr>
        <p:txBody>
          <a:bodyPr wrap="square" rtlCol="0" anchor="ctr"/>
          <a:lstStyle/>
          <a:p>
            <a:pPr indent="0" marL="0">
              <a:lnSpc>
                <a:spcPct val="140000"/>
              </a:lnSpc>
              <a:buNone/>
            </a:pPr>
            <a:r>
              <a:rPr lang="en-US" sz="1200" dirty="0">
                <a:solidFill>
                  <a:srgbClr val="BEBEBE"/>
                </a:solidFill>
                <a:latin typeface="Arial" pitchFamily="34" charset="0"/>
                <a:ea typeface="Arial" pitchFamily="34" charset="-122"/>
                <a:cs typeface="Arial" pitchFamily="34" charset="-120"/>
              </a:rPr>
              <a:t>Three moves in six months, in the order that makes each one possible. The product earns the right to be kept, then the right to be bought, then the right to grow on its own.</a:t>
            </a:r>
            <a:endParaRPr lang="en-US" sz="1200" dirty="0"/>
          </a:p>
        </p:txBody>
      </p:sp>
      <p:sp>
        <p:nvSpPr>
          <p:cNvPr id="26" name="Text 23"/>
          <p:cNvSpPr/>
          <p:nvPr/>
        </p:nvSpPr>
        <p:spPr>
          <a:xfrm>
            <a:off x="658368" y="6309360"/>
            <a:ext cx="6400800" cy="237744"/>
          </a:xfrm>
          <a:prstGeom prst="rect">
            <a:avLst/>
          </a:prstGeom>
          <a:noFill/>
          <a:ln/>
        </p:spPr>
        <p:txBody>
          <a:bodyPr wrap="square" rtlCol="0" anchor="ctr"/>
          <a:lstStyle/>
          <a:p>
            <a:pPr indent="0" marL="0">
              <a:buNone/>
            </a:pPr>
            <a:r>
              <a:rPr lang="en-US" sz="850" b="1" spc="220" kern="0" dirty="0">
                <a:solidFill>
                  <a:srgbClr val="7A7A7A"/>
                </a:solidFill>
                <a:latin typeface="Arial" pitchFamily="34" charset="0"/>
                <a:ea typeface="Arial" pitchFamily="34" charset="-122"/>
                <a:cs typeface="Arial" pitchFamily="34" charset="-120"/>
              </a:rPr>
              <a:t>CABALMESH · AVALANCHE ·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274320" y="274320"/>
            <a:ext cx="146304" cy="0"/>
          </a:xfrm>
          <a:prstGeom prst="line">
            <a:avLst/>
          </a:prstGeom>
          <a:noFill/>
          <a:ln w="12700">
            <a:solidFill>
              <a:srgbClr val="3A3A3A"/>
            </a:solidFill>
            <a:prstDash val="solid"/>
          </a:ln>
        </p:spPr>
      </p:sp>
      <p:sp>
        <p:nvSpPr>
          <p:cNvPr id="3" name="Shape 1"/>
          <p:cNvSpPr/>
          <p:nvPr/>
        </p:nvSpPr>
        <p:spPr>
          <a:xfrm>
            <a:off x="274320" y="274320"/>
            <a:ext cx="0" cy="146304"/>
          </a:xfrm>
          <a:prstGeom prst="line">
            <a:avLst/>
          </a:prstGeom>
          <a:noFill/>
          <a:ln w="12700">
            <a:solidFill>
              <a:srgbClr val="3A3A3A"/>
            </a:solidFill>
            <a:prstDash val="solid"/>
          </a:ln>
        </p:spPr>
      </p:sp>
      <p:sp>
        <p:nvSpPr>
          <p:cNvPr id="4" name="Shape 2"/>
          <p:cNvSpPr/>
          <p:nvPr/>
        </p:nvSpPr>
        <p:spPr>
          <a:xfrm>
            <a:off x="11917375" y="274320"/>
            <a:ext cx="-146304" cy="0"/>
          </a:xfrm>
          <a:prstGeom prst="line">
            <a:avLst/>
          </a:prstGeom>
          <a:noFill/>
          <a:ln w="12700">
            <a:solidFill>
              <a:srgbClr val="3A3A3A"/>
            </a:solidFill>
            <a:prstDash val="solid"/>
          </a:ln>
        </p:spPr>
      </p:sp>
      <p:sp>
        <p:nvSpPr>
          <p:cNvPr id="5" name="Shape 3"/>
          <p:cNvSpPr/>
          <p:nvPr/>
        </p:nvSpPr>
        <p:spPr>
          <a:xfrm>
            <a:off x="11917375" y="274320"/>
            <a:ext cx="0" cy="146304"/>
          </a:xfrm>
          <a:prstGeom prst="line">
            <a:avLst/>
          </a:prstGeom>
          <a:noFill/>
          <a:ln w="12700">
            <a:solidFill>
              <a:srgbClr val="3A3A3A"/>
            </a:solidFill>
            <a:prstDash val="solid"/>
          </a:ln>
        </p:spPr>
      </p:sp>
      <p:sp>
        <p:nvSpPr>
          <p:cNvPr id="6" name="Shape 4"/>
          <p:cNvSpPr/>
          <p:nvPr/>
        </p:nvSpPr>
        <p:spPr>
          <a:xfrm>
            <a:off x="274320" y="6583680"/>
            <a:ext cx="146304" cy="0"/>
          </a:xfrm>
          <a:prstGeom prst="line">
            <a:avLst/>
          </a:prstGeom>
          <a:noFill/>
          <a:ln w="12700">
            <a:solidFill>
              <a:srgbClr val="3A3A3A"/>
            </a:solidFill>
            <a:prstDash val="solid"/>
          </a:ln>
        </p:spPr>
      </p:sp>
      <p:sp>
        <p:nvSpPr>
          <p:cNvPr id="7" name="Shape 5"/>
          <p:cNvSpPr/>
          <p:nvPr/>
        </p:nvSpPr>
        <p:spPr>
          <a:xfrm>
            <a:off x="274320" y="6583680"/>
            <a:ext cx="0" cy="-146304"/>
          </a:xfrm>
          <a:prstGeom prst="line">
            <a:avLst/>
          </a:prstGeom>
          <a:noFill/>
          <a:ln w="12700">
            <a:solidFill>
              <a:srgbClr val="3A3A3A"/>
            </a:solidFill>
            <a:prstDash val="solid"/>
          </a:ln>
        </p:spPr>
      </p:sp>
      <p:sp>
        <p:nvSpPr>
          <p:cNvPr id="8" name="Shape 6"/>
          <p:cNvSpPr/>
          <p:nvPr/>
        </p:nvSpPr>
        <p:spPr>
          <a:xfrm>
            <a:off x="11917375" y="6583680"/>
            <a:ext cx="-146304" cy="0"/>
          </a:xfrm>
          <a:prstGeom prst="line">
            <a:avLst/>
          </a:prstGeom>
          <a:noFill/>
          <a:ln w="12700">
            <a:solidFill>
              <a:srgbClr val="3A3A3A"/>
            </a:solidFill>
            <a:prstDash val="solid"/>
          </a:ln>
        </p:spPr>
      </p:sp>
      <p:sp>
        <p:nvSpPr>
          <p:cNvPr id="9" name="Shape 7"/>
          <p:cNvSpPr/>
          <p:nvPr/>
        </p:nvSpPr>
        <p:spPr>
          <a:xfrm>
            <a:off x="11917375" y="6583680"/>
            <a:ext cx="0" cy="-146304"/>
          </a:xfrm>
          <a:prstGeom prst="line">
            <a:avLst/>
          </a:prstGeom>
          <a:noFill/>
          <a:ln w="12700">
            <a:solidFill>
              <a:srgbClr val="3A3A3A"/>
            </a:solidFill>
            <a:prstDash val="solid"/>
          </a:ln>
        </p:spPr>
      </p:sp>
      <p:sp>
        <p:nvSpPr>
          <p:cNvPr id="10" name="Text 8"/>
          <p:cNvSpPr/>
          <p:nvPr/>
        </p:nvSpPr>
        <p:spPr>
          <a:xfrm>
            <a:off x="658368" y="274320"/>
            <a:ext cx="2743200" cy="219456"/>
          </a:xfrm>
          <a:prstGeom prst="rect">
            <a:avLst/>
          </a:prstGeom>
          <a:noFill/>
          <a:ln/>
        </p:spPr>
        <p:txBody>
          <a:bodyPr wrap="square" rtlCol="0" anchor="ctr"/>
          <a:lstStyle/>
          <a:p>
            <a:pPr indent="0" marL="0">
              <a:buNone/>
            </a:pPr>
            <a:r>
              <a:rPr lang="en-US" sz="800" b="1" spc="240" kern="0" dirty="0">
                <a:solidFill>
                  <a:srgbClr val="7A7A7A"/>
                </a:solidFill>
                <a:latin typeface="Arial" pitchFamily="34" charset="0"/>
                <a:ea typeface="Arial" pitchFamily="34" charset="-122"/>
                <a:cs typeface="Arial" pitchFamily="34" charset="-120"/>
              </a:rPr>
              <a:t>CABALMESH</a:t>
            </a:r>
            <a:endParaRPr lang="en-US" sz="800" dirty="0"/>
          </a:p>
        </p:txBody>
      </p:sp>
      <p:sp>
        <p:nvSpPr>
          <p:cNvPr id="11" name="Text 9"/>
          <p:cNvSpPr/>
          <p:nvPr/>
        </p:nvSpPr>
        <p:spPr>
          <a:xfrm>
            <a:off x="6583680" y="274320"/>
            <a:ext cx="4937760" cy="219456"/>
          </a:xfrm>
          <a:prstGeom prst="rect">
            <a:avLst/>
          </a:prstGeom>
          <a:noFill/>
          <a:ln/>
        </p:spPr>
        <p:txBody>
          <a:bodyPr wrap="square" rtlCol="0" anchor="ctr"/>
          <a:lstStyle/>
          <a:p>
            <a:pPr algn="r" indent="0" marL="0">
              <a:buNone/>
            </a:pPr>
            <a:r>
              <a:rPr lang="en-US" sz="800" b="1" spc="240" kern="0" dirty="0">
                <a:solidFill>
                  <a:srgbClr val="3A3A3A"/>
                </a:solidFill>
                <a:latin typeface="Arial" pitchFamily="34" charset="0"/>
                <a:ea typeface="Arial" pitchFamily="34" charset="-122"/>
                <a:cs typeface="Arial" pitchFamily="34" charset="-120"/>
              </a:rPr>
              <a:t>ROADMAP · AUG 2026 – JAN 2027</a:t>
            </a:r>
            <a:endParaRPr lang="en-US" sz="800" dirty="0"/>
          </a:p>
        </p:txBody>
      </p:sp>
      <p:sp>
        <p:nvSpPr>
          <p:cNvPr id="12" name="Shape 10"/>
          <p:cNvSpPr/>
          <p:nvPr/>
        </p:nvSpPr>
        <p:spPr>
          <a:xfrm>
            <a:off x="658368" y="566928"/>
            <a:ext cx="10874959" cy="0"/>
          </a:xfrm>
          <a:prstGeom prst="line">
            <a:avLst/>
          </a:prstGeom>
          <a:noFill/>
          <a:ln w="12700">
            <a:solidFill>
              <a:srgbClr val="1C1C1C"/>
            </a:solidFill>
            <a:prstDash val="solid"/>
          </a:ln>
        </p:spPr>
      </p:sp>
      <p:sp>
        <p:nvSpPr>
          <p:cNvPr id="13" name="Text 11"/>
          <p:cNvSpPr/>
          <p:nvPr/>
        </p:nvSpPr>
        <p:spPr>
          <a:xfrm>
            <a:off x="10881360" y="6419088"/>
            <a:ext cx="658368" cy="219456"/>
          </a:xfrm>
          <a:prstGeom prst="rect">
            <a:avLst/>
          </a:prstGeom>
          <a:noFill/>
          <a:ln/>
        </p:spPr>
        <p:txBody>
          <a:bodyPr wrap="square" rtlCol="0" anchor="ctr"/>
          <a:lstStyle/>
          <a:p>
            <a:pPr algn="r" indent="0" marL="0">
              <a:buNone/>
            </a:pPr>
            <a:r>
              <a:rPr lang="en-US" sz="800" dirty="0">
                <a:solidFill>
                  <a:srgbClr val="3A3A3A"/>
                </a:solidFill>
                <a:latin typeface="Courier New" pitchFamily="34" charset="0"/>
                <a:ea typeface="Courier New" pitchFamily="34" charset="-122"/>
                <a:cs typeface="Courier New" pitchFamily="34" charset="-120"/>
              </a:rPr>
              <a:t>02</a:t>
            </a:r>
            <a:endParaRPr lang="en-US" sz="800" dirty="0"/>
          </a:p>
        </p:txBody>
      </p:sp>
      <p:sp>
        <p:nvSpPr>
          <p:cNvPr id="14" name="Text 12"/>
          <p:cNvSpPr/>
          <p:nvPr/>
        </p:nvSpPr>
        <p:spPr>
          <a:xfrm>
            <a:off x="658368" y="786384"/>
            <a:ext cx="8229600" cy="237744"/>
          </a:xfrm>
          <a:prstGeom prst="rect">
            <a:avLst/>
          </a:prstGeom>
          <a:noFill/>
          <a:ln/>
        </p:spPr>
        <p:txBody>
          <a:bodyPr wrap="square" rtlCol="0" anchor="ctr"/>
          <a:lstStyle/>
          <a:p>
            <a:pPr indent="0" marL="0">
              <a:buNone/>
            </a:pPr>
            <a:r>
              <a:rPr lang="en-US" sz="950" b="1" spc="240" kern="0" dirty="0">
                <a:solidFill>
                  <a:srgbClr val="00E5FF"/>
                </a:solidFill>
                <a:latin typeface="Arial" pitchFamily="34" charset="0"/>
                <a:ea typeface="Arial" pitchFamily="34" charset="-122"/>
                <a:cs typeface="Arial" pitchFamily="34" charset="-120"/>
              </a:rPr>
              <a:t>WHERE WE STAND</a:t>
            </a:r>
            <a:endParaRPr lang="en-US" sz="950" dirty="0"/>
          </a:p>
        </p:txBody>
      </p:sp>
      <p:sp>
        <p:nvSpPr>
          <p:cNvPr id="15" name="Text 13"/>
          <p:cNvSpPr/>
          <p:nvPr/>
        </p:nvSpPr>
        <p:spPr>
          <a:xfrm>
            <a:off x="658368" y="1097280"/>
            <a:ext cx="9875520" cy="914400"/>
          </a:xfrm>
          <a:prstGeom prst="rect">
            <a:avLst/>
          </a:prstGeom>
          <a:noFill/>
          <a:ln/>
        </p:spPr>
        <p:txBody>
          <a:bodyPr wrap="square" rtlCol="0" anchor="ctr"/>
          <a:lstStyle/>
          <a:p>
            <a:pPr indent="0" marL="0">
              <a:lnSpc>
                <a:spcPct val="112000"/>
              </a:lnSpc>
              <a:buNone/>
            </a:pPr>
            <a:r>
              <a:rPr lang="en-US" sz="2600" b="1" dirty="0">
                <a:solidFill>
                  <a:srgbClr val="FFFFFF"/>
                </a:solidFill>
                <a:latin typeface="Arial" pitchFamily="34" charset="0"/>
                <a:ea typeface="Arial" pitchFamily="34" charset="-122"/>
                <a:cs typeface="Arial" pitchFamily="34" charset="-120"/>
              </a:rPr>
              <a:t>One thing already works that nothing else in the category does.</a:t>
            </a:r>
            <a:endParaRPr lang="en-US" sz="2600" dirty="0"/>
          </a:p>
        </p:txBody>
      </p:sp>
      <p:sp>
        <p:nvSpPr>
          <p:cNvPr id="16" name="Text 14"/>
          <p:cNvSpPr/>
          <p:nvPr/>
        </p:nvSpPr>
        <p:spPr>
          <a:xfrm>
            <a:off x="658368" y="1883664"/>
            <a:ext cx="9326880" cy="640080"/>
          </a:xfrm>
          <a:prstGeom prst="rect">
            <a:avLst/>
          </a:prstGeom>
          <a:noFill/>
          <a:ln/>
        </p:spPr>
        <p:txBody>
          <a:bodyPr wrap="square" rtlCol="0" anchor="ctr"/>
          <a:lstStyle/>
          <a:p>
            <a:pPr indent="0" marL="0">
              <a:lnSpc>
                <a:spcPct val="134000"/>
              </a:lnSpc>
              <a:buNone/>
            </a:pPr>
            <a:r>
              <a:rPr lang="en-US" sz="1250" dirty="0">
                <a:solidFill>
                  <a:srgbClr val="BEBEBE"/>
                </a:solidFill>
                <a:latin typeface="Arial" pitchFamily="34" charset="0"/>
                <a:ea typeface="Arial" pitchFamily="34" charset="-122"/>
                <a:cs typeface="Arial" pitchFamily="34" charset="-120"/>
              </a:rPr>
              <a:t>A payment can be signed with no network, carried by the people nearby, and settled the moment anyone finds a signal. That is the wedge. The roadmap exists to close the three gaps around it.</a:t>
            </a:r>
            <a:endParaRPr lang="en-US" sz="1250" dirty="0"/>
          </a:p>
        </p:txBody>
      </p:sp>
      <p:sp>
        <p:nvSpPr>
          <p:cNvPr id="17" name="Shape 15"/>
          <p:cNvSpPr/>
          <p:nvPr/>
        </p:nvSpPr>
        <p:spPr>
          <a:xfrm>
            <a:off x="658368" y="2798064"/>
            <a:ext cx="3405226" cy="2651760"/>
          </a:xfrm>
          <a:prstGeom prst="rect">
            <a:avLst/>
          </a:prstGeom>
          <a:solidFill>
            <a:srgbClr val="0D0D0D"/>
          </a:solidFill>
          <a:ln w="12700">
            <a:solidFill>
              <a:srgbClr val="1C1C1C"/>
            </a:solidFill>
            <a:prstDash val="solid"/>
          </a:ln>
        </p:spPr>
      </p:sp>
      <p:sp>
        <p:nvSpPr>
          <p:cNvPr id="18" name="Shape 16"/>
          <p:cNvSpPr/>
          <p:nvPr/>
        </p:nvSpPr>
        <p:spPr>
          <a:xfrm>
            <a:off x="658368" y="2798064"/>
            <a:ext cx="3405226" cy="25603"/>
          </a:xfrm>
          <a:prstGeom prst="rect">
            <a:avLst/>
          </a:prstGeom>
          <a:solidFill>
            <a:srgbClr val="9BFF00"/>
          </a:solidFill>
          <a:ln/>
        </p:spPr>
      </p:sp>
      <p:sp>
        <p:nvSpPr>
          <p:cNvPr id="19" name="Text 17"/>
          <p:cNvSpPr/>
          <p:nvPr/>
        </p:nvSpPr>
        <p:spPr>
          <a:xfrm>
            <a:off x="987552" y="3108960"/>
            <a:ext cx="2746858" cy="219456"/>
          </a:xfrm>
          <a:prstGeom prst="rect">
            <a:avLst/>
          </a:prstGeom>
          <a:noFill/>
          <a:ln/>
        </p:spPr>
        <p:txBody>
          <a:bodyPr wrap="square" rtlCol="0" anchor="ctr"/>
          <a:lstStyle/>
          <a:p>
            <a:pPr algn="l" indent="0" marL="0">
              <a:buNone/>
            </a:pPr>
            <a:r>
              <a:rPr lang="en-US" sz="850" b="1" spc="200" kern="0" dirty="0">
                <a:solidFill>
                  <a:srgbClr val="9BFF00"/>
                </a:solidFill>
                <a:latin typeface="Arial" pitchFamily="34" charset="0"/>
                <a:ea typeface="Arial" pitchFamily="34" charset="-122"/>
                <a:cs typeface="Arial" pitchFamily="34" charset="-120"/>
              </a:rPr>
              <a:t>PRODUCT</a:t>
            </a:r>
            <a:endParaRPr lang="en-US" sz="850" dirty="0"/>
          </a:p>
        </p:txBody>
      </p:sp>
      <p:sp>
        <p:nvSpPr>
          <p:cNvPr id="20" name="Text 18"/>
          <p:cNvSpPr/>
          <p:nvPr/>
        </p:nvSpPr>
        <p:spPr>
          <a:xfrm>
            <a:off x="987552" y="3419856"/>
            <a:ext cx="2746858" cy="457200"/>
          </a:xfrm>
          <a:prstGeom prst="rect">
            <a:avLst/>
          </a:prstGeom>
          <a:noFill/>
          <a:ln/>
        </p:spPr>
        <p:txBody>
          <a:bodyPr wrap="square" rtlCol="0" anchor="t"/>
          <a:lstStyle/>
          <a:p>
            <a:pPr algn="l" indent="0" marL="0">
              <a:lnSpc>
                <a:spcPct val="130000"/>
              </a:lnSpc>
              <a:buNone/>
            </a:pPr>
            <a:r>
              <a:rPr lang="en-US" sz="1500" b="1" dirty="0">
                <a:solidFill>
                  <a:srgbClr val="FFFFFF"/>
                </a:solidFill>
                <a:latin typeface="Arial" pitchFamily="34" charset="0"/>
                <a:ea typeface="Arial" pitchFamily="34" charset="-122"/>
                <a:cs typeface="Arial" pitchFamily="34" charset="-120"/>
              </a:rPr>
              <a:t>The wedge is real</a:t>
            </a:r>
            <a:endParaRPr lang="en-US" sz="1500" dirty="0"/>
          </a:p>
        </p:txBody>
      </p:sp>
      <p:sp>
        <p:nvSpPr>
          <p:cNvPr id="21" name="Text 19"/>
          <p:cNvSpPr/>
          <p:nvPr/>
        </p:nvSpPr>
        <p:spPr>
          <a:xfrm>
            <a:off x="987552" y="4005072"/>
            <a:ext cx="2746858" cy="1097280"/>
          </a:xfrm>
          <a:prstGeom prst="rect">
            <a:avLst/>
          </a:prstGeom>
          <a:noFill/>
          <a:ln/>
        </p:spPr>
        <p:txBody>
          <a:bodyPr wrap="square" rtlCol="0" anchor="t"/>
          <a:lstStyle/>
          <a:p>
            <a:pPr algn="l" indent="0" marL="0">
              <a:lnSpc>
                <a:spcPct val="130000"/>
              </a:lnSpc>
              <a:buNone/>
            </a:pPr>
            <a:r>
              <a:rPr lang="en-US" sz="1000" dirty="0">
                <a:solidFill>
                  <a:srgbClr val="BEBEBE"/>
                </a:solidFill>
                <a:latin typeface="Arial" pitchFamily="34" charset="0"/>
                <a:ea typeface="Arial" pitchFamily="34" charset="-122"/>
                <a:cs typeface="Arial" pitchFamily="34" charset="-120"/>
              </a:rPr>
              <a:t>Offline signing, mesh relay and on-chain settlement work end to end today, on phones and desktop.</a:t>
            </a:r>
            <a:endParaRPr lang="en-US" sz="1000" dirty="0"/>
          </a:p>
        </p:txBody>
      </p:sp>
      <p:sp>
        <p:nvSpPr>
          <p:cNvPr id="22" name="Shape 20"/>
          <p:cNvSpPr/>
          <p:nvPr/>
        </p:nvSpPr>
        <p:spPr>
          <a:xfrm>
            <a:off x="4392778" y="2798064"/>
            <a:ext cx="3405226" cy="2651760"/>
          </a:xfrm>
          <a:prstGeom prst="rect">
            <a:avLst/>
          </a:prstGeom>
          <a:solidFill>
            <a:srgbClr val="0D0D0D"/>
          </a:solidFill>
          <a:ln w="12700">
            <a:solidFill>
              <a:srgbClr val="1C1C1C"/>
            </a:solidFill>
            <a:prstDash val="solid"/>
          </a:ln>
        </p:spPr>
      </p:sp>
      <p:sp>
        <p:nvSpPr>
          <p:cNvPr id="23" name="Shape 21"/>
          <p:cNvSpPr/>
          <p:nvPr/>
        </p:nvSpPr>
        <p:spPr>
          <a:xfrm>
            <a:off x="4392778" y="2798064"/>
            <a:ext cx="3405226" cy="25603"/>
          </a:xfrm>
          <a:prstGeom prst="rect">
            <a:avLst/>
          </a:prstGeom>
          <a:solidFill>
            <a:srgbClr val="00E5FF"/>
          </a:solidFill>
          <a:ln/>
        </p:spPr>
      </p:sp>
      <p:sp>
        <p:nvSpPr>
          <p:cNvPr id="24" name="Text 22"/>
          <p:cNvSpPr/>
          <p:nvPr/>
        </p:nvSpPr>
        <p:spPr>
          <a:xfrm>
            <a:off x="4721962" y="3108960"/>
            <a:ext cx="2746858" cy="219456"/>
          </a:xfrm>
          <a:prstGeom prst="rect">
            <a:avLst/>
          </a:prstGeom>
          <a:noFill/>
          <a:ln/>
        </p:spPr>
        <p:txBody>
          <a:bodyPr wrap="square" rtlCol="0" anchor="ctr"/>
          <a:lstStyle/>
          <a:p>
            <a:pPr algn="l" indent="0" marL="0">
              <a:buNone/>
            </a:pPr>
            <a:r>
              <a:rPr lang="en-US" sz="850" b="1" spc="200" kern="0" dirty="0">
                <a:solidFill>
                  <a:srgbClr val="00E5FF"/>
                </a:solidFill>
                <a:latin typeface="Arial" pitchFamily="34" charset="0"/>
                <a:ea typeface="Arial" pitchFamily="34" charset="-122"/>
                <a:cs typeface="Arial" pitchFamily="34" charset="-120"/>
              </a:rPr>
              <a:t>MARKET</a:t>
            </a:r>
            <a:endParaRPr lang="en-US" sz="850" dirty="0"/>
          </a:p>
        </p:txBody>
      </p:sp>
      <p:sp>
        <p:nvSpPr>
          <p:cNvPr id="25" name="Text 23"/>
          <p:cNvSpPr/>
          <p:nvPr/>
        </p:nvSpPr>
        <p:spPr>
          <a:xfrm>
            <a:off x="4721962" y="3419856"/>
            <a:ext cx="2746858" cy="457200"/>
          </a:xfrm>
          <a:prstGeom prst="rect">
            <a:avLst/>
          </a:prstGeom>
          <a:noFill/>
          <a:ln/>
        </p:spPr>
        <p:txBody>
          <a:bodyPr wrap="square" rtlCol="0" anchor="t"/>
          <a:lstStyle/>
          <a:p>
            <a:pPr algn="l" indent="0" marL="0">
              <a:lnSpc>
                <a:spcPct val="130000"/>
              </a:lnSpc>
              <a:buNone/>
            </a:pPr>
            <a:r>
              <a:rPr lang="en-US" sz="1500" b="1" dirty="0">
                <a:solidFill>
                  <a:srgbClr val="FFFFFF"/>
                </a:solidFill>
                <a:latin typeface="Arial" pitchFamily="34" charset="0"/>
                <a:ea typeface="Arial" pitchFamily="34" charset="-122"/>
                <a:cs typeface="Arial" pitchFamily="34" charset="-120"/>
              </a:rPr>
              <a:t>Nobody knows yet</a:t>
            </a:r>
            <a:endParaRPr lang="en-US" sz="1500" dirty="0"/>
          </a:p>
        </p:txBody>
      </p:sp>
      <p:sp>
        <p:nvSpPr>
          <p:cNvPr id="26" name="Text 24"/>
          <p:cNvSpPr/>
          <p:nvPr/>
        </p:nvSpPr>
        <p:spPr>
          <a:xfrm>
            <a:off x="4721962" y="4005072"/>
            <a:ext cx="2746858" cy="1097280"/>
          </a:xfrm>
          <a:prstGeom prst="rect">
            <a:avLst/>
          </a:prstGeom>
          <a:noFill/>
          <a:ln/>
        </p:spPr>
        <p:txBody>
          <a:bodyPr wrap="square" rtlCol="0" anchor="t"/>
          <a:lstStyle/>
          <a:p>
            <a:pPr algn="l" indent="0" marL="0">
              <a:lnSpc>
                <a:spcPct val="130000"/>
              </a:lnSpc>
              <a:buNone/>
            </a:pPr>
            <a:r>
              <a:rPr lang="en-US" sz="1000" dirty="0">
                <a:solidFill>
                  <a:srgbClr val="BEBEBE"/>
                </a:solidFill>
                <a:latin typeface="Arial" pitchFamily="34" charset="0"/>
                <a:ea typeface="Arial" pitchFamily="34" charset="-122"/>
                <a:cs typeface="Arial" pitchFamily="34" charset="-120"/>
              </a:rPr>
              <a:t>No audience, no waitlist, no distribution. The best product in the category is worth nothing unheard.</a:t>
            </a:r>
            <a:endParaRPr lang="en-US" sz="1000" dirty="0"/>
          </a:p>
        </p:txBody>
      </p:sp>
      <p:sp>
        <p:nvSpPr>
          <p:cNvPr id="27" name="Shape 25"/>
          <p:cNvSpPr/>
          <p:nvPr/>
        </p:nvSpPr>
        <p:spPr>
          <a:xfrm>
            <a:off x="8127187" y="2798064"/>
            <a:ext cx="3405226" cy="2651760"/>
          </a:xfrm>
          <a:prstGeom prst="rect">
            <a:avLst/>
          </a:prstGeom>
          <a:solidFill>
            <a:srgbClr val="0D0D0D"/>
          </a:solidFill>
          <a:ln w="12700">
            <a:solidFill>
              <a:srgbClr val="1C1C1C"/>
            </a:solidFill>
            <a:prstDash val="solid"/>
          </a:ln>
        </p:spPr>
      </p:sp>
      <p:sp>
        <p:nvSpPr>
          <p:cNvPr id="28" name="Shape 26"/>
          <p:cNvSpPr/>
          <p:nvPr/>
        </p:nvSpPr>
        <p:spPr>
          <a:xfrm>
            <a:off x="8127187" y="2798064"/>
            <a:ext cx="3405226" cy="25603"/>
          </a:xfrm>
          <a:prstGeom prst="rect">
            <a:avLst/>
          </a:prstGeom>
          <a:solidFill>
            <a:srgbClr val="FF3B3B"/>
          </a:solidFill>
          <a:ln/>
        </p:spPr>
      </p:sp>
      <p:sp>
        <p:nvSpPr>
          <p:cNvPr id="29" name="Text 27"/>
          <p:cNvSpPr/>
          <p:nvPr/>
        </p:nvSpPr>
        <p:spPr>
          <a:xfrm>
            <a:off x="8456371" y="3108960"/>
            <a:ext cx="2746858" cy="219456"/>
          </a:xfrm>
          <a:prstGeom prst="rect">
            <a:avLst/>
          </a:prstGeom>
          <a:noFill/>
          <a:ln/>
        </p:spPr>
        <p:txBody>
          <a:bodyPr wrap="square" rtlCol="0" anchor="ctr"/>
          <a:lstStyle/>
          <a:p>
            <a:pPr algn="l" indent="0" marL="0">
              <a:buNone/>
            </a:pPr>
            <a:r>
              <a:rPr lang="en-US" sz="850" b="1" spc="200" kern="0" dirty="0">
                <a:solidFill>
                  <a:srgbClr val="FF3B3B"/>
                </a:solidFill>
                <a:latin typeface="Arial" pitchFamily="34" charset="0"/>
                <a:ea typeface="Arial" pitchFamily="34" charset="-122"/>
                <a:cs typeface="Arial" pitchFamily="34" charset="-120"/>
              </a:rPr>
              <a:t>MONEY</a:t>
            </a:r>
            <a:endParaRPr lang="en-US" sz="850" dirty="0"/>
          </a:p>
        </p:txBody>
      </p:sp>
      <p:sp>
        <p:nvSpPr>
          <p:cNvPr id="30" name="Text 28"/>
          <p:cNvSpPr/>
          <p:nvPr/>
        </p:nvSpPr>
        <p:spPr>
          <a:xfrm>
            <a:off x="8456371" y="3419856"/>
            <a:ext cx="2746858" cy="457200"/>
          </a:xfrm>
          <a:prstGeom prst="rect">
            <a:avLst/>
          </a:prstGeom>
          <a:noFill/>
          <a:ln/>
        </p:spPr>
        <p:txBody>
          <a:bodyPr wrap="square" rtlCol="0" anchor="t"/>
          <a:lstStyle/>
          <a:p>
            <a:pPr algn="l" indent="0" marL="0">
              <a:lnSpc>
                <a:spcPct val="130000"/>
              </a:lnSpc>
              <a:buNone/>
            </a:pPr>
            <a:r>
              <a:rPr lang="en-US" sz="1500" b="1" dirty="0">
                <a:solidFill>
                  <a:srgbClr val="FFFFFF"/>
                </a:solidFill>
                <a:latin typeface="Arial" pitchFamily="34" charset="0"/>
                <a:ea typeface="Arial" pitchFamily="34" charset="-122"/>
                <a:cs typeface="Arial" pitchFamily="34" charset="-120"/>
              </a:rPr>
              <a:t>Nothing to buy</a:t>
            </a:r>
            <a:endParaRPr lang="en-US" sz="1500" dirty="0"/>
          </a:p>
        </p:txBody>
      </p:sp>
      <p:sp>
        <p:nvSpPr>
          <p:cNvPr id="31" name="Text 29"/>
          <p:cNvSpPr/>
          <p:nvPr/>
        </p:nvSpPr>
        <p:spPr>
          <a:xfrm>
            <a:off x="8456371" y="4005072"/>
            <a:ext cx="2746858" cy="1097280"/>
          </a:xfrm>
          <a:prstGeom prst="rect">
            <a:avLst/>
          </a:prstGeom>
          <a:noFill/>
          <a:ln/>
        </p:spPr>
        <p:txBody>
          <a:bodyPr wrap="square" rtlCol="0" anchor="t"/>
          <a:lstStyle/>
          <a:p>
            <a:pPr algn="l" indent="0" marL="0">
              <a:lnSpc>
                <a:spcPct val="130000"/>
              </a:lnSpc>
              <a:buNone/>
            </a:pPr>
            <a:r>
              <a:rPr lang="en-US" sz="1000" dirty="0">
                <a:solidFill>
                  <a:srgbClr val="BEBEBE"/>
                </a:solidFill>
                <a:latin typeface="Arial" pitchFamily="34" charset="0"/>
                <a:ea typeface="Arial" pitchFamily="34" charset="-122"/>
                <a:cs typeface="Arial" pitchFamily="34" charset="-120"/>
              </a:rPr>
              <a:t>No hardware to sell, no in-app economy. Usage cannot yet turn into revenue or into more nodes.</a:t>
            </a:r>
            <a:endParaRPr lang="en-US" sz="1000" dirty="0"/>
          </a:p>
        </p:txBody>
      </p:sp>
      <p:sp>
        <p:nvSpPr>
          <p:cNvPr id="32" name="Shape 30"/>
          <p:cNvSpPr/>
          <p:nvPr/>
        </p:nvSpPr>
        <p:spPr>
          <a:xfrm>
            <a:off x="658368" y="5705856"/>
            <a:ext cx="10874959" cy="0"/>
          </a:xfrm>
          <a:prstGeom prst="line">
            <a:avLst/>
          </a:prstGeom>
          <a:noFill/>
          <a:ln w="12700">
            <a:solidFill>
              <a:srgbClr val="1C1C1C"/>
            </a:solidFill>
            <a:prstDash val="solid"/>
          </a:ln>
        </p:spPr>
      </p:sp>
      <p:sp>
        <p:nvSpPr>
          <p:cNvPr id="33" name="Text 31"/>
          <p:cNvSpPr/>
          <p:nvPr/>
        </p:nvSpPr>
        <p:spPr>
          <a:xfrm>
            <a:off x="658368" y="5888736"/>
            <a:ext cx="10515600" cy="274320"/>
          </a:xfrm>
          <a:prstGeom prst="rect">
            <a:avLst/>
          </a:prstGeom>
          <a:noFill/>
          <a:ln/>
        </p:spPr>
        <p:txBody>
          <a:bodyPr wrap="square" rtlCol="0" anchor="t"/>
          <a:lstStyle/>
          <a:p>
            <a:pPr algn="l" indent="0" marL="0">
              <a:lnSpc>
                <a:spcPct val="130000"/>
              </a:lnSpc>
              <a:buNone/>
            </a:pPr>
            <a:r>
              <a:rPr lang="en-US" sz="1050" dirty="0">
                <a:solidFill>
                  <a:srgbClr val="00E5FF"/>
                </a:solidFill>
                <a:latin typeface="Arial" pitchFamily="34" charset="0"/>
                <a:ea typeface="Arial" pitchFamily="34" charset="-122"/>
                <a:cs typeface="Arial" pitchFamily="34" charset="-120"/>
              </a:rPr>
              <a:t>The order of the roadmap follows the order of these gaps: make it safe, make it known, make it pay.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274320" y="274320"/>
            <a:ext cx="146304" cy="0"/>
          </a:xfrm>
          <a:prstGeom prst="line">
            <a:avLst/>
          </a:prstGeom>
          <a:noFill/>
          <a:ln w="12700">
            <a:solidFill>
              <a:srgbClr val="3A3A3A"/>
            </a:solidFill>
            <a:prstDash val="solid"/>
          </a:ln>
        </p:spPr>
      </p:sp>
      <p:sp>
        <p:nvSpPr>
          <p:cNvPr id="3" name="Shape 1"/>
          <p:cNvSpPr/>
          <p:nvPr/>
        </p:nvSpPr>
        <p:spPr>
          <a:xfrm>
            <a:off x="274320" y="274320"/>
            <a:ext cx="0" cy="146304"/>
          </a:xfrm>
          <a:prstGeom prst="line">
            <a:avLst/>
          </a:prstGeom>
          <a:noFill/>
          <a:ln w="12700">
            <a:solidFill>
              <a:srgbClr val="3A3A3A"/>
            </a:solidFill>
            <a:prstDash val="solid"/>
          </a:ln>
        </p:spPr>
      </p:sp>
      <p:sp>
        <p:nvSpPr>
          <p:cNvPr id="4" name="Shape 2"/>
          <p:cNvSpPr/>
          <p:nvPr/>
        </p:nvSpPr>
        <p:spPr>
          <a:xfrm>
            <a:off x="11917375" y="274320"/>
            <a:ext cx="-146304" cy="0"/>
          </a:xfrm>
          <a:prstGeom prst="line">
            <a:avLst/>
          </a:prstGeom>
          <a:noFill/>
          <a:ln w="12700">
            <a:solidFill>
              <a:srgbClr val="3A3A3A"/>
            </a:solidFill>
            <a:prstDash val="solid"/>
          </a:ln>
        </p:spPr>
      </p:sp>
      <p:sp>
        <p:nvSpPr>
          <p:cNvPr id="5" name="Shape 3"/>
          <p:cNvSpPr/>
          <p:nvPr/>
        </p:nvSpPr>
        <p:spPr>
          <a:xfrm>
            <a:off x="11917375" y="274320"/>
            <a:ext cx="0" cy="146304"/>
          </a:xfrm>
          <a:prstGeom prst="line">
            <a:avLst/>
          </a:prstGeom>
          <a:noFill/>
          <a:ln w="12700">
            <a:solidFill>
              <a:srgbClr val="3A3A3A"/>
            </a:solidFill>
            <a:prstDash val="solid"/>
          </a:ln>
        </p:spPr>
      </p:sp>
      <p:sp>
        <p:nvSpPr>
          <p:cNvPr id="6" name="Shape 4"/>
          <p:cNvSpPr/>
          <p:nvPr/>
        </p:nvSpPr>
        <p:spPr>
          <a:xfrm>
            <a:off x="274320" y="6583680"/>
            <a:ext cx="146304" cy="0"/>
          </a:xfrm>
          <a:prstGeom prst="line">
            <a:avLst/>
          </a:prstGeom>
          <a:noFill/>
          <a:ln w="12700">
            <a:solidFill>
              <a:srgbClr val="3A3A3A"/>
            </a:solidFill>
            <a:prstDash val="solid"/>
          </a:ln>
        </p:spPr>
      </p:sp>
      <p:sp>
        <p:nvSpPr>
          <p:cNvPr id="7" name="Shape 5"/>
          <p:cNvSpPr/>
          <p:nvPr/>
        </p:nvSpPr>
        <p:spPr>
          <a:xfrm>
            <a:off x="274320" y="6583680"/>
            <a:ext cx="0" cy="-146304"/>
          </a:xfrm>
          <a:prstGeom prst="line">
            <a:avLst/>
          </a:prstGeom>
          <a:noFill/>
          <a:ln w="12700">
            <a:solidFill>
              <a:srgbClr val="3A3A3A"/>
            </a:solidFill>
            <a:prstDash val="solid"/>
          </a:ln>
        </p:spPr>
      </p:sp>
      <p:sp>
        <p:nvSpPr>
          <p:cNvPr id="8" name="Shape 6"/>
          <p:cNvSpPr/>
          <p:nvPr/>
        </p:nvSpPr>
        <p:spPr>
          <a:xfrm>
            <a:off x="11917375" y="6583680"/>
            <a:ext cx="-146304" cy="0"/>
          </a:xfrm>
          <a:prstGeom prst="line">
            <a:avLst/>
          </a:prstGeom>
          <a:noFill/>
          <a:ln w="12700">
            <a:solidFill>
              <a:srgbClr val="3A3A3A"/>
            </a:solidFill>
            <a:prstDash val="solid"/>
          </a:ln>
        </p:spPr>
      </p:sp>
      <p:sp>
        <p:nvSpPr>
          <p:cNvPr id="9" name="Shape 7"/>
          <p:cNvSpPr/>
          <p:nvPr/>
        </p:nvSpPr>
        <p:spPr>
          <a:xfrm>
            <a:off x="11917375" y="6583680"/>
            <a:ext cx="0" cy="-146304"/>
          </a:xfrm>
          <a:prstGeom prst="line">
            <a:avLst/>
          </a:prstGeom>
          <a:noFill/>
          <a:ln w="12700">
            <a:solidFill>
              <a:srgbClr val="3A3A3A"/>
            </a:solidFill>
            <a:prstDash val="solid"/>
          </a:ln>
        </p:spPr>
      </p:sp>
      <p:sp>
        <p:nvSpPr>
          <p:cNvPr id="10" name="Text 8"/>
          <p:cNvSpPr/>
          <p:nvPr/>
        </p:nvSpPr>
        <p:spPr>
          <a:xfrm>
            <a:off x="658368" y="274320"/>
            <a:ext cx="2743200" cy="219456"/>
          </a:xfrm>
          <a:prstGeom prst="rect">
            <a:avLst/>
          </a:prstGeom>
          <a:noFill/>
          <a:ln/>
        </p:spPr>
        <p:txBody>
          <a:bodyPr wrap="square" rtlCol="0" anchor="ctr"/>
          <a:lstStyle/>
          <a:p>
            <a:pPr indent="0" marL="0">
              <a:buNone/>
            </a:pPr>
            <a:r>
              <a:rPr lang="en-US" sz="800" b="1" spc="240" kern="0" dirty="0">
                <a:solidFill>
                  <a:srgbClr val="7A7A7A"/>
                </a:solidFill>
                <a:latin typeface="Arial" pitchFamily="34" charset="0"/>
                <a:ea typeface="Arial" pitchFamily="34" charset="-122"/>
                <a:cs typeface="Arial" pitchFamily="34" charset="-120"/>
              </a:rPr>
              <a:t>CABALMESH</a:t>
            </a:r>
            <a:endParaRPr lang="en-US" sz="800" dirty="0"/>
          </a:p>
        </p:txBody>
      </p:sp>
      <p:sp>
        <p:nvSpPr>
          <p:cNvPr id="11" name="Text 9"/>
          <p:cNvSpPr/>
          <p:nvPr/>
        </p:nvSpPr>
        <p:spPr>
          <a:xfrm>
            <a:off x="6583680" y="274320"/>
            <a:ext cx="4937760" cy="219456"/>
          </a:xfrm>
          <a:prstGeom prst="rect">
            <a:avLst/>
          </a:prstGeom>
          <a:noFill/>
          <a:ln/>
        </p:spPr>
        <p:txBody>
          <a:bodyPr wrap="square" rtlCol="0" anchor="ctr"/>
          <a:lstStyle/>
          <a:p>
            <a:pPr algn="r" indent="0" marL="0">
              <a:buNone/>
            </a:pPr>
            <a:r>
              <a:rPr lang="en-US" sz="800" b="1" spc="240" kern="0" dirty="0">
                <a:solidFill>
                  <a:srgbClr val="3A3A3A"/>
                </a:solidFill>
                <a:latin typeface="Arial" pitchFamily="34" charset="0"/>
                <a:ea typeface="Arial" pitchFamily="34" charset="-122"/>
                <a:cs typeface="Arial" pitchFamily="34" charset="-120"/>
              </a:rPr>
              <a:t>ROADMAP · AUG 2026 – JAN 2027</a:t>
            </a:r>
            <a:endParaRPr lang="en-US" sz="800" dirty="0"/>
          </a:p>
        </p:txBody>
      </p:sp>
      <p:sp>
        <p:nvSpPr>
          <p:cNvPr id="12" name="Shape 10"/>
          <p:cNvSpPr/>
          <p:nvPr/>
        </p:nvSpPr>
        <p:spPr>
          <a:xfrm>
            <a:off x="658368" y="566928"/>
            <a:ext cx="10874959" cy="0"/>
          </a:xfrm>
          <a:prstGeom prst="line">
            <a:avLst/>
          </a:prstGeom>
          <a:noFill/>
          <a:ln w="12700">
            <a:solidFill>
              <a:srgbClr val="1C1C1C"/>
            </a:solidFill>
            <a:prstDash val="solid"/>
          </a:ln>
        </p:spPr>
      </p:sp>
      <p:sp>
        <p:nvSpPr>
          <p:cNvPr id="13" name="Text 11"/>
          <p:cNvSpPr/>
          <p:nvPr/>
        </p:nvSpPr>
        <p:spPr>
          <a:xfrm>
            <a:off x="10881360" y="6419088"/>
            <a:ext cx="658368" cy="219456"/>
          </a:xfrm>
          <a:prstGeom prst="rect">
            <a:avLst/>
          </a:prstGeom>
          <a:noFill/>
          <a:ln/>
        </p:spPr>
        <p:txBody>
          <a:bodyPr wrap="square" rtlCol="0" anchor="ctr"/>
          <a:lstStyle/>
          <a:p>
            <a:pPr algn="r" indent="0" marL="0">
              <a:buNone/>
            </a:pPr>
            <a:r>
              <a:rPr lang="en-US" sz="800" dirty="0">
                <a:solidFill>
                  <a:srgbClr val="3A3A3A"/>
                </a:solidFill>
                <a:latin typeface="Courier New" pitchFamily="34" charset="0"/>
                <a:ea typeface="Courier New" pitchFamily="34" charset="-122"/>
                <a:cs typeface="Courier New" pitchFamily="34" charset="-120"/>
              </a:rPr>
              <a:t>03</a:t>
            </a:r>
            <a:endParaRPr lang="en-US" sz="800" dirty="0"/>
          </a:p>
        </p:txBody>
      </p:sp>
      <p:sp>
        <p:nvSpPr>
          <p:cNvPr id="14" name="Text 12"/>
          <p:cNvSpPr/>
          <p:nvPr/>
        </p:nvSpPr>
        <p:spPr>
          <a:xfrm>
            <a:off x="658368" y="786384"/>
            <a:ext cx="8229600" cy="237744"/>
          </a:xfrm>
          <a:prstGeom prst="rect">
            <a:avLst/>
          </a:prstGeom>
          <a:noFill/>
          <a:ln/>
        </p:spPr>
        <p:txBody>
          <a:bodyPr wrap="square" rtlCol="0" anchor="ctr"/>
          <a:lstStyle/>
          <a:p>
            <a:pPr indent="0" marL="0">
              <a:buNone/>
            </a:pPr>
            <a:r>
              <a:rPr lang="en-US" sz="950" b="1" spc="240" kern="0" dirty="0">
                <a:solidFill>
                  <a:srgbClr val="00E5FF"/>
                </a:solidFill>
                <a:latin typeface="Arial" pitchFamily="34" charset="0"/>
                <a:ea typeface="Arial" pitchFamily="34" charset="-122"/>
                <a:cs typeface="Arial" pitchFamily="34" charset="-120"/>
              </a:rPr>
              <a:t>THE STRATEGY</a:t>
            </a:r>
            <a:endParaRPr lang="en-US" sz="950" dirty="0"/>
          </a:p>
        </p:txBody>
      </p:sp>
      <p:sp>
        <p:nvSpPr>
          <p:cNvPr id="15" name="Text 13"/>
          <p:cNvSpPr/>
          <p:nvPr/>
        </p:nvSpPr>
        <p:spPr>
          <a:xfrm>
            <a:off x="658368" y="1097280"/>
            <a:ext cx="9875520" cy="914400"/>
          </a:xfrm>
          <a:prstGeom prst="rect">
            <a:avLst/>
          </a:prstGeom>
          <a:noFill/>
          <a:ln/>
        </p:spPr>
        <p:txBody>
          <a:bodyPr wrap="square" rtlCol="0" anchor="ctr"/>
          <a:lstStyle/>
          <a:p>
            <a:pPr indent="0" marL="0">
              <a:lnSpc>
                <a:spcPct val="112000"/>
              </a:lnSpc>
              <a:buNone/>
            </a:pPr>
            <a:r>
              <a:rPr lang="en-US" sz="2700" b="1" dirty="0">
                <a:solidFill>
                  <a:srgbClr val="FFFFFF"/>
                </a:solidFill>
                <a:latin typeface="Arial" pitchFamily="34" charset="0"/>
                <a:ea typeface="Arial" pitchFamily="34" charset="-122"/>
                <a:cs typeface="Arial" pitchFamily="34" charset="-120"/>
              </a:rPr>
              <a:t>Three moves, each one unlocking the next.</a:t>
            </a:r>
            <a:endParaRPr lang="en-US" sz="2700" dirty="0"/>
          </a:p>
        </p:txBody>
      </p:sp>
      <p:sp>
        <p:nvSpPr>
          <p:cNvPr id="16" name="Shape 14"/>
          <p:cNvSpPr/>
          <p:nvPr/>
        </p:nvSpPr>
        <p:spPr>
          <a:xfrm>
            <a:off x="658368" y="2487168"/>
            <a:ext cx="10874959" cy="1005840"/>
          </a:xfrm>
          <a:prstGeom prst="rect">
            <a:avLst/>
          </a:prstGeom>
          <a:solidFill>
            <a:srgbClr val="0D0D0D"/>
          </a:solidFill>
          <a:ln w="12700">
            <a:solidFill>
              <a:srgbClr val="1C1C1C"/>
            </a:solidFill>
            <a:prstDash val="solid"/>
          </a:ln>
        </p:spPr>
      </p:sp>
      <p:sp>
        <p:nvSpPr>
          <p:cNvPr id="17" name="Shape 15"/>
          <p:cNvSpPr/>
          <p:nvPr/>
        </p:nvSpPr>
        <p:spPr>
          <a:xfrm>
            <a:off x="658368" y="2487168"/>
            <a:ext cx="25603" cy="1005840"/>
          </a:xfrm>
          <a:prstGeom prst="rect">
            <a:avLst/>
          </a:prstGeom>
          <a:solidFill>
            <a:srgbClr val="00E5FF"/>
          </a:solidFill>
          <a:ln/>
        </p:spPr>
      </p:sp>
      <p:sp>
        <p:nvSpPr>
          <p:cNvPr id="18" name="Text 16"/>
          <p:cNvSpPr/>
          <p:nvPr/>
        </p:nvSpPr>
        <p:spPr>
          <a:xfrm>
            <a:off x="969264" y="2761488"/>
            <a:ext cx="548640" cy="457200"/>
          </a:xfrm>
          <a:prstGeom prst="rect">
            <a:avLst/>
          </a:prstGeom>
          <a:noFill/>
          <a:ln/>
        </p:spPr>
        <p:txBody>
          <a:bodyPr wrap="square" rtlCol="0" anchor="ctr"/>
          <a:lstStyle/>
          <a:p>
            <a:pPr indent="0" marL="0">
              <a:buNone/>
            </a:pPr>
            <a:r>
              <a:rPr lang="en-US" sz="1500" b="1" dirty="0">
                <a:solidFill>
                  <a:srgbClr val="3A3A3A"/>
                </a:solidFill>
                <a:latin typeface="Courier New" pitchFamily="34" charset="0"/>
                <a:ea typeface="Courier New" pitchFamily="34" charset="-122"/>
                <a:cs typeface="Courier New" pitchFamily="34" charset="-120"/>
              </a:rPr>
              <a:t>01</a:t>
            </a:r>
            <a:endParaRPr lang="en-US" sz="1500" dirty="0"/>
          </a:p>
        </p:txBody>
      </p:sp>
      <p:sp>
        <p:nvSpPr>
          <p:cNvPr id="19" name="Text 17"/>
          <p:cNvSpPr/>
          <p:nvPr/>
        </p:nvSpPr>
        <p:spPr>
          <a:xfrm>
            <a:off x="1618488" y="2816352"/>
            <a:ext cx="1737360" cy="365760"/>
          </a:xfrm>
          <a:prstGeom prst="rect">
            <a:avLst/>
          </a:prstGeom>
          <a:noFill/>
          <a:ln/>
        </p:spPr>
        <p:txBody>
          <a:bodyPr wrap="square" rtlCol="0" anchor="t"/>
          <a:lstStyle/>
          <a:p>
            <a:pPr algn="l" indent="0" marL="0">
              <a:lnSpc>
                <a:spcPct val="130000"/>
              </a:lnSpc>
              <a:buNone/>
            </a:pPr>
            <a:r>
              <a:rPr lang="en-US" sz="1600" b="1" dirty="0">
                <a:solidFill>
                  <a:srgbClr val="FFFFFF"/>
                </a:solidFill>
                <a:latin typeface="Arial" pitchFamily="34" charset="0"/>
                <a:ea typeface="Arial" pitchFamily="34" charset="-122"/>
                <a:cs typeface="Arial" pitchFamily="34" charset="-120"/>
              </a:rPr>
              <a:t>TRUST</a:t>
            </a:r>
            <a:endParaRPr lang="en-US" sz="1600" dirty="0"/>
          </a:p>
        </p:txBody>
      </p:sp>
      <p:sp>
        <p:nvSpPr>
          <p:cNvPr id="20" name="Text 18"/>
          <p:cNvSpPr/>
          <p:nvPr/>
        </p:nvSpPr>
        <p:spPr>
          <a:xfrm>
            <a:off x="3493008" y="2670048"/>
            <a:ext cx="2743200" cy="219456"/>
          </a:xfrm>
          <a:prstGeom prst="rect">
            <a:avLst/>
          </a:prstGeom>
          <a:noFill/>
          <a:ln/>
        </p:spPr>
        <p:txBody>
          <a:bodyPr wrap="square" rtlCol="0" anchor="ctr"/>
          <a:lstStyle/>
          <a:p>
            <a:pPr algn="l" indent="0" marL="0">
              <a:buNone/>
            </a:pPr>
            <a:r>
              <a:rPr lang="en-US" sz="750" b="1" spc="200" kern="0" dirty="0">
                <a:solidFill>
                  <a:srgbClr val="3A3A3A"/>
                </a:solidFill>
                <a:latin typeface="Arial" pitchFamily="34" charset="0"/>
                <a:ea typeface="Arial" pitchFamily="34" charset="-122"/>
                <a:cs typeface="Arial" pitchFamily="34" charset="-120"/>
              </a:rPr>
              <a:t>FOR THE USER</a:t>
            </a:r>
            <a:endParaRPr lang="en-US" sz="750" dirty="0"/>
          </a:p>
        </p:txBody>
      </p:sp>
      <p:sp>
        <p:nvSpPr>
          <p:cNvPr id="21" name="Text 19"/>
          <p:cNvSpPr/>
          <p:nvPr/>
        </p:nvSpPr>
        <p:spPr>
          <a:xfrm>
            <a:off x="3493008" y="2871216"/>
            <a:ext cx="3383280" cy="457200"/>
          </a:xfrm>
          <a:prstGeom prst="rect">
            <a:avLst/>
          </a:prstGeom>
          <a:noFill/>
          <a:ln/>
        </p:spPr>
        <p:txBody>
          <a:bodyPr wrap="square" rtlCol="0" anchor="t"/>
          <a:lstStyle/>
          <a:p>
            <a:pPr algn="l" indent="0" marL="0">
              <a:lnSpc>
                <a:spcPct val="130000"/>
              </a:lnSpc>
              <a:buNone/>
            </a:pPr>
            <a:r>
              <a:rPr lang="en-US" sz="940" dirty="0">
                <a:solidFill>
                  <a:srgbClr val="BEBEBE"/>
                </a:solidFill>
                <a:latin typeface="Arial" pitchFamily="34" charset="0"/>
                <a:ea typeface="Arial" pitchFamily="34" charset="-122"/>
                <a:cs typeface="Arial" pitchFamily="34" charset="-120"/>
              </a:rPr>
              <a:t>People stop being one lost phone away from losing everything.</a:t>
            </a:r>
            <a:endParaRPr lang="en-US" sz="940" dirty="0"/>
          </a:p>
        </p:txBody>
      </p:sp>
      <p:sp>
        <p:nvSpPr>
          <p:cNvPr id="22" name="Text 20"/>
          <p:cNvSpPr/>
          <p:nvPr/>
        </p:nvSpPr>
        <p:spPr>
          <a:xfrm>
            <a:off x="7150608" y="2670048"/>
            <a:ext cx="2743200" cy="219456"/>
          </a:xfrm>
          <a:prstGeom prst="rect">
            <a:avLst/>
          </a:prstGeom>
          <a:noFill/>
          <a:ln/>
        </p:spPr>
        <p:txBody>
          <a:bodyPr wrap="square" rtlCol="0" anchor="ctr"/>
          <a:lstStyle/>
          <a:p>
            <a:pPr algn="l" indent="0" marL="0">
              <a:buNone/>
            </a:pPr>
            <a:r>
              <a:rPr lang="en-US" sz="750" b="1" spc="200" kern="0" dirty="0">
                <a:solidFill>
                  <a:srgbClr val="3A3A3A"/>
                </a:solidFill>
                <a:latin typeface="Arial" pitchFamily="34" charset="0"/>
                <a:ea typeface="Arial" pitchFamily="34" charset="-122"/>
                <a:cs typeface="Arial" pitchFamily="34" charset="-120"/>
              </a:rPr>
              <a:t>FOR THE BUSINESS</a:t>
            </a:r>
            <a:endParaRPr lang="en-US" sz="750" dirty="0"/>
          </a:p>
        </p:txBody>
      </p:sp>
      <p:sp>
        <p:nvSpPr>
          <p:cNvPr id="23" name="Text 21"/>
          <p:cNvSpPr/>
          <p:nvPr/>
        </p:nvSpPr>
        <p:spPr>
          <a:xfrm>
            <a:off x="7150608" y="2871216"/>
            <a:ext cx="4114800" cy="457200"/>
          </a:xfrm>
          <a:prstGeom prst="rect">
            <a:avLst/>
          </a:prstGeom>
          <a:noFill/>
          <a:ln/>
        </p:spPr>
        <p:txBody>
          <a:bodyPr wrap="square" rtlCol="0" anchor="t"/>
          <a:lstStyle/>
          <a:p>
            <a:pPr algn="l" indent="0" marL="0">
              <a:lnSpc>
                <a:spcPct val="130000"/>
              </a:lnSpc>
              <a:buNone/>
            </a:pPr>
            <a:r>
              <a:rPr lang="en-US" sz="940" dirty="0">
                <a:solidFill>
                  <a:srgbClr val="BEBEBE"/>
                </a:solidFill>
                <a:latin typeface="Arial" pitchFamily="34" charset="0"/>
                <a:ea typeface="Arial" pitchFamily="34" charset="-122"/>
                <a:cs typeface="Arial" pitchFamily="34" charset="-120"/>
              </a:rPr>
              <a:t>Removes the objection that kills every self-custody demo, and makes a public launch defensible.</a:t>
            </a:r>
            <a:endParaRPr lang="en-US" sz="940" dirty="0"/>
          </a:p>
        </p:txBody>
      </p:sp>
      <p:sp>
        <p:nvSpPr>
          <p:cNvPr id="24" name="Shape 22"/>
          <p:cNvSpPr/>
          <p:nvPr/>
        </p:nvSpPr>
        <p:spPr>
          <a:xfrm>
            <a:off x="658368" y="3621024"/>
            <a:ext cx="10874959" cy="1005840"/>
          </a:xfrm>
          <a:prstGeom prst="rect">
            <a:avLst/>
          </a:prstGeom>
          <a:solidFill>
            <a:srgbClr val="0D0D0D"/>
          </a:solidFill>
          <a:ln w="12700">
            <a:solidFill>
              <a:srgbClr val="1C1C1C"/>
            </a:solidFill>
            <a:prstDash val="solid"/>
          </a:ln>
        </p:spPr>
      </p:sp>
      <p:sp>
        <p:nvSpPr>
          <p:cNvPr id="25" name="Shape 23"/>
          <p:cNvSpPr/>
          <p:nvPr/>
        </p:nvSpPr>
        <p:spPr>
          <a:xfrm>
            <a:off x="658368" y="3621024"/>
            <a:ext cx="25603" cy="1005840"/>
          </a:xfrm>
          <a:prstGeom prst="rect">
            <a:avLst/>
          </a:prstGeom>
          <a:solidFill>
            <a:srgbClr val="00E5FF"/>
          </a:solidFill>
          <a:ln/>
        </p:spPr>
      </p:sp>
      <p:sp>
        <p:nvSpPr>
          <p:cNvPr id="26" name="Text 24"/>
          <p:cNvSpPr/>
          <p:nvPr/>
        </p:nvSpPr>
        <p:spPr>
          <a:xfrm>
            <a:off x="969264" y="3895344"/>
            <a:ext cx="548640" cy="457200"/>
          </a:xfrm>
          <a:prstGeom prst="rect">
            <a:avLst/>
          </a:prstGeom>
          <a:noFill/>
          <a:ln/>
        </p:spPr>
        <p:txBody>
          <a:bodyPr wrap="square" rtlCol="0" anchor="ctr"/>
          <a:lstStyle/>
          <a:p>
            <a:pPr indent="0" marL="0">
              <a:buNone/>
            </a:pPr>
            <a:r>
              <a:rPr lang="en-US" sz="1500" b="1" dirty="0">
                <a:solidFill>
                  <a:srgbClr val="3A3A3A"/>
                </a:solidFill>
                <a:latin typeface="Courier New" pitchFamily="34" charset="0"/>
                <a:ea typeface="Courier New" pitchFamily="34" charset="-122"/>
                <a:cs typeface="Courier New" pitchFamily="34" charset="-120"/>
              </a:rPr>
              <a:t>02</a:t>
            </a:r>
            <a:endParaRPr lang="en-US" sz="1500" dirty="0"/>
          </a:p>
        </p:txBody>
      </p:sp>
      <p:sp>
        <p:nvSpPr>
          <p:cNvPr id="27" name="Text 25"/>
          <p:cNvSpPr/>
          <p:nvPr/>
        </p:nvSpPr>
        <p:spPr>
          <a:xfrm>
            <a:off x="1618488" y="3950208"/>
            <a:ext cx="1737360" cy="365760"/>
          </a:xfrm>
          <a:prstGeom prst="rect">
            <a:avLst/>
          </a:prstGeom>
          <a:noFill/>
          <a:ln/>
        </p:spPr>
        <p:txBody>
          <a:bodyPr wrap="square" rtlCol="0" anchor="t"/>
          <a:lstStyle/>
          <a:p>
            <a:pPr algn="l" indent="0" marL="0">
              <a:lnSpc>
                <a:spcPct val="130000"/>
              </a:lnSpc>
              <a:buNone/>
            </a:pPr>
            <a:r>
              <a:rPr lang="en-US" sz="1600" b="1" dirty="0">
                <a:solidFill>
                  <a:srgbClr val="FFFFFF"/>
                </a:solidFill>
                <a:latin typeface="Arial" pitchFamily="34" charset="0"/>
                <a:ea typeface="Arial" pitchFamily="34" charset="-122"/>
                <a:cs typeface="Arial" pitchFamily="34" charset="-120"/>
              </a:rPr>
              <a:t>DEMAND</a:t>
            </a:r>
            <a:endParaRPr lang="en-US" sz="1600" dirty="0"/>
          </a:p>
        </p:txBody>
      </p:sp>
      <p:sp>
        <p:nvSpPr>
          <p:cNvPr id="28" name="Text 26"/>
          <p:cNvSpPr/>
          <p:nvPr/>
        </p:nvSpPr>
        <p:spPr>
          <a:xfrm>
            <a:off x="3493008" y="3803904"/>
            <a:ext cx="2743200" cy="219456"/>
          </a:xfrm>
          <a:prstGeom prst="rect">
            <a:avLst/>
          </a:prstGeom>
          <a:noFill/>
          <a:ln/>
        </p:spPr>
        <p:txBody>
          <a:bodyPr wrap="square" rtlCol="0" anchor="ctr"/>
          <a:lstStyle/>
          <a:p>
            <a:pPr algn="l" indent="0" marL="0">
              <a:buNone/>
            </a:pPr>
            <a:r>
              <a:rPr lang="en-US" sz="750" b="1" spc="200" kern="0" dirty="0">
                <a:solidFill>
                  <a:srgbClr val="3A3A3A"/>
                </a:solidFill>
                <a:latin typeface="Arial" pitchFamily="34" charset="0"/>
                <a:ea typeface="Arial" pitchFamily="34" charset="-122"/>
                <a:cs typeface="Arial" pitchFamily="34" charset="-120"/>
              </a:rPr>
              <a:t>FOR THE USER</a:t>
            </a:r>
            <a:endParaRPr lang="en-US" sz="750" dirty="0"/>
          </a:p>
        </p:txBody>
      </p:sp>
      <p:sp>
        <p:nvSpPr>
          <p:cNvPr id="29" name="Text 27"/>
          <p:cNvSpPr/>
          <p:nvPr/>
        </p:nvSpPr>
        <p:spPr>
          <a:xfrm>
            <a:off x="3493008" y="4005072"/>
            <a:ext cx="3383280" cy="457200"/>
          </a:xfrm>
          <a:prstGeom prst="rect">
            <a:avLst/>
          </a:prstGeom>
          <a:noFill/>
          <a:ln/>
        </p:spPr>
        <p:txBody>
          <a:bodyPr wrap="square" rtlCol="0" anchor="t"/>
          <a:lstStyle/>
          <a:p>
            <a:pPr algn="l" indent="0" marL="0">
              <a:lnSpc>
                <a:spcPct val="130000"/>
              </a:lnSpc>
              <a:buNone/>
            </a:pPr>
            <a:r>
              <a:rPr lang="en-US" sz="940" dirty="0">
                <a:solidFill>
                  <a:srgbClr val="BEBEBE"/>
                </a:solidFill>
                <a:latin typeface="Arial" pitchFamily="34" charset="0"/>
                <a:ea typeface="Arial" pitchFamily="34" charset="-122"/>
                <a:cs typeface="Arial" pitchFamily="34" charset="-120"/>
              </a:rPr>
              <a:t>The idea becomes something you can see, hold and pre-order.</a:t>
            </a:r>
            <a:endParaRPr lang="en-US" sz="940" dirty="0"/>
          </a:p>
        </p:txBody>
      </p:sp>
      <p:sp>
        <p:nvSpPr>
          <p:cNvPr id="30" name="Text 28"/>
          <p:cNvSpPr/>
          <p:nvPr/>
        </p:nvSpPr>
        <p:spPr>
          <a:xfrm>
            <a:off x="7150608" y="3803904"/>
            <a:ext cx="2743200" cy="219456"/>
          </a:xfrm>
          <a:prstGeom prst="rect">
            <a:avLst/>
          </a:prstGeom>
          <a:noFill/>
          <a:ln/>
        </p:spPr>
        <p:txBody>
          <a:bodyPr wrap="square" rtlCol="0" anchor="ctr"/>
          <a:lstStyle/>
          <a:p>
            <a:pPr algn="l" indent="0" marL="0">
              <a:buNone/>
            </a:pPr>
            <a:r>
              <a:rPr lang="en-US" sz="750" b="1" spc="200" kern="0" dirty="0">
                <a:solidFill>
                  <a:srgbClr val="3A3A3A"/>
                </a:solidFill>
                <a:latin typeface="Arial" pitchFamily="34" charset="0"/>
                <a:ea typeface="Arial" pitchFamily="34" charset="-122"/>
                <a:cs typeface="Arial" pitchFamily="34" charset="-120"/>
              </a:rPr>
              <a:t>FOR THE BUSINESS</a:t>
            </a:r>
            <a:endParaRPr lang="en-US" sz="750" dirty="0"/>
          </a:p>
        </p:txBody>
      </p:sp>
      <p:sp>
        <p:nvSpPr>
          <p:cNvPr id="31" name="Text 29"/>
          <p:cNvSpPr/>
          <p:nvPr/>
        </p:nvSpPr>
        <p:spPr>
          <a:xfrm>
            <a:off x="7150608" y="4005072"/>
            <a:ext cx="4114800" cy="457200"/>
          </a:xfrm>
          <a:prstGeom prst="rect">
            <a:avLst/>
          </a:prstGeom>
          <a:noFill/>
          <a:ln/>
        </p:spPr>
        <p:txBody>
          <a:bodyPr wrap="square" rtlCol="0" anchor="t"/>
          <a:lstStyle/>
          <a:p>
            <a:pPr algn="l" indent="0" marL="0">
              <a:lnSpc>
                <a:spcPct val="130000"/>
              </a:lnSpc>
              <a:buNone/>
            </a:pPr>
            <a:r>
              <a:rPr lang="en-US" sz="940" dirty="0">
                <a:solidFill>
                  <a:srgbClr val="BEBEBE"/>
                </a:solidFill>
                <a:latin typeface="Arial" pitchFamily="34" charset="0"/>
                <a:ea typeface="Arial" pitchFamily="34" charset="-122"/>
                <a:cs typeface="Arial" pitchFamily="34" charset="-120"/>
              </a:rPr>
              <a:t>Creates the first audience and the first revenue line, and gives the campaign a physical hook.</a:t>
            </a:r>
            <a:endParaRPr lang="en-US" sz="940" dirty="0"/>
          </a:p>
        </p:txBody>
      </p:sp>
      <p:sp>
        <p:nvSpPr>
          <p:cNvPr id="32" name="Shape 30"/>
          <p:cNvSpPr/>
          <p:nvPr/>
        </p:nvSpPr>
        <p:spPr>
          <a:xfrm>
            <a:off x="658368" y="4754880"/>
            <a:ext cx="10874959" cy="1005840"/>
          </a:xfrm>
          <a:prstGeom prst="rect">
            <a:avLst/>
          </a:prstGeom>
          <a:solidFill>
            <a:srgbClr val="0D0D0D"/>
          </a:solidFill>
          <a:ln w="12700">
            <a:solidFill>
              <a:srgbClr val="1C1C1C"/>
            </a:solidFill>
            <a:prstDash val="solid"/>
          </a:ln>
        </p:spPr>
      </p:sp>
      <p:sp>
        <p:nvSpPr>
          <p:cNvPr id="33" name="Shape 31"/>
          <p:cNvSpPr/>
          <p:nvPr/>
        </p:nvSpPr>
        <p:spPr>
          <a:xfrm>
            <a:off x="658368" y="4754880"/>
            <a:ext cx="25603" cy="1005840"/>
          </a:xfrm>
          <a:prstGeom prst="rect">
            <a:avLst/>
          </a:prstGeom>
          <a:solidFill>
            <a:srgbClr val="00E5FF"/>
          </a:solidFill>
          <a:ln/>
        </p:spPr>
      </p:sp>
      <p:sp>
        <p:nvSpPr>
          <p:cNvPr id="34" name="Text 32"/>
          <p:cNvSpPr/>
          <p:nvPr/>
        </p:nvSpPr>
        <p:spPr>
          <a:xfrm>
            <a:off x="969264" y="5029200"/>
            <a:ext cx="548640" cy="457200"/>
          </a:xfrm>
          <a:prstGeom prst="rect">
            <a:avLst/>
          </a:prstGeom>
          <a:noFill/>
          <a:ln/>
        </p:spPr>
        <p:txBody>
          <a:bodyPr wrap="square" rtlCol="0" anchor="ctr"/>
          <a:lstStyle/>
          <a:p>
            <a:pPr indent="0" marL="0">
              <a:buNone/>
            </a:pPr>
            <a:r>
              <a:rPr lang="en-US" sz="1500" b="1" dirty="0">
                <a:solidFill>
                  <a:srgbClr val="3A3A3A"/>
                </a:solidFill>
                <a:latin typeface="Courier New" pitchFamily="34" charset="0"/>
                <a:ea typeface="Courier New" pitchFamily="34" charset="-122"/>
                <a:cs typeface="Courier New" pitchFamily="34" charset="-120"/>
              </a:rPr>
              <a:t>03</a:t>
            </a:r>
            <a:endParaRPr lang="en-US" sz="1500" dirty="0"/>
          </a:p>
        </p:txBody>
      </p:sp>
      <p:sp>
        <p:nvSpPr>
          <p:cNvPr id="35" name="Text 33"/>
          <p:cNvSpPr/>
          <p:nvPr/>
        </p:nvSpPr>
        <p:spPr>
          <a:xfrm>
            <a:off x="1618488" y="5084064"/>
            <a:ext cx="1737360" cy="365760"/>
          </a:xfrm>
          <a:prstGeom prst="rect">
            <a:avLst/>
          </a:prstGeom>
          <a:noFill/>
          <a:ln/>
        </p:spPr>
        <p:txBody>
          <a:bodyPr wrap="square" rtlCol="0" anchor="t"/>
          <a:lstStyle/>
          <a:p>
            <a:pPr algn="l" indent="0" marL="0">
              <a:lnSpc>
                <a:spcPct val="130000"/>
              </a:lnSpc>
              <a:buNone/>
            </a:pPr>
            <a:r>
              <a:rPr lang="en-US" sz="1600" b="1" dirty="0">
                <a:solidFill>
                  <a:srgbClr val="FFFFFF"/>
                </a:solidFill>
                <a:latin typeface="Arial" pitchFamily="34" charset="0"/>
                <a:ea typeface="Arial" pitchFamily="34" charset="-122"/>
                <a:cs typeface="Arial" pitchFamily="34" charset="-120"/>
              </a:rPr>
              <a:t>ECONOMY</a:t>
            </a:r>
            <a:endParaRPr lang="en-US" sz="1600" dirty="0"/>
          </a:p>
        </p:txBody>
      </p:sp>
      <p:sp>
        <p:nvSpPr>
          <p:cNvPr id="36" name="Text 34"/>
          <p:cNvSpPr/>
          <p:nvPr/>
        </p:nvSpPr>
        <p:spPr>
          <a:xfrm>
            <a:off x="3493008" y="4937760"/>
            <a:ext cx="2743200" cy="219456"/>
          </a:xfrm>
          <a:prstGeom prst="rect">
            <a:avLst/>
          </a:prstGeom>
          <a:noFill/>
          <a:ln/>
        </p:spPr>
        <p:txBody>
          <a:bodyPr wrap="square" rtlCol="0" anchor="ctr"/>
          <a:lstStyle/>
          <a:p>
            <a:pPr algn="l" indent="0" marL="0">
              <a:buNone/>
            </a:pPr>
            <a:r>
              <a:rPr lang="en-US" sz="750" b="1" spc="200" kern="0" dirty="0">
                <a:solidFill>
                  <a:srgbClr val="3A3A3A"/>
                </a:solidFill>
                <a:latin typeface="Arial" pitchFamily="34" charset="0"/>
                <a:ea typeface="Arial" pitchFamily="34" charset="-122"/>
                <a:cs typeface="Arial" pitchFamily="34" charset="-120"/>
              </a:rPr>
              <a:t>FOR THE USER</a:t>
            </a:r>
            <a:endParaRPr lang="en-US" sz="750" dirty="0"/>
          </a:p>
        </p:txBody>
      </p:sp>
      <p:sp>
        <p:nvSpPr>
          <p:cNvPr id="37" name="Text 35"/>
          <p:cNvSpPr/>
          <p:nvPr/>
        </p:nvSpPr>
        <p:spPr>
          <a:xfrm>
            <a:off x="3493008" y="5138928"/>
            <a:ext cx="3383280" cy="457200"/>
          </a:xfrm>
          <a:prstGeom prst="rect">
            <a:avLst/>
          </a:prstGeom>
          <a:noFill/>
          <a:ln/>
        </p:spPr>
        <p:txBody>
          <a:bodyPr wrap="square" rtlCol="0" anchor="t"/>
          <a:lstStyle/>
          <a:p>
            <a:pPr algn="l" indent="0" marL="0">
              <a:lnSpc>
                <a:spcPct val="130000"/>
              </a:lnSpc>
              <a:buNone/>
            </a:pPr>
            <a:r>
              <a:rPr lang="en-US" sz="940" dirty="0">
                <a:solidFill>
                  <a:srgbClr val="BEBEBE"/>
                </a:solidFill>
                <a:latin typeface="Arial" pitchFamily="34" charset="0"/>
                <a:ea typeface="Arial" pitchFamily="34" charset="-122"/>
                <a:cs typeface="Arial" pitchFamily="34" charset="-120"/>
              </a:rPr>
              <a:t>Relaying for others earns, and earnings buy upgrades that earn more.</a:t>
            </a:r>
            <a:endParaRPr lang="en-US" sz="940" dirty="0"/>
          </a:p>
        </p:txBody>
      </p:sp>
      <p:sp>
        <p:nvSpPr>
          <p:cNvPr id="38" name="Text 36"/>
          <p:cNvSpPr/>
          <p:nvPr/>
        </p:nvSpPr>
        <p:spPr>
          <a:xfrm>
            <a:off x="7150608" y="4937760"/>
            <a:ext cx="2743200" cy="219456"/>
          </a:xfrm>
          <a:prstGeom prst="rect">
            <a:avLst/>
          </a:prstGeom>
          <a:noFill/>
          <a:ln/>
        </p:spPr>
        <p:txBody>
          <a:bodyPr wrap="square" rtlCol="0" anchor="ctr"/>
          <a:lstStyle/>
          <a:p>
            <a:pPr algn="l" indent="0" marL="0">
              <a:buNone/>
            </a:pPr>
            <a:r>
              <a:rPr lang="en-US" sz="750" b="1" spc="200" kern="0" dirty="0">
                <a:solidFill>
                  <a:srgbClr val="3A3A3A"/>
                </a:solidFill>
                <a:latin typeface="Arial" pitchFamily="34" charset="0"/>
                <a:ea typeface="Arial" pitchFamily="34" charset="-122"/>
                <a:cs typeface="Arial" pitchFamily="34" charset="-120"/>
              </a:rPr>
              <a:t>FOR THE BUSINESS</a:t>
            </a:r>
            <a:endParaRPr lang="en-US" sz="750" dirty="0"/>
          </a:p>
        </p:txBody>
      </p:sp>
      <p:sp>
        <p:nvSpPr>
          <p:cNvPr id="39" name="Text 37"/>
          <p:cNvSpPr/>
          <p:nvPr/>
        </p:nvSpPr>
        <p:spPr>
          <a:xfrm>
            <a:off x="7150608" y="5138928"/>
            <a:ext cx="4114800" cy="457200"/>
          </a:xfrm>
          <a:prstGeom prst="rect">
            <a:avLst/>
          </a:prstGeom>
          <a:noFill/>
          <a:ln/>
        </p:spPr>
        <p:txBody>
          <a:bodyPr wrap="square" rtlCol="0" anchor="t"/>
          <a:lstStyle/>
          <a:p>
            <a:pPr algn="l" indent="0" marL="0">
              <a:lnSpc>
                <a:spcPct val="130000"/>
              </a:lnSpc>
              <a:buNone/>
            </a:pPr>
            <a:r>
              <a:rPr lang="en-US" sz="940" dirty="0">
                <a:solidFill>
                  <a:srgbClr val="BEBEBE"/>
                </a:solidFill>
                <a:latin typeface="Arial" pitchFamily="34" charset="0"/>
                <a:ea typeface="Arial" pitchFamily="34" charset="-122"/>
                <a:cs typeface="Arial" pitchFamily="34" charset="-120"/>
              </a:rPr>
              <a:t>Turns growth into node density instead of vanity signups — the network gets better as it gets bigger.</a:t>
            </a:r>
            <a:endParaRPr lang="en-US" sz="940" dirty="0"/>
          </a:p>
        </p:txBody>
      </p:sp>
      <p:sp>
        <p:nvSpPr>
          <p:cNvPr id="40" name="Shape 38"/>
          <p:cNvSpPr/>
          <p:nvPr/>
        </p:nvSpPr>
        <p:spPr>
          <a:xfrm>
            <a:off x="658368" y="5943600"/>
            <a:ext cx="10874959" cy="0"/>
          </a:xfrm>
          <a:prstGeom prst="line">
            <a:avLst/>
          </a:prstGeom>
          <a:noFill/>
          <a:ln w="12700">
            <a:solidFill>
              <a:srgbClr val="1C1C1C"/>
            </a:solidFill>
            <a:prstDash val="solid"/>
          </a:ln>
        </p:spPr>
      </p:sp>
      <p:sp>
        <p:nvSpPr>
          <p:cNvPr id="41" name="Text 39"/>
          <p:cNvSpPr/>
          <p:nvPr/>
        </p:nvSpPr>
        <p:spPr>
          <a:xfrm>
            <a:off x="658368" y="6108192"/>
            <a:ext cx="10515600" cy="274320"/>
          </a:xfrm>
          <a:prstGeom prst="rect">
            <a:avLst/>
          </a:prstGeom>
          <a:noFill/>
          <a:ln/>
        </p:spPr>
        <p:txBody>
          <a:bodyPr wrap="square" rtlCol="0" anchor="t"/>
          <a:lstStyle/>
          <a:p>
            <a:pPr algn="l" indent="0" marL="0">
              <a:lnSpc>
                <a:spcPct val="130000"/>
              </a:lnSpc>
              <a:buNone/>
            </a:pPr>
            <a:r>
              <a:rPr lang="en-US" sz="1000" dirty="0">
                <a:solidFill>
                  <a:srgbClr val="7A7A7A"/>
                </a:solidFill>
                <a:latin typeface="Arial" pitchFamily="34" charset="0"/>
                <a:ea typeface="Arial" pitchFamily="34" charset="-122"/>
                <a:cs typeface="Arial" pitchFamily="34" charset="-120"/>
              </a:rPr>
              <a:t>Phases 4 and 5 deepen the moat once the loop above is running: privacy that survives scrutiny, and reach on every platform.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274320" y="274320"/>
            <a:ext cx="146304" cy="0"/>
          </a:xfrm>
          <a:prstGeom prst="line">
            <a:avLst/>
          </a:prstGeom>
          <a:noFill/>
          <a:ln w="12700">
            <a:solidFill>
              <a:srgbClr val="3A3A3A"/>
            </a:solidFill>
            <a:prstDash val="solid"/>
          </a:ln>
        </p:spPr>
      </p:sp>
      <p:sp>
        <p:nvSpPr>
          <p:cNvPr id="3" name="Shape 1"/>
          <p:cNvSpPr/>
          <p:nvPr/>
        </p:nvSpPr>
        <p:spPr>
          <a:xfrm>
            <a:off x="274320" y="274320"/>
            <a:ext cx="0" cy="146304"/>
          </a:xfrm>
          <a:prstGeom prst="line">
            <a:avLst/>
          </a:prstGeom>
          <a:noFill/>
          <a:ln w="12700">
            <a:solidFill>
              <a:srgbClr val="3A3A3A"/>
            </a:solidFill>
            <a:prstDash val="solid"/>
          </a:ln>
        </p:spPr>
      </p:sp>
      <p:sp>
        <p:nvSpPr>
          <p:cNvPr id="4" name="Shape 2"/>
          <p:cNvSpPr/>
          <p:nvPr/>
        </p:nvSpPr>
        <p:spPr>
          <a:xfrm>
            <a:off x="11917375" y="274320"/>
            <a:ext cx="-146304" cy="0"/>
          </a:xfrm>
          <a:prstGeom prst="line">
            <a:avLst/>
          </a:prstGeom>
          <a:noFill/>
          <a:ln w="12700">
            <a:solidFill>
              <a:srgbClr val="3A3A3A"/>
            </a:solidFill>
            <a:prstDash val="solid"/>
          </a:ln>
        </p:spPr>
      </p:sp>
      <p:sp>
        <p:nvSpPr>
          <p:cNvPr id="5" name="Shape 3"/>
          <p:cNvSpPr/>
          <p:nvPr/>
        </p:nvSpPr>
        <p:spPr>
          <a:xfrm>
            <a:off x="11917375" y="274320"/>
            <a:ext cx="0" cy="146304"/>
          </a:xfrm>
          <a:prstGeom prst="line">
            <a:avLst/>
          </a:prstGeom>
          <a:noFill/>
          <a:ln w="12700">
            <a:solidFill>
              <a:srgbClr val="3A3A3A"/>
            </a:solidFill>
            <a:prstDash val="solid"/>
          </a:ln>
        </p:spPr>
      </p:sp>
      <p:sp>
        <p:nvSpPr>
          <p:cNvPr id="6" name="Shape 4"/>
          <p:cNvSpPr/>
          <p:nvPr/>
        </p:nvSpPr>
        <p:spPr>
          <a:xfrm>
            <a:off x="274320" y="6583680"/>
            <a:ext cx="146304" cy="0"/>
          </a:xfrm>
          <a:prstGeom prst="line">
            <a:avLst/>
          </a:prstGeom>
          <a:noFill/>
          <a:ln w="12700">
            <a:solidFill>
              <a:srgbClr val="3A3A3A"/>
            </a:solidFill>
            <a:prstDash val="solid"/>
          </a:ln>
        </p:spPr>
      </p:sp>
      <p:sp>
        <p:nvSpPr>
          <p:cNvPr id="7" name="Shape 5"/>
          <p:cNvSpPr/>
          <p:nvPr/>
        </p:nvSpPr>
        <p:spPr>
          <a:xfrm>
            <a:off x="274320" y="6583680"/>
            <a:ext cx="0" cy="-146304"/>
          </a:xfrm>
          <a:prstGeom prst="line">
            <a:avLst/>
          </a:prstGeom>
          <a:noFill/>
          <a:ln w="12700">
            <a:solidFill>
              <a:srgbClr val="3A3A3A"/>
            </a:solidFill>
            <a:prstDash val="solid"/>
          </a:ln>
        </p:spPr>
      </p:sp>
      <p:sp>
        <p:nvSpPr>
          <p:cNvPr id="8" name="Shape 6"/>
          <p:cNvSpPr/>
          <p:nvPr/>
        </p:nvSpPr>
        <p:spPr>
          <a:xfrm>
            <a:off x="11917375" y="6583680"/>
            <a:ext cx="-146304" cy="0"/>
          </a:xfrm>
          <a:prstGeom prst="line">
            <a:avLst/>
          </a:prstGeom>
          <a:noFill/>
          <a:ln w="12700">
            <a:solidFill>
              <a:srgbClr val="3A3A3A"/>
            </a:solidFill>
            <a:prstDash val="solid"/>
          </a:ln>
        </p:spPr>
      </p:sp>
      <p:sp>
        <p:nvSpPr>
          <p:cNvPr id="9" name="Shape 7"/>
          <p:cNvSpPr/>
          <p:nvPr/>
        </p:nvSpPr>
        <p:spPr>
          <a:xfrm>
            <a:off x="11917375" y="6583680"/>
            <a:ext cx="0" cy="-146304"/>
          </a:xfrm>
          <a:prstGeom prst="line">
            <a:avLst/>
          </a:prstGeom>
          <a:noFill/>
          <a:ln w="12700">
            <a:solidFill>
              <a:srgbClr val="3A3A3A"/>
            </a:solidFill>
            <a:prstDash val="solid"/>
          </a:ln>
        </p:spPr>
      </p:sp>
      <p:sp>
        <p:nvSpPr>
          <p:cNvPr id="10" name="Text 8"/>
          <p:cNvSpPr/>
          <p:nvPr/>
        </p:nvSpPr>
        <p:spPr>
          <a:xfrm>
            <a:off x="658368" y="274320"/>
            <a:ext cx="2743200" cy="219456"/>
          </a:xfrm>
          <a:prstGeom prst="rect">
            <a:avLst/>
          </a:prstGeom>
          <a:noFill/>
          <a:ln/>
        </p:spPr>
        <p:txBody>
          <a:bodyPr wrap="square" rtlCol="0" anchor="ctr"/>
          <a:lstStyle/>
          <a:p>
            <a:pPr indent="0" marL="0">
              <a:buNone/>
            </a:pPr>
            <a:r>
              <a:rPr lang="en-US" sz="800" b="1" spc="240" kern="0" dirty="0">
                <a:solidFill>
                  <a:srgbClr val="7A7A7A"/>
                </a:solidFill>
                <a:latin typeface="Arial" pitchFamily="34" charset="0"/>
                <a:ea typeface="Arial" pitchFamily="34" charset="-122"/>
                <a:cs typeface="Arial" pitchFamily="34" charset="-120"/>
              </a:rPr>
              <a:t>CABALMESH</a:t>
            </a:r>
            <a:endParaRPr lang="en-US" sz="800" dirty="0"/>
          </a:p>
        </p:txBody>
      </p:sp>
      <p:sp>
        <p:nvSpPr>
          <p:cNvPr id="11" name="Text 9"/>
          <p:cNvSpPr/>
          <p:nvPr/>
        </p:nvSpPr>
        <p:spPr>
          <a:xfrm>
            <a:off x="6583680" y="274320"/>
            <a:ext cx="4937760" cy="219456"/>
          </a:xfrm>
          <a:prstGeom prst="rect">
            <a:avLst/>
          </a:prstGeom>
          <a:noFill/>
          <a:ln/>
        </p:spPr>
        <p:txBody>
          <a:bodyPr wrap="square" rtlCol="0" anchor="ctr"/>
          <a:lstStyle/>
          <a:p>
            <a:pPr algn="r" indent="0" marL="0">
              <a:buNone/>
            </a:pPr>
            <a:r>
              <a:rPr lang="en-US" sz="800" b="1" spc="240" kern="0" dirty="0">
                <a:solidFill>
                  <a:srgbClr val="3A3A3A"/>
                </a:solidFill>
                <a:latin typeface="Arial" pitchFamily="34" charset="0"/>
                <a:ea typeface="Arial" pitchFamily="34" charset="-122"/>
                <a:cs typeface="Arial" pitchFamily="34" charset="-120"/>
              </a:rPr>
              <a:t>ROADMAP · AUG 2026 – JAN 2027</a:t>
            </a:r>
            <a:endParaRPr lang="en-US" sz="800" dirty="0"/>
          </a:p>
        </p:txBody>
      </p:sp>
      <p:sp>
        <p:nvSpPr>
          <p:cNvPr id="12" name="Shape 10"/>
          <p:cNvSpPr/>
          <p:nvPr/>
        </p:nvSpPr>
        <p:spPr>
          <a:xfrm>
            <a:off x="658368" y="566928"/>
            <a:ext cx="10874959" cy="0"/>
          </a:xfrm>
          <a:prstGeom prst="line">
            <a:avLst/>
          </a:prstGeom>
          <a:noFill/>
          <a:ln w="12700">
            <a:solidFill>
              <a:srgbClr val="1C1C1C"/>
            </a:solidFill>
            <a:prstDash val="solid"/>
          </a:ln>
        </p:spPr>
      </p:sp>
      <p:sp>
        <p:nvSpPr>
          <p:cNvPr id="13" name="Text 11"/>
          <p:cNvSpPr/>
          <p:nvPr/>
        </p:nvSpPr>
        <p:spPr>
          <a:xfrm>
            <a:off x="10881360" y="6419088"/>
            <a:ext cx="658368" cy="219456"/>
          </a:xfrm>
          <a:prstGeom prst="rect">
            <a:avLst/>
          </a:prstGeom>
          <a:noFill/>
          <a:ln/>
        </p:spPr>
        <p:txBody>
          <a:bodyPr wrap="square" rtlCol="0" anchor="ctr"/>
          <a:lstStyle/>
          <a:p>
            <a:pPr algn="r" indent="0" marL="0">
              <a:buNone/>
            </a:pPr>
            <a:r>
              <a:rPr lang="en-US" sz="800" dirty="0">
                <a:solidFill>
                  <a:srgbClr val="3A3A3A"/>
                </a:solidFill>
                <a:latin typeface="Courier New" pitchFamily="34" charset="0"/>
                <a:ea typeface="Courier New" pitchFamily="34" charset="-122"/>
                <a:cs typeface="Courier New" pitchFamily="34" charset="-120"/>
              </a:rPr>
              <a:t>04</a:t>
            </a:r>
            <a:endParaRPr lang="en-US" sz="800" dirty="0"/>
          </a:p>
        </p:txBody>
      </p:sp>
      <p:sp>
        <p:nvSpPr>
          <p:cNvPr id="14" name="Text 12"/>
          <p:cNvSpPr/>
          <p:nvPr/>
        </p:nvSpPr>
        <p:spPr>
          <a:xfrm>
            <a:off x="658368" y="786384"/>
            <a:ext cx="8229600" cy="237744"/>
          </a:xfrm>
          <a:prstGeom prst="rect">
            <a:avLst/>
          </a:prstGeom>
          <a:noFill/>
          <a:ln/>
        </p:spPr>
        <p:txBody>
          <a:bodyPr wrap="square" rtlCol="0" anchor="ctr"/>
          <a:lstStyle/>
          <a:p>
            <a:pPr indent="0" marL="0">
              <a:buNone/>
            </a:pPr>
            <a:r>
              <a:rPr lang="en-US" sz="950" b="1" spc="240" kern="0" dirty="0">
                <a:solidFill>
                  <a:srgbClr val="00E5FF"/>
                </a:solidFill>
                <a:latin typeface="Arial" pitchFamily="34" charset="0"/>
                <a:ea typeface="Arial" pitchFamily="34" charset="-122"/>
                <a:cs typeface="Arial" pitchFamily="34" charset="-120"/>
              </a:rPr>
              <a:t>TIMELINE</a:t>
            </a:r>
            <a:endParaRPr lang="en-US" sz="950" dirty="0"/>
          </a:p>
        </p:txBody>
      </p:sp>
      <p:sp>
        <p:nvSpPr>
          <p:cNvPr id="15" name="Text 13"/>
          <p:cNvSpPr/>
          <p:nvPr/>
        </p:nvSpPr>
        <p:spPr>
          <a:xfrm>
            <a:off x="658368" y="1097280"/>
            <a:ext cx="9692640" cy="822960"/>
          </a:xfrm>
          <a:prstGeom prst="rect">
            <a:avLst/>
          </a:prstGeom>
          <a:noFill/>
          <a:ln/>
        </p:spPr>
        <p:txBody>
          <a:bodyPr wrap="square" rtlCol="0" anchor="ctr"/>
          <a:lstStyle/>
          <a:p>
            <a:pPr indent="0" marL="0">
              <a:lnSpc>
                <a:spcPct val="112000"/>
              </a:lnSpc>
              <a:buNone/>
            </a:pPr>
            <a:r>
              <a:rPr lang="en-US" sz="2700" b="1" dirty="0">
                <a:solidFill>
                  <a:srgbClr val="FFFFFF"/>
                </a:solidFill>
                <a:latin typeface="Arial" pitchFamily="34" charset="0"/>
                <a:ea typeface="Arial" pitchFamily="34" charset="-122"/>
                <a:cs typeface="Arial" pitchFamily="34" charset="-120"/>
              </a:rPr>
              <a:t>Six months, five phases, one dependency chain.</a:t>
            </a:r>
            <a:endParaRPr lang="en-US" sz="2700" dirty="0"/>
          </a:p>
        </p:txBody>
      </p:sp>
      <p:sp>
        <p:nvSpPr>
          <p:cNvPr id="16" name="Text 14"/>
          <p:cNvSpPr/>
          <p:nvPr/>
        </p:nvSpPr>
        <p:spPr>
          <a:xfrm>
            <a:off x="4215384" y="2048256"/>
            <a:ext cx="1228801" cy="219456"/>
          </a:xfrm>
          <a:prstGeom prst="rect">
            <a:avLst/>
          </a:prstGeom>
          <a:noFill/>
          <a:ln/>
        </p:spPr>
        <p:txBody>
          <a:bodyPr wrap="square" rtlCol="0" anchor="ctr"/>
          <a:lstStyle/>
          <a:p>
            <a:pPr algn="l" indent="0" marL="0">
              <a:buNone/>
            </a:pPr>
            <a:r>
              <a:rPr lang="en-US" sz="800" b="1" spc="200" kern="0" dirty="0">
                <a:solidFill>
                  <a:srgbClr val="3A3A3A"/>
                </a:solidFill>
                <a:latin typeface="Arial" pitchFamily="34" charset="0"/>
                <a:ea typeface="Arial" pitchFamily="34" charset="-122"/>
                <a:cs typeface="Arial" pitchFamily="34" charset="-120"/>
              </a:rPr>
              <a:t>AUG 2026</a:t>
            </a:r>
            <a:endParaRPr lang="en-US" sz="800" dirty="0"/>
          </a:p>
        </p:txBody>
      </p:sp>
      <p:sp>
        <p:nvSpPr>
          <p:cNvPr id="17" name="Text 15"/>
          <p:cNvSpPr/>
          <p:nvPr/>
        </p:nvSpPr>
        <p:spPr>
          <a:xfrm>
            <a:off x="5444185" y="2048256"/>
            <a:ext cx="1228801" cy="219456"/>
          </a:xfrm>
          <a:prstGeom prst="rect">
            <a:avLst/>
          </a:prstGeom>
          <a:noFill/>
          <a:ln/>
        </p:spPr>
        <p:txBody>
          <a:bodyPr wrap="square" rtlCol="0" anchor="ctr"/>
          <a:lstStyle/>
          <a:p>
            <a:pPr algn="l" indent="0" marL="0">
              <a:buNone/>
            </a:pPr>
            <a:r>
              <a:rPr lang="en-US" sz="800" b="1" spc="200" kern="0" dirty="0">
                <a:solidFill>
                  <a:srgbClr val="3A3A3A"/>
                </a:solidFill>
                <a:latin typeface="Arial" pitchFamily="34" charset="0"/>
                <a:ea typeface="Arial" pitchFamily="34" charset="-122"/>
                <a:cs typeface="Arial" pitchFamily="34" charset="-120"/>
              </a:rPr>
              <a:t>SEP</a:t>
            </a:r>
            <a:endParaRPr lang="en-US" sz="800" dirty="0"/>
          </a:p>
        </p:txBody>
      </p:sp>
      <p:sp>
        <p:nvSpPr>
          <p:cNvPr id="18" name="Shape 16"/>
          <p:cNvSpPr/>
          <p:nvPr/>
        </p:nvSpPr>
        <p:spPr>
          <a:xfrm>
            <a:off x="5389321" y="2286000"/>
            <a:ext cx="0" cy="3657600"/>
          </a:xfrm>
          <a:prstGeom prst="line">
            <a:avLst/>
          </a:prstGeom>
          <a:noFill/>
          <a:ln w="12700">
            <a:solidFill>
              <a:srgbClr val="1C1C1C"/>
            </a:solidFill>
            <a:prstDash val="solid"/>
          </a:ln>
        </p:spPr>
      </p:sp>
      <p:sp>
        <p:nvSpPr>
          <p:cNvPr id="19" name="Text 17"/>
          <p:cNvSpPr/>
          <p:nvPr/>
        </p:nvSpPr>
        <p:spPr>
          <a:xfrm>
            <a:off x="6672986" y="2048256"/>
            <a:ext cx="1228801" cy="219456"/>
          </a:xfrm>
          <a:prstGeom prst="rect">
            <a:avLst/>
          </a:prstGeom>
          <a:noFill/>
          <a:ln/>
        </p:spPr>
        <p:txBody>
          <a:bodyPr wrap="square" rtlCol="0" anchor="ctr"/>
          <a:lstStyle/>
          <a:p>
            <a:pPr algn="l" indent="0" marL="0">
              <a:buNone/>
            </a:pPr>
            <a:r>
              <a:rPr lang="en-US" sz="800" b="1" spc="200" kern="0" dirty="0">
                <a:solidFill>
                  <a:srgbClr val="3A3A3A"/>
                </a:solidFill>
                <a:latin typeface="Arial" pitchFamily="34" charset="0"/>
                <a:ea typeface="Arial" pitchFamily="34" charset="-122"/>
                <a:cs typeface="Arial" pitchFamily="34" charset="-120"/>
              </a:rPr>
              <a:t>OCT</a:t>
            </a:r>
            <a:endParaRPr lang="en-US" sz="800" dirty="0"/>
          </a:p>
        </p:txBody>
      </p:sp>
      <p:sp>
        <p:nvSpPr>
          <p:cNvPr id="20" name="Shape 18"/>
          <p:cNvSpPr/>
          <p:nvPr/>
        </p:nvSpPr>
        <p:spPr>
          <a:xfrm>
            <a:off x="6618122" y="2286000"/>
            <a:ext cx="0" cy="3657600"/>
          </a:xfrm>
          <a:prstGeom prst="line">
            <a:avLst/>
          </a:prstGeom>
          <a:noFill/>
          <a:ln w="12700">
            <a:solidFill>
              <a:srgbClr val="1C1C1C"/>
            </a:solidFill>
            <a:prstDash val="solid"/>
          </a:ln>
        </p:spPr>
      </p:sp>
      <p:sp>
        <p:nvSpPr>
          <p:cNvPr id="21" name="Text 19"/>
          <p:cNvSpPr/>
          <p:nvPr/>
        </p:nvSpPr>
        <p:spPr>
          <a:xfrm>
            <a:off x="7901788" y="2048256"/>
            <a:ext cx="1228801" cy="219456"/>
          </a:xfrm>
          <a:prstGeom prst="rect">
            <a:avLst/>
          </a:prstGeom>
          <a:noFill/>
          <a:ln/>
        </p:spPr>
        <p:txBody>
          <a:bodyPr wrap="square" rtlCol="0" anchor="ctr"/>
          <a:lstStyle/>
          <a:p>
            <a:pPr algn="l" indent="0" marL="0">
              <a:buNone/>
            </a:pPr>
            <a:r>
              <a:rPr lang="en-US" sz="800" b="1" spc="200" kern="0" dirty="0">
                <a:solidFill>
                  <a:srgbClr val="3A3A3A"/>
                </a:solidFill>
                <a:latin typeface="Arial" pitchFamily="34" charset="0"/>
                <a:ea typeface="Arial" pitchFamily="34" charset="-122"/>
                <a:cs typeface="Arial" pitchFamily="34" charset="-120"/>
              </a:rPr>
              <a:t>NOV</a:t>
            </a:r>
            <a:endParaRPr lang="en-US" sz="800" dirty="0"/>
          </a:p>
        </p:txBody>
      </p:sp>
      <p:sp>
        <p:nvSpPr>
          <p:cNvPr id="22" name="Shape 20"/>
          <p:cNvSpPr/>
          <p:nvPr/>
        </p:nvSpPr>
        <p:spPr>
          <a:xfrm>
            <a:off x="7846924" y="2286000"/>
            <a:ext cx="0" cy="3657600"/>
          </a:xfrm>
          <a:prstGeom prst="line">
            <a:avLst/>
          </a:prstGeom>
          <a:noFill/>
          <a:ln w="12700">
            <a:solidFill>
              <a:srgbClr val="1C1C1C"/>
            </a:solidFill>
            <a:prstDash val="solid"/>
          </a:ln>
        </p:spPr>
      </p:sp>
      <p:sp>
        <p:nvSpPr>
          <p:cNvPr id="23" name="Text 21"/>
          <p:cNvSpPr/>
          <p:nvPr/>
        </p:nvSpPr>
        <p:spPr>
          <a:xfrm>
            <a:off x="9130589" y="2048256"/>
            <a:ext cx="1228801" cy="219456"/>
          </a:xfrm>
          <a:prstGeom prst="rect">
            <a:avLst/>
          </a:prstGeom>
          <a:noFill/>
          <a:ln/>
        </p:spPr>
        <p:txBody>
          <a:bodyPr wrap="square" rtlCol="0" anchor="ctr"/>
          <a:lstStyle/>
          <a:p>
            <a:pPr algn="l" indent="0" marL="0">
              <a:buNone/>
            </a:pPr>
            <a:r>
              <a:rPr lang="en-US" sz="800" b="1" spc="200" kern="0" dirty="0">
                <a:solidFill>
                  <a:srgbClr val="3A3A3A"/>
                </a:solidFill>
                <a:latin typeface="Arial" pitchFamily="34" charset="0"/>
                <a:ea typeface="Arial" pitchFamily="34" charset="-122"/>
                <a:cs typeface="Arial" pitchFamily="34" charset="-120"/>
              </a:rPr>
              <a:t>DEC</a:t>
            </a:r>
            <a:endParaRPr lang="en-US" sz="800" dirty="0"/>
          </a:p>
        </p:txBody>
      </p:sp>
      <p:sp>
        <p:nvSpPr>
          <p:cNvPr id="24" name="Shape 22"/>
          <p:cNvSpPr/>
          <p:nvPr/>
        </p:nvSpPr>
        <p:spPr>
          <a:xfrm>
            <a:off x="9075725" y="2286000"/>
            <a:ext cx="0" cy="3657600"/>
          </a:xfrm>
          <a:prstGeom prst="line">
            <a:avLst/>
          </a:prstGeom>
          <a:noFill/>
          <a:ln w="12700">
            <a:solidFill>
              <a:srgbClr val="1C1C1C"/>
            </a:solidFill>
            <a:prstDash val="solid"/>
          </a:ln>
        </p:spPr>
      </p:sp>
      <p:sp>
        <p:nvSpPr>
          <p:cNvPr id="25" name="Text 23"/>
          <p:cNvSpPr/>
          <p:nvPr/>
        </p:nvSpPr>
        <p:spPr>
          <a:xfrm>
            <a:off x="10359390" y="2048256"/>
            <a:ext cx="1228801" cy="219456"/>
          </a:xfrm>
          <a:prstGeom prst="rect">
            <a:avLst/>
          </a:prstGeom>
          <a:noFill/>
          <a:ln/>
        </p:spPr>
        <p:txBody>
          <a:bodyPr wrap="square" rtlCol="0" anchor="ctr"/>
          <a:lstStyle/>
          <a:p>
            <a:pPr algn="l" indent="0" marL="0">
              <a:buNone/>
            </a:pPr>
            <a:r>
              <a:rPr lang="en-US" sz="800" b="1" spc="200" kern="0" dirty="0">
                <a:solidFill>
                  <a:srgbClr val="3A3A3A"/>
                </a:solidFill>
                <a:latin typeface="Arial" pitchFamily="34" charset="0"/>
                <a:ea typeface="Arial" pitchFamily="34" charset="-122"/>
                <a:cs typeface="Arial" pitchFamily="34" charset="-120"/>
              </a:rPr>
              <a:t>JAN 2027</a:t>
            </a:r>
            <a:endParaRPr lang="en-US" sz="800" dirty="0"/>
          </a:p>
        </p:txBody>
      </p:sp>
      <p:sp>
        <p:nvSpPr>
          <p:cNvPr id="26" name="Shape 24"/>
          <p:cNvSpPr/>
          <p:nvPr/>
        </p:nvSpPr>
        <p:spPr>
          <a:xfrm>
            <a:off x="10304526" y="2286000"/>
            <a:ext cx="0" cy="3657600"/>
          </a:xfrm>
          <a:prstGeom prst="line">
            <a:avLst/>
          </a:prstGeom>
          <a:noFill/>
          <a:ln w="12700">
            <a:solidFill>
              <a:srgbClr val="1C1C1C"/>
            </a:solidFill>
            <a:prstDash val="solid"/>
          </a:ln>
        </p:spPr>
      </p:sp>
      <p:sp>
        <p:nvSpPr>
          <p:cNvPr id="27" name="Shape 25"/>
          <p:cNvSpPr/>
          <p:nvPr/>
        </p:nvSpPr>
        <p:spPr>
          <a:xfrm>
            <a:off x="658368" y="2286000"/>
            <a:ext cx="10874959" cy="0"/>
          </a:xfrm>
          <a:prstGeom prst="line">
            <a:avLst/>
          </a:prstGeom>
          <a:noFill/>
          <a:ln w="12700">
            <a:solidFill>
              <a:srgbClr val="2A2A2A"/>
            </a:solidFill>
            <a:prstDash val="solid"/>
          </a:ln>
        </p:spPr>
      </p:sp>
      <p:sp>
        <p:nvSpPr>
          <p:cNvPr id="28" name="Text 26"/>
          <p:cNvSpPr/>
          <p:nvPr/>
        </p:nvSpPr>
        <p:spPr>
          <a:xfrm>
            <a:off x="658368" y="2468880"/>
            <a:ext cx="384048" cy="274320"/>
          </a:xfrm>
          <a:prstGeom prst="rect">
            <a:avLst/>
          </a:prstGeom>
          <a:noFill/>
          <a:ln/>
        </p:spPr>
        <p:txBody>
          <a:bodyPr wrap="square" rtlCol="0" anchor="ctr"/>
          <a:lstStyle/>
          <a:p>
            <a:pPr indent="0" marL="0">
              <a:buNone/>
            </a:pPr>
            <a:r>
              <a:rPr lang="en-US" sz="1100" b="1" dirty="0">
                <a:solidFill>
                  <a:srgbClr val="3A3A3A"/>
                </a:solidFill>
                <a:latin typeface="Courier New" pitchFamily="34" charset="0"/>
                <a:ea typeface="Courier New" pitchFamily="34" charset="-122"/>
                <a:cs typeface="Courier New" pitchFamily="34" charset="-120"/>
              </a:rPr>
              <a:t>01</a:t>
            </a:r>
            <a:endParaRPr lang="en-US" sz="1100" dirty="0"/>
          </a:p>
        </p:txBody>
      </p:sp>
      <p:sp>
        <p:nvSpPr>
          <p:cNvPr id="29" name="Text 27"/>
          <p:cNvSpPr/>
          <p:nvPr/>
        </p:nvSpPr>
        <p:spPr>
          <a:xfrm>
            <a:off x="1115568" y="2468880"/>
            <a:ext cx="1188720" cy="256032"/>
          </a:xfrm>
          <a:prstGeom prst="rect">
            <a:avLst/>
          </a:prstGeom>
          <a:noFill/>
          <a:ln/>
        </p:spPr>
        <p:txBody>
          <a:bodyPr wrap="square" rtlCol="0" anchor="t"/>
          <a:lstStyle/>
          <a:p>
            <a:pPr algn="l" indent="0" marL="0">
              <a:lnSpc>
                <a:spcPct val="130000"/>
              </a:lnSpc>
              <a:buNone/>
            </a:pPr>
            <a:r>
              <a:rPr lang="en-US" sz="1000" b="1" dirty="0">
                <a:solidFill>
                  <a:srgbClr val="FFFFFF"/>
                </a:solidFill>
                <a:latin typeface="Arial" pitchFamily="34" charset="0"/>
                <a:ea typeface="Arial" pitchFamily="34" charset="-122"/>
                <a:cs typeface="Arial" pitchFamily="34" charset="-120"/>
              </a:rPr>
              <a:t>TRUST</a:t>
            </a:r>
            <a:endParaRPr lang="en-US" sz="1000" dirty="0"/>
          </a:p>
        </p:txBody>
      </p:sp>
      <p:sp>
        <p:nvSpPr>
          <p:cNvPr id="30" name="Text 28"/>
          <p:cNvSpPr/>
          <p:nvPr/>
        </p:nvSpPr>
        <p:spPr>
          <a:xfrm>
            <a:off x="2258568" y="2478024"/>
            <a:ext cx="2468880" cy="256032"/>
          </a:xfrm>
          <a:prstGeom prst="rect">
            <a:avLst/>
          </a:prstGeom>
          <a:noFill/>
          <a:ln/>
        </p:spPr>
        <p:txBody>
          <a:bodyPr wrap="square" rtlCol="0" anchor="t"/>
          <a:lstStyle/>
          <a:p>
            <a:pPr algn="l" indent="0" marL="0">
              <a:lnSpc>
                <a:spcPct val="130000"/>
              </a:lnSpc>
              <a:buNone/>
            </a:pPr>
            <a:r>
              <a:rPr lang="en-US" sz="920" dirty="0">
                <a:solidFill>
                  <a:srgbClr val="7A7A7A"/>
                </a:solidFill>
                <a:latin typeface="Arial" pitchFamily="34" charset="0"/>
                <a:ea typeface="Arial" pitchFamily="34" charset="-122"/>
                <a:cs typeface="Arial" pitchFamily="34" charset="-120"/>
              </a:rPr>
              <a:t>Safe enough to keep money in</a:t>
            </a:r>
            <a:endParaRPr lang="en-US" sz="920" dirty="0"/>
          </a:p>
        </p:txBody>
      </p:sp>
      <p:sp>
        <p:nvSpPr>
          <p:cNvPr id="31" name="Shape 29"/>
          <p:cNvSpPr/>
          <p:nvPr/>
        </p:nvSpPr>
        <p:spPr>
          <a:xfrm>
            <a:off x="4197096" y="2487168"/>
            <a:ext cx="2311298" cy="274320"/>
          </a:xfrm>
          <a:prstGeom prst="rect">
            <a:avLst/>
          </a:prstGeom>
          <a:solidFill>
            <a:srgbClr val="00E5FF"/>
          </a:solidFill>
          <a:ln/>
        </p:spPr>
      </p:sp>
      <p:sp>
        <p:nvSpPr>
          <p:cNvPr id="32" name="Text 30"/>
          <p:cNvSpPr/>
          <p:nvPr/>
        </p:nvSpPr>
        <p:spPr>
          <a:xfrm>
            <a:off x="4197096" y="2834640"/>
            <a:ext cx="2194560" cy="219456"/>
          </a:xfrm>
          <a:prstGeom prst="rect">
            <a:avLst/>
          </a:prstGeom>
          <a:noFill/>
          <a:ln/>
        </p:spPr>
        <p:txBody>
          <a:bodyPr wrap="square" rtlCol="0" anchor="ctr"/>
          <a:lstStyle/>
          <a:p>
            <a:pPr algn="l" indent="0" marL="0">
              <a:buNone/>
            </a:pPr>
            <a:r>
              <a:rPr lang="en-US" sz="750" b="1" spc="200" kern="0" dirty="0">
                <a:solidFill>
                  <a:srgbClr val="00E5FF"/>
                </a:solidFill>
                <a:latin typeface="Arial" pitchFamily="34" charset="0"/>
                <a:ea typeface="Arial" pitchFamily="34" charset="-122"/>
                <a:cs typeface="Arial" pitchFamily="34" charset="-120"/>
              </a:rPr>
              <a:t>IN PROGRESS</a:t>
            </a:r>
            <a:endParaRPr lang="en-US" sz="750" dirty="0"/>
          </a:p>
        </p:txBody>
      </p:sp>
      <p:sp>
        <p:nvSpPr>
          <p:cNvPr id="33" name="Shape 31"/>
          <p:cNvSpPr/>
          <p:nvPr/>
        </p:nvSpPr>
        <p:spPr>
          <a:xfrm>
            <a:off x="658368" y="3054096"/>
            <a:ext cx="10874959" cy="0"/>
          </a:xfrm>
          <a:prstGeom prst="line">
            <a:avLst/>
          </a:prstGeom>
          <a:noFill/>
          <a:ln w="12700">
            <a:solidFill>
              <a:srgbClr val="1C1C1C"/>
            </a:solidFill>
            <a:prstDash val="solid"/>
          </a:ln>
        </p:spPr>
      </p:sp>
      <p:sp>
        <p:nvSpPr>
          <p:cNvPr id="34" name="Text 32"/>
          <p:cNvSpPr/>
          <p:nvPr/>
        </p:nvSpPr>
        <p:spPr>
          <a:xfrm>
            <a:off x="658368" y="3182112"/>
            <a:ext cx="384048" cy="274320"/>
          </a:xfrm>
          <a:prstGeom prst="rect">
            <a:avLst/>
          </a:prstGeom>
          <a:noFill/>
          <a:ln/>
        </p:spPr>
        <p:txBody>
          <a:bodyPr wrap="square" rtlCol="0" anchor="ctr"/>
          <a:lstStyle/>
          <a:p>
            <a:pPr indent="0" marL="0">
              <a:buNone/>
            </a:pPr>
            <a:r>
              <a:rPr lang="en-US" sz="1100" b="1" dirty="0">
                <a:solidFill>
                  <a:srgbClr val="3A3A3A"/>
                </a:solidFill>
                <a:latin typeface="Courier New" pitchFamily="34" charset="0"/>
                <a:ea typeface="Courier New" pitchFamily="34" charset="-122"/>
                <a:cs typeface="Courier New" pitchFamily="34" charset="-120"/>
              </a:rPr>
              <a:t>02</a:t>
            </a:r>
            <a:endParaRPr lang="en-US" sz="1100" dirty="0"/>
          </a:p>
        </p:txBody>
      </p:sp>
      <p:sp>
        <p:nvSpPr>
          <p:cNvPr id="35" name="Text 33"/>
          <p:cNvSpPr/>
          <p:nvPr/>
        </p:nvSpPr>
        <p:spPr>
          <a:xfrm>
            <a:off x="1115568" y="3182112"/>
            <a:ext cx="1188720" cy="256032"/>
          </a:xfrm>
          <a:prstGeom prst="rect">
            <a:avLst/>
          </a:prstGeom>
          <a:noFill/>
          <a:ln/>
        </p:spPr>
        <p:txBody>
          <a:bodyPr wrap="square" rtlCol="0" anchor="t"/>
          <a:lstStyle/>
          <a:p>
            <a:pPr algn="l" indent="0" marL="0">
              <a:lnSpc>
                <a:spcPct val="130000"/>
              </a:lnSpc>
              <a:buNone/>
            </a:pPr>
            <a:r>
              <a:rPr lang="en-US" sz="1000" b="1" dirty="0">
                <a:solidFill>
                  <a:srgbClr val="FFFFFF"/>
                </a:solidFill>
                <a:latin typeface="Arial" pitchFamily="34" charset="0"/>
                <a:ea typeface="Arial" pitchFamily="34" charset="-122"/>
                <a:cs typeface="Arial" pitchFamily="34" charset="-120"/>
              </a:rPr>
              <a:t>DEMAND</a:t>
            </a:r>
            <a:endParaRPr lang="en-US" sz="1000" dirty="0"/>
          </a:p>
        </p:txBody>
      </p:sp>
      <p:sp>
        <p:nvSpPr>
          <p:cNvPr id="36" name="Text 34"/>
          <p:cNvSpPr/>
          <p:nvPr/>
        </p:nvSpPr>
        <p:spPr>
          <a:xfrm>
            <a:off x="2258568" y="3191256"/>
            <a:ext cx="2468880" cy="256032"/>
          </a:xfrm>
          <a:prstGeom prst="rect">
            <a:avLst/>
          </a:prstGeom>
          <a:noFill/>
          <a:ln/>
        </p:spPr>
        <p:txBody>
          <a:bodyPr wrap="square" rtlCol="0" anchor="t"/>
          <a:lstStyle/>
          <a:p>
            <a:pPr algn="l" indent="0" marL="0">
              <a:lnSpc>
                <a:spcPct val="130000"/>
              </a:lnSpc>
              <a:buNone/>
            </a:pPr>
            <a:r>
              <a:rPr lang="en-US" sz="920" dirty="0">
                <a:solidFill>
                  <a:srgbClr val="7A7A7A"/>
                </a:solidFill>
                <a:latin typeface="Arial" pitchFamily="34" charset="0"/>
                <a:ea typeface="Arial" pitchFamily="34" charset="-122"/>
                <a:cs typeface="Arial" pitchFamily="34" charset="-120"/>
              </a:rPr>
              <a:t>Something people can hold and buy</a:t>
            </a:r>
            <a:endParaRPr lang="en-US" sz="920" dirty="0"/>
          </a:p>
        </p:txBody>
      </p:sp>
      <p:sp>
        <p:nvSpPr>
          <p:cNvPr id="37" name="Shape 35"/>
          <p:cNvSpPr/>
          <p:nvPr/>
        </p:nvSpPr>
        <p:spPr>
          <a:xfrm>
            <a:off x="5425897" y="3200400"/>
            <a:ext cx="2311298" cy="274320"/>
          </a:xfrm>
          <a:prstGeom prst="rect">
            <a:avLst/>
          </a:prstGeom>
          <a:solidFill>
            <a:srgbClr val="00B8CE"/>
          </a:solidFill>
          <a:ln/>
        </p:spPr>
      </p:sp>
      <p:sp>
        <p:nvSpPr>
          <p:cNvPr id="38" name="Text 36"/>
          <p:cNvSpPr/>
          <p:nvPr/>
        </p:nvSpPr>
        <p:spPr>
          <a:xfrm>
            <a:off x="5425897" y="3547872"/>
            <a:ext cx="2194560" cy="219456"/>
          </a:xfrm>
          <a:prstGeom prst="rect">
            <a:avLst/>
          </a:prstGeom>
          <a:noFill/>
          <a:ln/>
        </p:spPr>
        <p:txBody>
          <a:bodyPr wrap="square" rtlCol="0" anchor="ctr"/>
          <a:lstStyle/>
          <a:p>
            <a:pPr algn="l" indent="0" marL="0">
              <a:buNone/>
            </a:pPr>
            <a:r>
              <a:rPr lang="en-US" sz="750" b="1" spc="200" kern="0" dirty="0">
                <a:solidFill>
                  <a:srgbClr val="BEBEBE"/>
                </a:solidFill>
                <a:latin typeface="Arial" pitchFamily="34" charset="0"/>
                <a:ea typeface="Arial" pitchFamily="34" charset="-122"/>
                <a:cs typeface="Arial" pitchFamily="34" charset="-120"/>
              </a:rPr>
              <a:t>NEXT</a:t>
            </a:r>
            <a:endParaRPr lang="en-US" sz="750" dirty="0"/>
          </a:p>
        </p:txBody>
      </p:sp>
      <p:sp>
        <p:nvSpPr>
          <p:cNvPr id="39" name="Shape 37"/>
          <p:cNvSpPr/>
          <p:nvPr/>
        </p:nvSpPr>
        <p:spPr>
          <a:xfrm>
            <a:off x="658368" y="3767328"/>
            <a:ext cx="10874959" cy="0"/>
          </a:xfrm>
          <a:prstGeom prst="line">
            <a:avLst/>
          </a:prstGeom>
          <a:noFill/>
          <a:ln w="12700">
            <a:solidFill>
              <a:srgbClr val="1C1C1C"/>
            </a:solidFill>
            <a:prstDash val="solid"/>
          </a:ln>
        </p:spPr>
      </p:sp>
      <p:sp>
        <p:nvSpPr>
          <p:cNvPr id="40" name="Text 38"/>
          <p:cNvSpPr/>
          <p:nvPr/>
        </p:nvSpPr>
        <p:spPr>
          <a:xfrm>
            <a:off x="658368" y="3895344"/>
            <a:ext cx="384048" cy="274320"/>
          </a:xfrm>
          <a:prstGeom prst="rect">
            <a:avLst/>
          </a:prstGeom>
          <a:noFill/>
          <a:ln/>
        </p:spPr>
        <p:txBody>
          <a:bodyPr wrap="square" rtlCol="0" anchor="ctr"/>
          <a:lstStyle/>
          <a:p>
            <a:pPr indent="0" marL="0">
              <a:buNone/>
            </a:pPr>
            <a:r>
              <a:rPr lang="en-US" sz="1100" b="1" dirty="0">
                <a:solidFill>
                  <a:srgbClr val="3A3A3A"/>
                </a:solidFill>
                <a:latin typeface="Courier New" pitchFamily="34" charset="0"/>
                <a:ea typeface="Courier New" pitchFamily="34" charset="-122"/>
                <a:cs typeface="Courier New" pitchFamily="34" charset="-120"/>
              </a:rPr>
              <a:t>03</a:t>
            </a:r>
            <a:endParaRPr lang="en-US" sz="1100" dirty="0"/>
          </a:p>
        </p:txBody>
      </p:sp>
      <p:sp>
        <p:nvSpPr>
          <p:cNvPr id="41" name="Text 39"/>
          <p:cNvSpPr/>
          <p:nvPr/>
        </p:nvSpPr>
        <p:spPr>
          <a:xfrm>
            <a:off x="1115568" y="3895344"/>
            <a:ext cx="1188720" cy="256032"/>
          </a:xfrm>
          <a:prstGeom prst="rect">
            <a:avLst/>
          </a:prstGeom>
          <a:noFill/>
          <a:ln/>
        </p:spPr>
        <p:txBody>
          <a:bodyPr wrap="square" rtlCol="0" anchor="t"/>
          <a:lstStyle/>
          <a:p>
            <a:pPr algn="l" indent="0" marL="0">
              <a:lnSpc>
                <a:spcPct val="130000"/>
              </a:lnSpc>
              <a:buNone/>
            </a:pPr>
            <a:r>
              <a:rPr lang="en-US" sz="1000" b="1" dirty="0">
                <a:solidFill>
                  <a:srgbClr val="FFFFFF"/>
                </a:solidFill>
                <a:latin typeface="Arial" pitchFamily="34" charset="0"/>
                <a:ea typeface="Arial" pitchFamily="34" charset="-122"/>
                <a:cs typeface="Arial" pitchFamily="34" charset="-120"/>
              </a:rPr>
              <a:t>ECONOMY</a:t>
            </a:r>
            <a:endParaRPr lang="en-US" sz="1000" dirty="0"/>
          </a:p>
        </p:txBody>
      </p:sp>
      <p:sp>
        <p:nvSpPr>
          <p:cNvPr id="42" name="Text 40"/>
          <p:cNvSpPr/>
          <p:nvPr/>
        </p:nvSpPr>
        <p:spPr>
          <a:xfrm>
            <a:off x="2258568" y="3904488"/>
            <a:ext cx="2468880" cy="256032"/>
          </a:xfrm>
          <a:prstGeom prst="rect">
            <a:avLst/>
          </a:prstGeom>
          <a:noFill/>
          <a:ln/>
        </p:spPr>
        <p:txBody>
          <a:bodyPr wrap="square" rtlCol="0" anchor="t"/>
          <a:lstStyle/>
          <a:p>
            <a:pPr algn="l" indent="0" marL="0">
              <a:lnSpc>
                <a:spcPct val="130000"/>
              </a:lnSpc>
              <a:buNone/>
            </a:pPr>
            <a:r>
              <a:rPr lang="en-US" sz="920" dirty="0">
                <a:solidFill>
                  <a:srgbClr val="7A7A7A"/>
                </a:solidFill>
                <a:latin typeface="Arial" pitchFamily="34" charset="0"/>
                <a:ea typeface="Arial" pitchFamily="34" charset="-122"/>
                <a:cs typeface="Arial" pitchFamily="34" charset="-120"/>
              </a:rPr>
              <a:t>A network that pays its own users</a:t>
            </a:r>
            <a:endParaRPr lang="en-US" sz="920" dirty="0"/>
          </a:p>
        </p:txBody>
      </p:sp>
      <p:sp>
        <p:nvSpPr>
          <p:cNvPr id="43" name="Shape 41"/>
          <p:cNvSpPr/>
          <p:nvPr/>
        </p:nvSpPr>
        <p:spPr>
          <a:xfrm>
            <a:off x="6654698" y="3913632"/>
            <a:ext cx="2311298" cy="274320"/>
          </a:xfrm>
          <a:prstGeom prst="rect">
            <a:avLst/>
          </a:prstGeom>
          <a:solidFill>
            <a:srgbClr val="2E8494"/>
          </a:solidFill>
          <a:ln/>
        </p:spPr>
      </p:sp>
      <p:sp>
        <p:nvSpPr>
          <p:cNvPr id="44" name="Text 42"/>
          <p:cNvSpPr/>
          <p:nvPr/>
        </p:nvSpPr>
        <p:spPr>
          <a:xfrm>
            <a:off x="6654698" y="4261104"/>
            <a:ext cx="2194560" cy="219456"/>
          </a:xfrm>
          <a:prstGeom prst="rect">
            <a:avLst/>
          </a:prstGeom>
          <a:noFill/>
          <a:ln/>
        </p:spPr>
        <p:txBody>
          <a:bodyPr wrap="square" rtlCol="0" anchor="ctr"/>
          <a:lstStyle/>
          <a:p>
            <a:pPr algn="l" indent="0" marL="0">
              <a:buNone/>
            </a:pPr>
            <a:r>
              <a:rPr lang="en-US" sz="750" b="1" spc="200" kern="0" dirty="0">
                <a:solidFill>
                  <a:srgbClr val="BEBEBE"/>
                </a:solidFill>
                <a:latin typeface="Arial" pitchFamily="34" charset="0"/>
                <a:ea typeface="Arial" pitchFamily="34" charset="-122"/>
                <a:cs typeface="Arial" pitchFamily="34" charset="-120"/>
              </a:rPr>
              <a:t>NEXT</a:t>
            </a:r>
            <a:endParaRPr lang="en-US" sz="750" dirty="0"/>
          </a:p>
        </p:txBody>
      </p:sp>
      <p:sp>
        <p:nvSpPr>
          <p:cNvPr id="45" name="Shape 43"/>
          <p:cNvSpPr/>
          <p:nvPr/>
        </p:nvSpPr>
        <p:spPr>
          <a:xfrm>
            <a:off x="658368" y="4480560"/>
            <a:ext cx="10874959" cy="0"/>
          </a:xfrm>
          <a:prstGeom prst="line">
            <a:avLst/>
          </a:prstGeom>
          <a:noFill/>
          <a:ln w="12700">
            <a:solidFill>
              <a:srgbClr val="1C1C1C"/>
            </a:solidFill>
            <a:prstDash val="solid"/>
          </a:ln>
        </p:spPr>
      </p:sp>
      <p:sp>
        <p:nvSpPr>
          <p:cNvPr id="46" name="Text 44"/>
          <p:cNvSpPr/>
          <p:nvPr/>
        </p:nvSpPr>
        <p:spPr>
          <a:xfrm>
            <a:off x="658368" y="4608576"/>
            <a:ext cx="384048" cy="274320"/>
          </a:xfrm>
          <a:prstGeom prst="rect">
            <a:avLst/>
          </a:prstGeom>
          <a:noFill/>
          <a:ln/>
        </p:spPr>
        <p:txBody>
          <a:bodyPr wrap="square" rtlCol="0" anchor="ctr"/>
          <a:lstStyle/>
          <a:p>
            <a:pPr indent="0" marL="0">
              <a:buNone/>
            </a:pPr>
            <a:r>
              <a:rPr lang="en-US" sz="1100" b="1" dirty="0">
                <a:solidFill>
                  <a:srgbClr val="3A3A3A"/>
                </a:solidFill>
                <a:latin typeface="Courier New" pitchFamily="34" charset="0"/>
                <a:ea typeface="Courier New" pitchFamily="34" charset="-122"/>
                <a:cs typeface="Courier New" pitchFamily="34" charset="-120"/>
              </a:rPr>
              <a:t>04</a:t>
            </a:r>
            <a:endParaRPr lang="en-US" sz="1100" dirty="0"/>
          </a:p>
        </p:txBody>
      </p:sp>
      <p:sp>
        <p:nvSpPr>
          <p:cNvPr id="47" name="Text 45"/>
          <p:cNvSpPr/>
          <p:nvPr/>
        </p:nvSpPr>
        <p:spPr>
          <a:xfrm>
            <a:off x="1115568" y="4608576"/>
            <a:ext cx="1188720" cy="256032"/>
          </a:xfrm>
          <a:prstGeom prst="rect">
            <a:avLst/>
          </a:prstGeom>
          <a:noFill/>
          <a:ln/>
        </p:spPr>
        <p:txBody>
          <a:bodyPr wrap="square" rtlCol="0" anchor="t"/>
          <a:lstStyle/>
          <a:p>
            <a:pPr algn="l" indent="0" marL="0">
              <a:lnSpc>
                <a:spcPct val="130000"/>
              </a:lnSpc>
              <a:buNone/>
            </a:pPr>
            <a:r>
              <a:rPr lang="en-US" sz="1000" b="1" dirty="0">
                <a:solidFill>
                  <a:srgbClr val="FFFFFF"/>
                </a:solidFill>
                <a:latin typeface="Arial" pitchFamily="34" charset="0"/>
                <a:ea typeface="Arial" pitchFamily="34" charset="-122"/>
                <a:cs typeface="Arial" pitchFamily="34" charset="-120"/>
              </a:rPr>
              <a:t>DEPTH</a:t>
            </a:r>
            <a:endParaRPr lang="en-US" sz="1000" dirty="0"/>
          </a:p>
        </p:txBody>
      </p:sp>
      <p:sp>
        <p:nvSpPr>
          <p:cNvPr id="48" name="Text 46"/>
          <p:cNvSpPr/>
          <p:nvPr/>
        </p:nvSpPr>
        <p:spPr>
          <a:xfrm>
            <a:off x="2258568" y="4617720"/>
            <a:ext cx="2468880" cy="256032"/>
          </a:xfrm>
          <a:prstGeom prst="rect">
            <a:avLst/>
          </a:prstGeom>
          <a:noFill/>
          <a:ln/>
        </p:spPr>
        <p:txBody>
          <a:bodyPr wrap="square" rtlCol="0" anchor="t"/>
          <a:lstStyle/>
          <a:p>
            <a:pPr algn="l" indent="0" marL="0">
              <a:lnSpc>
                <a:spcPct val="130000"/>
              </a:lnSpc>
              <a:buNone/>
            </a:pPr>
            <a:r>
              <a:rPr lang="en-US" sz="920" dirty="0">
                <a:solidFill>
                  <a:srgbClr val="7A7A7A"/>
                </a:solidFill>
                <a:latin typeface="Arial" pitchFamily="34" charset="0"/>
                <a:ea typeface="Arial" pitchFamily="34" charset="-122"/>
                <a:cs typeface="Arial" pitchFamily="34" charset="-120"/>
              </a:rPr>
              <a:t>Privacy that survives scrutiny</a:t>
            </a:r>
            <a:endParaRPr lang="en-US" sz="920" dirty="0"/>
          </a:p>
        </p:txBody>
      </p:sp>
      <p:sp>
        <p:nvSpPr>
          <p:cNvPr id="49" name="Shape 47"/>
          <p:cNvSpPr/>
          <p:nvPr/>
        </p:nvSpPr>
        <p:spPr>
          <a:xfrm>
            <a:off x="7883500" y="4626864"/>
            <a:ext cx="2311298" cy="274320"/>
          </a:xfrm>
          <a:prstGeom prst="rect">
            <a:avLst/>
          </a:prstGeom>
          <a:solidFill>
            <a:srgbClr val="3C6068"/>
          </a:solidFill>
          <a:ln/>
        </p:spPr>
      </p:sp>
      <p:sp>
        <p:nvSpPr>
          <p:cNvPr id="50" name="Text 48"/>
          <p:cNvSpPr/>
          <p:nvPr/>
        </p:nvSpPr>
        <p:spPr>
          <a:xfrm>
            <a:off x="7883500" y="4974336"/>
            <a:ext cx="2194560" cy="219456"/>
          </a:xfrm>
          <a:prstGeom prst="rect">
            <a:avLst/>
          </a:prstGeom>
          <a:noFill/>
          <a:ln/>
        </p:spPr>
        <p:txBody>
          <a:bodyPr wrap="square" rtlCol="0" anchor="ctr"/>
          <a:lstStyle/>
          <a:p>
            <a:pPr algn="l" indent="0" marL="0">
              <a:buNone/>
            </a:pPr>
            <a:r>
              <a:rPr lang="en-US" sz="750" b="1" spc="200" kern="0" dirty="0">
                <a:solidFill>
                  <a:srgbClr val="7A7A7A"/>
                </a:solidFill>
                <a:latin typeface="Arial" pitchFamily="34" charset="0"/>
                <a:ea typeface="Arial" pitchFamily="34" charset="-122"/>
                <a:cs typeface="Arial" pitchFamily="34" charset="-120"/>
              </a:rPr>
              <a:t>LATER</a:t>
            </a:r>
            <a:endParaRPr lang="en-US" sz="750" dirty="0"/>
          </a:p>
        </p:txBody>
      </p:sp>
      <p:sp>
        <p:nvSpPr>
          <p:cNvPr id="51" name="Shape 49"/>
          <p:cNvSpPr/>
          <p:nvPr/>
        </p:nvSpPr>
        <p:spPr>
          <a:xfrm>
            <a:off x="658368" y="5193792"/>
            <a:ext cx="10874959" cy="0"/>
          </a:xfrm>
          <a:prstGeom prst="line">
            <a:avLst/>
          </a:prstGeom>
          <a:noFill/>
          <a:ln w="12700">
            <a:solidFill>
              <a:srgbClr val="1C1C1C"/>
            </a:solidFill>
            <a:prstDash val="solid"/>
          </a:ln>
        </p:spPr>
      </p:sp>
      <p:sp>
        <p:nvSpPr>
          <p:cNvPr id="52" name="Text 50"/>
          <p:cNvSpPr/>
          <p:nvPr/>
        </p:nvSpPr>
        <p:spPr>
          <a:xfrm>
            <a:off x="658368" y="5321808"/>
            <a:ext cx="384048" cy="274320"/>
          </a:xfrm>
          <a:prstGeom prst="rect">
            <a:avLst/>
          </a:prstGeom>
          <a:noFill/>
          <a:ln/>
        </p:spPr>
        <p:txBody>
          <a:bodyPr wrap="square" rtlCol="0" anchor="ctr"/>
          <a:lstStyle/>
          <a:p>
            <a:pPr indent="0" marL="0">
              <a:buNone/>
            </a:pPr>
            <a:r>
              <a:rPr lang="en-US" sz="1100" b="1" dirty="0">
                <a:solidFill>
                  <a:srgbClr val="3A3A3A"/>
                </a:solidFill>
                <a:latin typeface="Courier New" pitchFamily="34" charset="0"/>
                <a:ea typeface="Courier New" pitchFamily="34" charset="-122"/>
                <a:cs typeface="Courier New" pitchFamily="34" charset="-120"/>
              </a:rPr>
              <a:t>05</a:t>
            </a:r>
            <a:endParaRPr lang="en-US" sz="1100" dirty="0"/>
          </a:p>
        </p:txBody>
      </p:sp>
      <p:sp>
        <p:nvSpPr>
          <p:cNvPr id="53" name="Text 51"/>
          <p:cNvSpPr/>
          <p:nvPr/>
        </p:nvSpPr>
        <p:spPr>
          <a:xfrm>
            <a:off x="1115568" y="5321808"/>
            <a:ext cx="1188720" cy="256032"/>
          </a:xfrm>
          <a:prstGeom prst="rect">
            <a:avLst/>
          </a:prstGeom>
          <a:noFill/>
          <a:ln/>
        </p:spPr>
        <p:txBody>
          <a:bodyPr wrap="square" rtlCol="0" anchor="t"/>
          <a:lstStyle/>
          <a:p>
            <a:pPr algn="l" indent="0" marL="0">
              <a:lnSpc>
                <a:spcPct val="130000"/>
              </a:lnSpc>
              <a:buNone/>
            </a:pPr>
            <a:r>
              <a:rPr lang="en-US" sz="1000" b="1" dirty="0">
                <a:solidFill>
                  <a:srgbClr val="FFFFFF"/>
                </a:solidFill>
                <a:latin typeface="Arial" pitchFamily="34" charset="0"/>
                <a:ea typeface="Arial" pitchFamily="34" charset="-122"/>
                <a:cs typeface="Arial" pitchFamily="34" charset="-120"/>
              </a:rPr>
              <a:t>REACH</a:t>
            </a:r>
            <a:endParaRPr lang="en-US" sz="1000" dirty="0"/>
          </a:p>
        </p:txBody>
      </p:sp>
      <p:sp>
        <p:nvSpPr>
          <p:cNvPr id="54" name="Text 52"/>
          <p:cNvSpPr/>
          <p:nvPr/>
        </p:nvSpPr>
        <p:spPr>
          <a:xfrm>
            <a:off x="2258568" y="5330952"/>
            <a:ext cx="2468880" cy="256032"/>
          </a:xfrm>
          <a:prstGeom prst="rect">
            <a:avLst/>
          </a:prstGeom>
          <a:noFill/>
          <a:ln/>
        </p:spPr>
        <p:txBody>
          <a:bodyPr wrap="square" rtlCol="0" anchor="t"/>
          <a:lstStyle/>
          <a:p>
            <a:pPr algn="l" indent="0" marL="0">
              <a:lnSpc>
                <a:spcPct val="130000"/>
              </a:lnSpc>
              <a:buNone/>
            </a:pPr>
            <a:r>
              <a:rPr lang="en-US" sz="920" dirty="0">
                <a:solidFill>
                  <a:srgbClr val="7A7A7A"/>
                </a:solidFill>
                <a:latin typeface="Arial" pitchFamily="34" charset="0"/>
                <a:ea typeface="Arial" pitchFamily="34" charset="-122"/>
                <a:cs typeface="Arial" pitchFamily="34" charset="-120"/>
              </a:rPr>
              <a:t>Every platform, every pocket</a:t>
            </a:r>
            <a:endParaRPr lang="en-US" sz="920" dirty="0"/>
          </a:p>
        </p:txBody>
      </p:sp>
      <p:sp>
        <p:nvSpPr>
          <p:cNvPr id="55" name="Shape 53"/>
          <p:cNvSpPr/>
          <p:nvPr/>
        </p:nvSpPr>
        <p:spPr>
          <a:xfrm>
            <a:off x="9112301" y="5340096"/>
            <a:ext cx="2311298" cy="274320"/>
          </a:xfrm>
          <a:prstGeom prst="rect">
            <a:avLst/>
          </a:prstGeom>
          <a:solidFill>
            <a:srgbClr val="3A3A3A"/>
          </a:solidFill>
          <a:ln/>
        </p:spPr>
      </p:sp>
      <p:sp>
        <p:nvSpPr>
          <p:cNvPr id="56" name="Text 54"/>
          <p:cNvSpPr/>
          <p:nvPr/>
        </p:nvSpPr>
        <p:spPr>
          <a:xfrm>
            <a:off x="9112301" y="5687568"/>
            <a:ext cx="2194560" cy="219456"/>
          </a:xfrm>
          <a:prstGeom prst="rect">
            <a:avLst/>
          </a:prstGeom>
          <a:noFill/>
          <a:ln/>
        </p:spPr>
        <p:txBody>
          <a:bodyPr wrap="square" rtlCol="0" anchor="ctr"/>
          <a:lstStyle/>
          <a:p>
            <a:pPr algn="l" indent="0" marL="0">
              <a:buNone/>
            </a:pPr>
            <a:r>
              <a:rPr lang="en-US" sz="750" b="1" spc="200" kern="0" dirty="0">
                <a:solidFill>
                  <a:srgbClr val="7A7A7A"/>
                </a:solidFill>
                <a:latin typeface="Arial" pitchFamily="34" charset="0"/>
                <a:ea typeface="Arial" pitchFamily="34" charset="-122"/>
                <a:cs typeface="Arial" pitchFamily="34" charset="-120"/>
              </a:rPr>
              <a:t>LATER</a:t>
            </a:r>
            <a:endParaRPr lang="en-US" sz="750" dirty="0"/>
          </a:p>
        </p:txBody>
      </p:sp>
      <p:sp>
        <p:nvSpPr>
          <p:cNvPr id="57" name="Shape 55"/>
          <p:cNvSpPr/>
          <p:nvPr/>
        </p:nvSpPr>
        <p:spPr>
          <a:xfrm>
            <a:off x="658368" y="5943600"/>
            <a:ext cx="10874959" cy="0"/>
          </a:xfrm>
          <a:prstGeom prst="line">
            <a:avLst/>
          </a:prstGeom>
          <a:noFill/>
          <a:ln w="12700">
            <a:solidFill>
              <a:srgbClr val="2A2A2A"/>
            </a:solidFill>
            <a:prstDash val="solid"/>
          </a:ln>
        </p:spPr>
      </p:sp>
      <p:sp>
        <p:nvSpPr>
          <p:cNvPr id="58" name="Text 56"/>
          <p:cNvSpPr/>
          <p:nvPr/>
        </p:nvSpPr>
        <p:spPr>
          <a:xfrm>
            <a:off x="658368" y="6126480"/>
            <a:ext cx="10515600" cy="365760"/>
          </a:xfrm>
          <a:prstGeom prst="rect">
            <a:avLst/>
          </a:prstGeom>
          <a:noFill/>
          <a:ln/>
        </p:spPr>
        <p:txBody>
          <a:bodyPr wrap="square" rtlCol="0" anchor="t"/>
          <a:lstStyle/>
          <a:p>
            <a:pPr algn="l" indent="0" marL="0">
              <a:lnSpc>
                <a:spcPct val="130000"/>
              </a:lnSpc>
              <a:buNone/>
            </a:pPr>
            <a:r>
              <a:rPr lang="en-US" sz="1000" dirty="0">
                <a:solidFill>
                  <a:srgbClr val="7A7A7A"/>
                </a:solidFill>
                <a:latin typeface="Arial" pitchFamily="34" charset="0"/>
                <a:ea typeface="Arial" pitchFamily="34" charset="-122"/>
                <a:cs typeface="Arial" pitchFamily="34" charset="-120"/>
              </a:rPr>
              <a:t>Windows are execution ranges, not deadlines. Phase 2 is a marketing and business track and deliberately overlaps the software work rather than blocking it.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274320" y="274320"/>
            <a:ext cx="146304" cy="0"/>
          </a:xfrm>
          <a:prstGeom prst="line">
            <a:avLst/>
          </a:prstGeom>
          <a:noFill/>
          <a:ln w="12700">
            <a:solidFill>
              <a:srgbClr val="3A3A3A"/>
            </a:solidFill>
            <a:prstDash val="solid"/>
          </a:ln>
        </p:spPr>
      </p:sp>
      <p:sp>
        <p:nvSpPr>
          <p:cNvPr id="3" name="Shape 1"/>
          <p:cNvSpPr/>
          <p:nvPr/>
        </p:nvSpPr>
        <p:spPr>
          <a:xfrm>
            <a:off x="274320" y="274320"/>
            <a:ext cx="0" cy="146304"/>
          </a:xfrm>
          <a:prstGeom prst="line">
            <a:avLst/>
          </a:prstGeom>
          <a:noFill/>
          <a:ln w="12700">
            <a:solidFill>
              <a:srgbClr val="3A3A3A"/>
            </a:solidFill>
            <a:prstDash val="solid"/>
          </a:ln>
        </p:spPr>
      </p:sp>
      <p:sp>
        <p:nvSpPr>
          <p:cNvPr id="4" name="Shape 2"/>
          <p:cNvSpPr/>
          <p:nvPr/>
        </p:nvSpPr>
        <p:spPr>
          <a:xfrm>
            <a:off x="11917375" y="274320"/>
            <a:ext cx="-146304" cy="0"/>
          </a:xfrm>
          <a:prstGeom prst="line">
            <a:avLst/>
          </a:prstGeom>
          <a:noFill/>
          <a:ln w="12700">
            <a:solidFill>
              <a:srgbClr val="3A3A3A"/>
            </a:solidFill>
            <a:prstDash val="solid"/>
          </a:ln>
        </p:spPr>
      </p:sp>
      <p:sp>
        <p:nvSpPr>
          <p:cNvPr id="5" name="Shape 3"/>
          <p:cNvSpPr/>
          <p:nvPr/>
        </p:nvSpPr>
        <p:spPr>
          <a:xfrm>
            <a:off x="11917375" y="274320"/>
            <a:ext cx="0" cy="146304"/>
          </a:xfrm>
          <a:prstGeom prst="line">
            <a:avLst/>
          </a:prstGeom>
          <a:noFill/>
          <a:ln w="12700">
            <a:solidFill>
              <a:srgbClr val="3A3A3A"/>
            </a:solidFill>
            <a:prstDash val="solid"/>
          </a:ln>
        </p:spPr>
      </p:sp>
      <p:sp>
        <p:nvSpPr>
          <p:cNvPr id="6" name="Shape 4"/>
          <p:cNvSpPr/>
          <p:nvPr/>
        </p:nvSpPr>
        <p:spPr>
          <a:xfrm>
            <a:off x="274320" y="6583680"/>
            <a:ext cx="146304" cy="0"/>
          </a:xfrm>
          <a:prstGeom prst="line">
            <a:avLst/>
          </a:prstGeom>
          <a:noFill/>
          <a:ln w="12700">
            <a:solidFill>
              <a:srgbClr val="3A3A3A"/>
            </a:solidFill>
            <a:prstDash val="solid"/>
          </a:ln>
        </p:spPr>
      </p:sp>
      <p:sp>
        <p:nvSpPr>
          <p:cNvPr id="7" name="Shape 5"/>
          <p:cNvSpPr/>
          <p:nvPr/>
        </p:nvSpPr>
        <p:spPr>
          <a:xfrm>
            <a:off x="274320" y="6583680"/>
            <a:ext cx="0" cy="-146304"/>
          </a:xfrm>
          <a:prstGeom prst="line">
            <a:avLst/>
          </a:prstGeom>
          <a:noFill/>
          <a:ln w="12700">
            <a:solidFill>
              <a:srgbClr val="3A3A3A"/>
            </a:solidFill>
            <a:prstDash val="solid"/>
          </a:ln>
        </p:spPr>
      </p:sp>
      <p:sp>
        <p:nvSpPr>
          <p:cNvPr id="8" name="Shape 6"/>
          <p:cNvSpPr/>
          <p:nvPr/>
        </p:nvSpPr>
        <p:spPr>
          <a:xfrm>
            <a:off x="11917375" y="6583680"/>
            <a:ext cx="-146304" cy="0"/>
          </a:xfrm>
          <a:prstGeom prst="line">
            <a:avLst/>
          </a:prstGeom>
          <a:noFill/>
          <a:ln w="12700">
            <a:solidFill>
              <a:srgbClr val="3A3A3A"/>
            </a:solidFill>
            <a:prstDash val="solid"/>
          </a:ln>
        </p:spPr>
      </p:sp>
      <p:sp>
        <p:nvSpPr>
          <p:cNvPr id="9" name="Shape 7"/>
          <p:cNvSpPr/>
          <p:nvPr/>
        </p:nvSpPr>
        <p:spPr>
          <a:xfrm>
            <a:off x="11917375" y="6583680"/>
            <a:ext cx="0" cy="-146304"/>
          </a:xfrm>
          <a:prstGeom prst="line">
            <a:avLst/>
          </a:prstGeom>
          <a:noFill/>
          <a:ln w="12700">
            <a:solidFill>
              <a:srgbClr val="3A3A3A"/>
            </a:solidFill>
            <a:prstDash val="solid"/>
          </a:ln>
        </p:spPr>
      </p:sp>
      <p:sp>
        <p:nvSpPr>
          <p:cNvPr id="10" name="Text 8"/>
          <p:cNvSpPr/>
          <p:nvPr/>
        </p:nvSpPr>
        <p:spPr>
          <a:xfrm>
            <a:off x="658368" y="274320"/>
            <a:ext cx="2743200" cy="219456"/>
          </a:xfrm>
          <a:prstGeom prst="rect">
            <a:avLst/>
          </a:prstGeom>
          <a:noFill/>
          <a:ln/>
        </p:spPr>
        <p:txBody>
          <a:bodyPr wrap="square" rtlCol="0" anchor="ctr"/>
          <a:lstStyle/>
          <a:p>
            <a:pPr indent="0" marL="0">
              <a:buNone/>
            </a:pPr>
            <a:r>
              <a:rPr lang="en-US" sz="800" b="1" spc="240" kern="0" dirty="0">
                <a:solidFill>
                  <a:srgbClr val="7A7A7A"/>
                </a:solidFill>
                <a:latin typeface="Arial" pitchFamily="34" charset="0"/>
                <a:ea typeface="Arial" pitchFamily="34" charset="-122"/>
                <a:cs typeface="Arial" pitchFamily="34" charset="-120"/>
              </a:rPr>
              <a:t>CABALMESH</a:t>
            </a:r>
            <a:endParaRPr lang="en-US" sz="800" dirty="0"/>
          </a:p>
        </p:txBody>
      </p:sp>
      <p:sp>
        <p:nvSpPr>
          <p:cNvPr id="11" name="Text 9"/>
          <p:cNvSpPr/>
          <p:nvPr/>
        </p:nvSpPr>
        <p:spPr>
          <a:xfrm>
            <a:off x="6583680" y="274320"/>
            <a:ext cx="4937760" cy="219456"/>
          </a:xfrm>
          <a:prstGeom prst="rect">
            <a:avLst/>
          </a:prstGeom>
          <a:noFill/>
          <a:ln/>
        </p:spPr>
        <p:txBody>
          <a:bodyPr wrap="square" rtlCol="0" anchor="ctr"/>
          <a:lstStyle/>
          <a:p>
            <a:pPr algn="r" indent="0" marL="0">
              <a:buNone/>
            </a:pPr>
            <a:r>
              <a:rPr lang="en-US" sz="800" b="1" spc="240" kern="0" dirty="0">
                <a:solidFill>
                  <a:srgbClr val="3A3A3A"/>
                </a:solidFill>
                <a:latin typeface="Arial" pitchFamily="34" charset="0"/>
                <a:ea typeface="Arial" pitchFamily="34" charset="-122"/>
                <a:cs typeface="Arial" pitchFamily="34" charset="-120"/>
              </a:rPr>
              <a:t>ROADMAP · AUG 2026 – JAN 2027</a:t>
            </a:r>
            <a:endParaRPr lang="en-US" sz="800" dirty="0"/>
          </a:p>
        </p:txBody>
      </p:sp>
      <p:sp>
        <p:nvSpPr>
          <p:cNvPr id="12" name="Shape 10"/>
          <p:cNvSpPr/>
          <p:nvPr/>
        </p:nvSpPr>
        <p:spPr>
          <a:xfrm>
            <a:off x="658368" y="566928"/>
            <a:ext cx="10874959" cy="0"/>
          </a:xfrm>
          <a:prstGeom prst="line">
            <a:avLst/>
          </a:prstGeom>
          <a:noFill/>
          <a:ln w="12700">
            <a:solidFill>
              <a:srgbClr val="1C1C1C"/>
            </a:solidFill>
            <a:prstDash val="solid"/>
          </a:ln>
        </p:spPr>
      </p:sp>
      <p:sp>
        <p:nvSpPr>
          <p:cNvPr id="13" name="Text 11"/>
          <p:cNvSpPr/>
          <p:nvPr/>
        </p:nvSpPr>
        <p:spPr>
          <a:xfrm>
            <a:off x="10881360" y="6419088"/>
            <a:ext cx="658368" cy="219456"/>
          </a:xfrm>
          <a:prstGeom prst="rect">
            <a:avLst/>
          </a:prstGeom>
          <a:noFill/>
          <a:ln/>
        </p:spPr>
        <p:txBody>
          <a:bodyPr wrap="square" rtlCol="0" anchor="ctr"/>
          <a:lstStyle/>
          <a:p>
            <a:pPr algn="r" indent="0" marL="0">
              <a:buNone/>
            </a:pPr>
            <a:r>
              <a:rPr lang="en-US" sz="800" dirty="0">
                <a:solidFill>
                  <a:srgbClr val="3A3A3A"/>
                </a:solidFill>
                <a:latin typeface="Courier New" pitchFamily="34" charset="0"/>
                <a:ea typeface="Courier New" pitchFamily="34" charset="-122"/>
                <a:cs typeface="Courier New" pitchFamily="34" charset="-120"/>
              </a:rPr>
              <a:t>05</a:t>
            </a:r>
            <a:endParaRPr lang="en-US" sz="800" dirty="0"/>
          </a:p>
        </p:txBody>
      </p:sp>
      <p:sp>
        <p:nvSpPr>
          <p:cNvPr id="14" name="Text 12"/>
          <p:cNvSpPr/>
          <p:nvPr/>
        </p:nvSpPr>
        <p:spPr>
          <a:xfrm>
            <a:off x="658368" y="786384"/>
            <a:ext cx="8229600" cy="237744"/>
          </a:xfrm>
          <a:prstGeom prst="rect">
            <a:avLst/>
          </a:prstGeom>
          <a:noFill/>
          <a:ln/>
        </p:spPr>
        <p:txBody>
          <a:bodyPr wrap="square" rtlCol="0" anchor="ctr"/>
          <a:lstStyle/>
          <a:p>
            <a:pPr indent="0" marL="0">
              <a:buNone/>
            </a:pPr>
            <a:r>
              <a:rPr lang="en-US" sz="950" b="1" spc="240" kern="0" dirty="0">
                <a:solidFill>
                  <a:srgbClr val="00E5FF"/>
                </a:solidFill>
                <a:latin typeface="Arial" pitchFamily="34" charset="0"/>
                <a:ea typeface="Arial" pitchFamily="34" charset="-122"/>
                <a:cs typeface="Arial" pitchFamily="34" charset="-120"/>
              </a:rPr>
              <a:t>PHASE 01 · TRUST · AUG – SEP 2026</a:t>
            </a:r>
            <a:endParaRPr lang="en-US" sz="950" dirty="0"/>
          </a:p>
        </p:txBody>
      </p:sp>
      <p:sp>
        <p:nvSpPr>
          <p:cNvPr id="15" name="Text 13"/>
          <p:cNvSpPr/>
          <p:nvPr/>
        </p:nvSpPr>
        <p:spPr>
          <a:xfrm>
            <a:off x="658368" y="1097280"/>
            <a:ext cx="8778240" cy="731520"/>
          </a:xfrm>
          <a:prstGeom prst="rect">
            <a:avLst/>
          </a:prstGeom>
          <a:noFill/>
          <a:ln/>
        </p:spPr>
        <p:txBody>
          <a:bodyPr wrap="square" rtlCol="0" anchor="ctr"/>
          <a:lstStyle/>
          <a:p>
            <a:pPr indent="0" marL="0">
              <a:lnSpc>
                <a:spcPct val="112000"/>
              </a:lnSpc>
              <a:buNone/>
            </a:pPr>
            <a:r>
              <a:rPr lang="en-US" sz="2700" b="1" dirty="0">
                <a:solidFill>
                  <a:srgbClr val="FFFFFF"/>
                </a:solidFill>
                <a:latin typeface="Arial" pitchFamily="34" charset="0"/>
                <a:ea typeface="Arial" pitchFamily="34" charset="-122"/>
                <a:cs typeface="Arial" pitchFamily="34" charset="-120"/>
              </a:rPr>
              <a:t>Safe enough to keep money in</a:t>
            </a:r>
            <a:endParaRPr lang="en-US" sz="2700" dirty="0"/>
          </a:p>
        </p:txBody>
      </p:sp>
      <p:sp>
        <p:nvSpPr>
          <p:cNvPr id="16" name="Shape 14"/>
          <p:cNvSpPr/>
          <p:nvPr/>
        </p:nvSpPr>
        <p:spPr>
          <a:xfrm>
            <a:off x="10424160" y="804672"/>
            <a:ext cx="1097280" cy="201168"/>
          </a:xfrm>
          <a:prstGeom prst="rect">
            <a:avLst/>
          </a:prstGeom>
          <a:ln w="12700">
            <a:solidFill>
              <a:srgbClr val="00E5FF"/>
            </a:solidFill>
            <a:prstDash val="solid"/>
          </a:ln>
        </p:spPr>
      </p:sp>
      <p:sp>
        <p:nvSpPr>
          <p:cNvPr id="17" name="Text 15"/>
          <p:cNvSpPr/>
          <p:nvPr/>
        </p:nvSpPr>
        <p:spPr>
          <a:xfrm>
            <a:off x="10424160" y="800100"/>
            <a:ext cx="1097280" cy="201168"/>
          </a:xfrm>
          <a:prstGeom prst="rect">
            <a:avLst/>
          </a:prstGeom>
          <a:noFill/>
          <a:ln/>
        </p:spPr>
        <p:txBody>
          <a:bodyPr wrap="square" rtlCol="0" anchor="ctr"/>
          <a:lstStyle/>
          <a:p>
            <a:pPr algn="ctr" indent="0" marL="0">
              <a:buNone/>
            </a:pPr>
            <a:r>
              <a:rPr lang="en-US" sz="750" b="1" spc="120" kern="0" dirty="0">
                <a:solidFill>
                  <a:srgbClr val="00E5FF"/>
                </a:solidFill>
                <a:latin typeface="Arial" pitchFamily="34" charset="0"/>
                <a:ea typeface="Arial" pitchFamily="34" charset="-122"/>
                <a:cs typeface="Arial" pitchFamily="34" charset="-120"/>
              </a:rPr>
              <a:t>IN PROGRESS</a:t>
            </a:r>
            <a:endParaRPr lang="en-US" sz="750" dirty="0"/>
          </a:p>
        </p:txBody>
      </p:sp>
      <p:sp>
        <p:nvSpPr>
          <p:cNvPr id="18" name="Text 16"/>
          <p:cNvSpPr/>
          <p:nvPr/>
        </p:nvSpPr>
        <p:spPr>
          <a:xfrm>
            <a:off x="658368" y="1847088"/>
            <a:ext cx="9692640" cy="640080"/>
          </a:xfrm>
          <a:prstGeom prst="rect">
            <a:avLst/>
          </a:prstGeom>
          <a:noFill/>
          <a:ln/>
        </p:spPr>
        <p:txBody>
          <a:bodyPr wrap="square" rtlCol="0" anchor="ctr"/>
          <a:lstStyle/>
          <a:p>
            <a:pPr indent="0" marL="0">
              <a:lnSpc>
                <a:spcPct val="134000"/>
              </a:lnSpc>
              <a:buNone/>
            </a:pPr>
            <a:r>
              <a:rPr lang="en-US" sz="1250" dirty="0">
                <a:solidFill>
                  <a:srgbClr val="BEBEBE"/>
                </a:solidFill>
                <a:latin typeface="Arial" pitchFamily="34" charset="0"/>
                <a:ea typeface="Arial" pitchFamily="34" charset="-122"/>
                <a:cs typeface="Arial" pitchFamily="34" charset="-120"/>
              </a:rPr>
              <a:t>Nobody keeps real money in a wallet that dies with the phone. This phase makes the wallet survivable, so every later phase has something worth marketing.</a:t>
            </a:r>
            <a:endParaRPr lang="en-US" sz="1250" dirty="0"/>
          </a:p>
        </p:txBody>
      </p:sp>
      <p:sp>
        <p:nvSpPr>
          <p:cNvPr id="19" name="Shape 17"/>
          <p:cNvSpPr/>
          <p:nvPr/>
        </p:nvSpPr>
        <p:spPr>
          <a:xfrm>
            <a:off x="658368" y="2743200"/>
            <a:ext cx="5276088" cy="2523744"/>
          </a:xfrm>
          <a:prstGeom prst="rect">
            <a:avLst/>
          </a:prstGeom>
          <a:solidFill>
            <a:srgbClr val="0D0D0D"/>
          </a:solidFill>
          <a:ln w="12700">
            <a:solidFill>
              <a:srgbClr val="1C1C1C"/>
            </a:solidFill>
            <a:prstDash val="solid"/>
          </a:ln>
        </p:spPr>
      </p:sp>
      <p:sp>
        <p:nvSpPr>
          <p:cNvPr id="20" name="Shape 18"/>
          <p:cNvSpPr/>
          <p:nvPr/>
        </p:nvSpPr>
        <p:spPr>
          <a:xfrm>
            <a:off x="658368" y="2743200"/>
            <a:ext cx="5276088" cy="25603"/>
          </a:xfrm>
          <a:prstGeom prst="rect">
            <a:avLst/>
          </a:prstGeom>
          <a:solidFill>
            <a:srgbClr val="9BFF00"/>
          </a:solidFill>
          <a:ln/>
        </p:spPr>
      </p:sp>
      <p:sp>
        <p:nvSpPr>
          <p:cNvPr id="21" name="Text 19"/>
          <p:cNvSpPr/>
          <p:nvPr/>
        </p:nvSpPr>
        <p:spPr>
          <a:xfrm>
            <a:off x="987552" y="3035808"/>
            <a:ext cx="4617720" cy="219456"/>
          </a:xfrm>
          <a:prstGeom prst="rect">
            <a:avLst/>
          </a:prstGeom>
          <a:noFill/>
          <a:ln/>
        </p:spPr>
        <p:txBody>
          <a:bodyPr wrap="square" rtlCol="0" anchor="ctr"/>
          <a:lstStyle/>
          <a:p>
            <a:pPr algn="l" indent="0" marL="0">
              <a:buNone/>
            </a:pPr>
            <a:r>
              <a:rPr lang="en-US" sz="850" b="1" spc="200" kern="0" dirty="0">
                <a:solidFill>
                  <a:srgbClr val="9BFF00"/>
                </a:solidFill>
                <a:latin typeface="Arial" pitchFamily="34" charset="0"/>
                <a:ea typeface="Arial" pitchFamily="34" charset="-122"/>
                <a:cs typeface="Arial" pitchFamily="34" charset="-120"/>
              </a:rPr>
              <a:t>WHAT CHANGES FOR THE USER</a:t>
            </a:r>
            <a:endParaRPr lang="en-US" sz="850" dirty="0"/>
          </a:p>
        </p:txBody>
      </p:sp>
      <p:sp>
        <p:nvSpPr>
          <p:cNvPr id="22" name="Shape 20"/>
          <p:cNvSpPr/>
          <p:nvPr/>
        </p:nvSpPr>
        <p:spPr>
          <a:xfrm>
            <a:off x="987552" y="3538728"/>
            <a:ext cx="118872" cy="0"/>
          </a:xfrm>
          <a:prstGeom prst="line">
            <a:avLst/>
          </a:prstGeom>
          <a:noFill/>
          <a:ln w="12700">
            <a:solidFill>
              <a:srgbClr val="3A3A3A"/>
            </a:solidFill>
            <a:prstDash val="solid"/>
          </a:ln>
        </p:spPr>
      </p:sp>
      <p:sp>
        <p:nvSpPr>
          <p:cNvPr id="23" name="Text 21"/>
          <p:cNvSpPr/>
          <p:nvPr/>
        </p:nvSpPr>
        <p:spPr>
          <a:xfrm>
            <a:off x="1225296" y="3438144"/>
            <a:ext cx="4361688" cy="402336"/>
          </a:xfrm>
          <a:prstGeom prst="rect">
            <a:avLst/>
          </a:prstGeom>
          <a:noFill/>
          <a:ln/>
        </p:spPr>
        <p:txBody>
          <a:bodyPr wrap="square" rtlCol="0" anchor="t"/>
          <a:lstStyle/>
          <a:p>
            <a:pPr algn="l" indent="0" marL="0">
              <a:lnSpc>
                <a:spcPct val="130000"/>
              </a:lnSpc>
              <a:buNone/>
            </a:pPr>
            <a:r>
              <a:rPr lang="en-US" sz="960" dirty="0">
                <a:solidFill>
                  <a:srgbClr val="BEBEBE"/>
                </a:solidFill>
                <a:latin typeface="Arial" pitchFamily="34" charset="0"/>
                <a:ea typeface="Arial" pitchFamily="34" charset="-122"/>
                <a:cs typeface="Arial" pitchFamily="34" charset="-120"/>
              </a:rPr>
              <a:t>Friends and family can restore your wallet — three of five, in person</a:t>
            </a:r>
            <a:endParaRPr lang="en-US" sz="960" dirty="0"/>
          </a:p>
        </p:txBody>
      </p:sp>
      <p:sp>
        <p:nvSpPr>
          <p:cNvPr id="24" name="Shape 22"/>
          <p:cNvSpPr/>
          <p:nvPr/>
        </p:nvSpPr>
        <p:spPr>
          <a:xfrm>
            <a:off x="987552" y="3977640"/>
            <a:ext cx="118872" cy="0"/>
          </a:xfrm>
          <a:prstGeom prst="line">
            <a:avLst/>
          </a:prstGeom>
          <a:noFill/>
          <a:ln w="12700">
            <a:solidFill>
              <a:srgbClr val="3A3A3A"/>
            </a:solidFill>
            <a:prstDash val="solid"/>
          </a:ln>
        </p:spPr>
      </p:sp>
      <p:sp>
        <p:nvSpPr>
          <p:cNvPr id="25" name="Text 23"/>
          <p:cNvSpPr/>
          <p:nvPr/>
        </p:nvSpPr>
        <p:spPr>
          <a:xfrm>
            <a:off x="1225296" y="3877056"/>
            <a:ext cx="4361688" cy="402336"/>
          </a:xfrm>
          <a:prstGeom prst="rect">
            <a:avLst/>
          </a:prstGeom>
          <a:noFill/>
          <a:ln/>
        </p:spPr>
        <p:txBody>
          <a:bodyPr wrap="square" rtlCol="0" anchor="t"/>
          <a:lstStyle/>
          <a:p>
            <a:pPr algn="l" indent="0" marL="0">
              <a:lnSpc>
                <a:spcPct val="130000"/>
              </a:lnSpc>
              <a:buNone/>
            </a:pPr>
            <a:r>
              <a:rPr lang="en-US" sz="960" dirty="0">
                <a:solidFill>
                  <a:srgbClr val="BEBEBE"/>
                </a:solidFill>
                <a:latin typeface="Arial" pitchFamily="34" charset="0"/>
                <a:ea typeface="Arial" pitchFamily="34" charset="-122"/>
                <a:cs typeface="Arial" pitchFamily="34" charset="-120"/>
              </a:rPr>
              <a:t>A stolen phone can be blocked during a delay window</a:t>
            </a:r>
            <a:endParaRPr lang="en-US" sz="960" dirty="0"/>
          </a:p>
        </p:txBody>
      </p:sp>
      <p:sp>
        <p:nvSpPr>
          <p:cNvPr id="26" name="Shape 24"/>
          <p:cNvSpPr/>
          <p:nvPr/>
        </p:nvSpPr>
        <p:spPr>
          <a:xfrm>
            <a:off x="987552" y="4416552"/>
            <a:ext cx="118872" cy="0"/>
          </a:xfrm>
          <a:prstGeom prst="line">
            <a:avLst/>
          </a:prstGeom>
          <a:noFill/>
          <a:ln w="12700">
            <a:solidFill>
              <a:srgbClr val="3A3A3A"/>
            </a:solidFill>
            <a:prstDash val="solid"/>
          </a:ln>
        </p:spPr>
      </p:sp>
      <p:sp>
        <p:nvSpPr>
          <p:cNvPr id="27" name="Text 25"/>
          <p:cNvSpPr/>
          <p:nvPr/>
        </p:nvSpPr>
        <p:spPr>
          <a:xfrm>
            <a:off x="1225296" y="4315968"/>
            <a:ext cx="4361688" cy="402336"/>
          </a:xfrm>
          <a:prstGeom prst="rect">
            <a:avLst/>
          </a:prstGeom>
          <a:noFill/>
          <a:ln/>
        </p:spPr>
        <p:txBody>
          <a:bodyPr wrap="square" rtlCol="0" anchor="t"/>
          <a:lstStyle/>
          <a:p>
            <a:pPr algn="l" indent="0" marL="0">
              <a:lnSpc>
                <a:spcPct val="130000"/>
              </a:lnSpc>
              <a:buNone/>
            </a:pPr>
            <a:r>
              <a:rPr lang="en-US" sz="960" dirty="0">
                <a:solidFill>
                  <a:srgbClr val="BEBEBE"/>
                </a:solidFill>
                <a:latin typeface="Arial" pitchFamily="34" charset="0"/>
                <a:ea typeface="Arial" pitchFamily="34" charset="-122"/>
                <a:cs typeface="Arial" pitchFamily="34" charset="-120"/>
              </a:rPr>
              <a:t>Keys can leave the app: export, import, restore, passphrase-protected</a:t>
            </a:r>
            <a:endParaRPr lang="en-US" sz="960" dirty="0"/>
          </a:p>
        </p:txBody>
      </p:sp>
      <p:sp>
        <p:nvSpPr>
          <p:cNvPr id="28" name="Shape 26"/>
          <p:cNvSpPr/>
          <p:nvPr/>
        </p:nvSpPr>
        <p:spPr>
          <a:xfrm>
            <a:off x="987552" y="4855464"/>
            <a:ext cx="118872" cy="0"/>
          </a:xfrm>
          <a:prstGeom prst="line">
            <a:avLst/>
          </a:prstGeom>
          <a:noFill/>
          <a:ln w="12700">
            <a:solidFill>
              <a:srgbClr val="3A3A3A"/>
            </a:solidFill>
            <a:prstDash val="solid"/>
          </a:ln>
        </p:spPr>
      </p:sp>
      <p:sp>
        <p:nvSpPr>
          <p:cNvPr id="29" name="Text 27"/>
          <p:cNvSpPr/>
          <p:nvPr/>
        </p:nvSpPr>
        <p:spPr>
          <a:xfrm>
            <a:off x="1225296" y="4754880"/>
            <a:ext cx="4361688" cy="402336"/>
          </a:xfrm>
          <a:prstGeom prst="rect">
            <a:avLst/>
          </a:prstGeom>
          <a:noFill/>
          <a:ln/>
        </p:spPr>
        <p:txBody>
          <a:bodyPr wrap="square" rtlCol="0" anchor="t"/>
          <a:lstStyle/>
          <a:p>
            <a:pPr algn="l" indent="0" marL="0">
              <a:lnSpc>
                <a:spcPct val="130000"/>
              </a:lnSpc>
              <a:buNone/>
            </a:pPr>
            <a:r>
              <a:rPr lang="en-US" sz="960" dirty="0">
                <a:solidFill>
                  <a:srgbClr val="BEBEBE"/>
                </a:solidFill>
                <a:latin typeface="Arial" pitchFamily="34" charset="0"/>
                <a:ea typeface="Arial" pitchFamily="34" charset="-122"/>
                <a:cs typeface="Arial" pitchFamily="34" charset="-120"/>
              </a:rPr>
              <a:t>You can type what you want instead of filling a form</a:t>
            </a:r>
            <a:endParaRPr lang="en-US" sz="960" dirty="0"/>
          </a:p>
        </p:txBody>
      </p:sp>
      <p:sp>
        <p:nvSpPr>
          <p:cNvPr id="30" name="Shape 28"/>
          <p:cNvSpPr/>
          <p:nvPr/>
        </p:nvSpPr>
        <p:spPr>
          <a:xfrm>
            <a:off x="6245352" y="2743200"/>
            <a:ext cx="5276088" cy="2523744"/>
          </a:xfrm>
          <a:prstGeom prst="rect">
            <a:avLst/>
          </a:prstGeom>
          <a:solidFill>
            <a:srgbClr val="0D0D0D"/>
          </a:solidFill>
          <a:ln w="12700">
            <a:solidFill>
              <a:srgbClr val="1C1C1C"/>
            </a:solidFill>
            <a:prstDash val="solid"/>
          </a:ln>
        </p:spPr>
      </p:sp>
      <p:sp>
        <p:nvSpPr>
          <p:cNvPr id="31" name="Shape 29"/>
          <p:cNvSpPr/>
          <p:nvPr/>
        </p:nvSpPr>
        <p:spPr>
          <a:xfrm>
            <a:off x="6245352" y="2743200"/>
            <a:ext cx="5276088" cy="25603"/>
          </a:xfrm>
          <a:prstGeom prst="rect">
            <a:avLst/>
          </a:prstGeom>
          <a:solidFill>
            <a:srgbClr val="00E5FF"/>
          </a:solidFill>
          <a:ln/>
        </p:spPr>
      </p:sp>
      <p:sp>
        <p:nvSpPr>
          <p:cNvPr id="32" name="Text 30"/>
          <p:cNvSpPr/>
          <p:nvPr/>
        </p:nvSpPr>
        <p:spPr>
          <a:xfrm>
            <a:off x="6574536" y="3035808"/>
            <a:ext cx="4617720" cy="219456"/>
          </a:xfrm>
          <a:prstGeom prst="rect">
            <a:avLst/>
          </a:prstGeom>
          <a:noFill/>
          <a:ln/>
        </p:spPr>
        <p:txBody>
          <a:bodyPr wrap="square" rtlCol="0" anchor="ctr"/>
          <a:lstStyle/>
          <a:p>
            <a:pPr algn="l" indent="0" marL="0">
              <a:buNone/>
            </a:pPr>
            <a:r>
              <a:rPr lang="en-US" sz="850" b="1" spc="200" kern="0" dirty="0">
                <a:solidFill>
                  <a:srgbClr val="00E5FF"/>
                </a:solidFill>
                <a:latin typeface="Arial" pitchFamily="34" charset="0"/>
                <a:ea typeface="Arial" pitchFamily="34" charset="-122"/>
                <a:cs typeface="Arial" pitchFamily="34" charset="-120"/>
              </a:rPr>
              <a:t>WHY IT MATTERS COMMERCIALLY</a:t>
            </a:r>
            <a:endParaRPr lang="en-US" sz="850" dirty="0"/>
          </a:p>
        </p:txBody>
      </p:sp>
      <p:sp>
        <p:nvSpPr>
          <p:cNvPr id="33" name="Shape 31"/>
          <p:cNvSpPr/>
          <p:nvPr/>
        </p:nvSpPr>
        <p:spPr>
          <a:xfrm>
            <a:off x="6574536" y="3538728"/>
            <a:ext cx="118872" cy="0"/>
          </a:xfrm>
          <a:prstGeom prst="line">
            <a:avLst/>
          </a:prstGeom>
          <a:noFill/>
          <a:ln w="12700">
            <a:solidFill>
              <a:srgbClr val="3A3A3A"/>
            </a:solidFill>
            <a:prstDash val="solid"/>
          </a:ln>
        </p:spPr>
      </p:sp>
      <p:sp>
        <p:nvSpPr>
          <p:cNvPr id="34" name="Text 32"/>
          <p:cNvSpPr/>
          <p:nvPr/>
        </p:nvSpPr>
        <p:spPr>
          <a:xfrm>
            <a:off x="6812280" y="3438144"/>
            <a:ext cx="4361688" cy="438912"/>
          </a:xfrm>
          <a:prstGeom prst="rect">
            <a:avLst/>
          </a:prstGeom>
          <a:noFill/>
          <a:ln/>
        </p:spPr>
        <p:txBody>
          <a:bodyPr wrap="square" rtlCol="0" anchor="t"/>
          <a:lstStyle/>
          <a:p>
            <a:pPr algn="l" indent="0" marL="0">
              <a:lnSpc>
                <a:spcPct val="130000"/>
              </a:lnSpc>
              <a:buNone/>
            </a:pPr>
            <a:r>
              <a:rPr lang="en-US" sz="960" dirty="0">
                <a:solidFill>
                  <a:srgbClr val="BEBEBE"/>
                </a:solidFill>
                <a:latin typeface="Arial" pitchFamily="34" charset="0"/>
                <a:ea typeface="Arial" pitchFamily="34" charset="-122"/>
                <a:cs typeface="Arial" pitchFamily="34" charset="-120"/>
              </a:rPr>
              <a:t>Removes the single objection that ends most self-custody conversations</a:t>
            </a:r>
            <a:endParaRPr lang="en-US" sz="960" dirty="0"/>
          </a:p>
        </p:txBody>
      </p:sp>
      <p:sp>
        <p:nvSpPr>
          <p:cNvPr id="35" name="Shape 33"/>
          <p:cNvSpPr/>
          <p:nvPr/>
        </p:nvSpPr>
        <p:spPr>
          <a:xfrm>
            <a:off x="6574536" y="4014216"/>
            <a:ext cx="118872" cy="0"/>
          </a:xfrm>
          <a:prstGeom prst="line">
            <a:avLst/>
          </a:prstGeom>
          <a:noFill/>
          <a:ln w="12700">
            <a:solidFill>
              <a:srgbClr val="3A3A3A"/>
            </a:solidFill>
            <a:prstDash val="solid"/>
          </a:ln>
        </p:spPr>
      </p:sp>
      <p:sp>
        <p:nvSpPr>
          <p:cNvPr id="36" name="Text 34"/>
          <p:cNvSpPr/>
          <p:nvPr/>
        </p:nvSpPr>
        <p:spPr>
          <a:xfrm>
            <a:off x="6812280" y="3913632"/>
            <a:ext cx="4361688" cy="438912"/>
          </a:xfrm>
          <a:prstGeom prst="rect">
            <a:avLst/>
          </a:prstGeom>
          <a:noFill/>
          <a:ln/>
        </p:spPr>
        <p:txBody>
          <a:bodyPr wrap="square" rtlCol="0" anchor="t"/>
          <a:lstStyle/>
          <a:p>
            <a:pPr algn="l" indent="0" marL="0">
              <a:lnSpc>
                <a:spcPct val="130000"/>
              </a:lnSpc>
              <a:buNone/>
            </a:pPr>
            <a:r>
              <a:rPr lang="en-US" sz="960" dirty="0">
                <a:solidFill>
                  <a:srgbClr val="BEBEBE"/>
                </a:solidFill>
                <a:latin typeface="Arial" pitchFamily="34" charset="0"/>
                <a:ea typeface="Arial" pitchFamily="34" charset="-122"/>
                <a:cs typeface="Arial" pitchFamily="34" charset="-120"/>
              </a:rPr>
              <a:t>Makes a public launch defensible — losing funds is a story we cannot afford</a:t>
            </a:r>
            <a:endParaRPr lang="en-US" sz="960" dirty="0"/>
          </a:p>
        </p:txBody>
      </p:sp>
      <p:sp>
        <p:nvSpPr>
          <p:cNvPr id="37" name="Shape 35"/>
          <p:cNvSpPr/>
          <p:nvPr/>
        </p:nvSpPr>
        <p:spPr>
          <a:xfrm>
            <a:off x="6574536" y="4489704"/>
            <a:ext cx="118872" cy="0"/>
          </a:xfrm>
          <a:prstGeom prst="line">
            <a:avLst/>
          </a:prstGeom>
          <a:noFill/>
          <a:ln w="12700">
            <a:solidFill>
              <a:srgbClr val="3A3A3A"/>
            </a:solidFill>
            <a:prstDash val="solid"/>
          </a:ln>
        </p:spPr>
      </p:sp>
      <p:sp>
        <p:nvSpPr>
          <p:cNvPr id="38" name="Text 36"/>
          <p:cNvSpPr/>
          <p:nvPr/>
        </p:nvSpPr>
        <p:spPr>
          <a:xfrm>
            <a:off x="6812280" y="4389120"/>
            <a:ext cx="4361688" cy="438912"/>
          </a:xfrm>
          <a:prstGeom prst="rect">
            <a:avLst/>
          </a:prstGeom>
          <a:noFill/>
          <a:ln/>
        </p:spPr>
        <p:txBody>
          <a:bodyPr wrap="square" rtlCol="0" anchor="t"/>
          <a:lstStyle/>
          <a:p>
            <a:pPr algn="l" indent="0" marL="0">
              <a:lnSpc>
                <a:spcPct val="130000"/>
              </a:lnSpc>
              <a:buNone/>
            </a:pPr>
            <a:r>
              <a:rPr lang="en-US" sz="960" dirty="0">
                <a:solidFill>
                  <a:srgbClr val="BEBEBE"/>
                </a:solidFill>
                <a:latin typeface="Arial" pitchFamily="34" charset="0"/>
                <a:ea typeface="Arial" pitchFamily="34" charset="-122"/>
                <a:cs typeface="Arial" pitchFamily="34" charset="-120"/>
              </a:rPr>
              <a:t>Recovery is a social act, so onboarding one user tends to bring in five</a:t>
            </a:r>
            <a:endParaRPr lang="en-US" sz="960" dirty="0"/>
          </a:p>
        </p:txBody>
      </p:sp>
      <p:sp>
        <p:nvSpPr>
          <p:cNvPr id="39" name="Shape 37"/>
          <p:cNvSpPr/>
          <p:nvPr/>
        </p:nvSpPr>
        <p:spPr>
          <a:xfrm>
            <a:off x="658368" y="5559552"/>
            <a:ext cx="10874959" cy="658368"/>
          </a:xfrm>
          <a:prstGeom prst="rect">
            <a:avLst/>
          </a:prstGeom>
          <a:solidFill>
            <a:srgbClr val="141414"/>
          </a:solidFill>
          <a:ln w="12700">
            <a:solidFill>
              <a:srgbClr val="2A2A2A"/>
            </a:solidFill>
            <a:prstDash val="solid"/>
          </a:ln>
        </p:spPr>
      </p:sp>
      <p:sp>
        <p:nvSpPr>
          <p:cNvPr id="40" name="Text 38"/>
          <p:cNvSpPr/>
          <p:nvPr/>
        </p:nvSpPr>
        <p:spPr>
          <a:xfrm>
            <a:off x="950976" y="5687568"/>
            <a:ext cx="10289743" cy="438912"/>
          </a:xfrm>
          <a:prstGeom prst="rect">
            <a:avLst/>
          </a:prstGeom>
          <a:noFill/>
          <a:ln/>
        </p:spPr>
        <p:txBody>
          <a:bodyPr wrap="square" rtlCol="0" anchor="t"/>
          <a:lstStyle/>
          <a:p>
            <a:pPr algn="l" indent="0" marL="0">
              <a:lnSpc>
                <a:spcPct val="130000"/>
              </a:lnSpc>
              <a:buNone/>
            </a:pPr>
            <a:r>
              <a:rPr lang="en-US" sz="980" dirty="0">
                <a:solidFill>
                  <a:srgbClr val="FFFFFF"/>
                </a:solidFill>
                <a:latin typeface="Arial" pitchFamily="34" charset="0"/>
                <a:ea typeface="Arial" pitchFamily="34" charset="-122"/>
                <a:cs typeface="Arial" pitchFamily="34" charset="-120"/>
              </a:rPr>
              <a:t>MILESTONE — a wiped phone walks back into its wallet with help from five people, and a spoken sentence becomes a signed intent.</a:t>
            </a:r>
            <a:endParaRPr lang="en-US" sz="9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274320" y="274320"/>
            <a:ext cx="146304" cy="0"/>
          </a:xfrm>
          <a:prstGeom prst="line">
            <a:avLst/>
          </a:prstGeom>
          <a:noFill/>
          <a:ln w="12700">
            <a:solidFill>
              <a:srgbClr val="3A3A3A"/>
            </a:solidFill>
            <a:prstDash val="solid"/>
          </a:ln>
        </p:spPr>
      </p:sp>
      <p:sp>
        <p:nvSpPr>
          <p:cNvPr id="3" name="Shape 1"/>
          <p:cNvSpPr/>
          <p:nvPr/>
        </p:nvSpPr>
        <p:spPr>
          <a:xfrm>
            <a:off x="274320" y="274320"/>
            <a:ext cx="0" cy="146304"/>
          </a:xfrm>
          <a:prstGeom prst="line">
            <a:avLst/>
          </a:prstGeom>
          <a:noFill/>
          <a:ln w="12700">
            <a:solidFill>
              <a:srgbClr val="3A3A3A"/>
            </a:solidFill>
            <a:prstDash val="solid"/>
          </a:ln>
        </p:spPr>
      </p:sp>
      <p:sp>
        <p:nvSpPr>
          <p:cNvPr id="4" name="Shape 2"/>
          <p:cNvSpPr/>
          <p:nvPr/>
        </p:nvSpPr>
        <p:spPr>
          <a:xfrm>
            <a:off x="11917375" y="274320"/>
            <a:ext cx="-146304" cy="0"/>
          </a:xfrm>
          <a:prstGeom prst="line">
            <a:avLst/>
          </a:prstGeom>
          <a:noFill/>
          <a:ln w="12700">
            <a:solidFill>
              <a:srgbClr val="3A3A3A"/>
            </a:solidFill>
            <a:prstDash val="solid"/>
          </a:ln>
        </p:spPr>
      </p:sp>
      <p:sp>
        <p:nvSpPr>
          <p:cNvPr id="5" name="Shape 3"/>
          <p:cNvSpPr/>
          <p:nvPr/>
        </p:nvSpPr>
        <p:spPr>
          <a:xfrm>
            <a:off x="11917375" y="274320"/>
            <a:ext cx="0" cy="146304"/>
          </a:xfrm>
          <a:prstGeom prst="line">
            <a:avLst/>
          </a:prstGeom>
          <a:noFill/>
          <a:ln w="12700">
            <a:solidFill>
              <a:srgbClr val="3A3A3A"/>
            </a:solidFill>
            <a:prstDash val="solid"/>
          </a:ln>
        </p:spPr>
      </p:sp>
      <p:sp>
        <p:nvSpPr>
          <p:cNvPr id="6" name="Shape 4"/>
          <p:cNvSpPr/>
          <p:nvPr/>
        </p:nvSpPr>
        <p:spPr>
          <a:xfrm>
            <a:off x="274320" y="6583680"/>
            <a:ext cx="146304" cy="0"/>
          </a:xfrm>
          <a:prstGeom prst="line">
            <a:avLst/>
          </a:prstGeom>
          <a:noFill/>
          <a:ln w="12700">
            <a:solidFill>
              <a:srgbClr val="3A3A3A"/>
            </a:solidFill>
            <a:prstDash val="solid"/>
          </a:ln>
        </p:spPr>
      </p:sp>
      <p:sp>
        <p:nvSpPr>
          <p:cNvPr id="7" name="Shape 5"/>
          <p:cNvSpPr/>
          <p:nvPr/>
        </p:nvSpPr>
        <p:spPr>
          <a:xfrm>
            <a:off x="274320" y="6583680"/>
            <a:ext cx="0" cy="-146304"/>
          </a:xfrm>
          <a:prstGeom prst="line">
            <a:avLst/>
          </a:prstGeom>
          <a:noFill/>
          <a:ln w="12700">
            <a:solidFill>
              <a:srgbClr val="3A3A3A"/>
            </a:solidFill>
            <a:prstDash val="solid"/>
          </a:ln>
        </p:spPr>
      </p:sp>
      <p:sp>
        <p:nvSpPr>
          <p:cNvPr id="8" name="Shape 6"/>
          <p:cNvSpPr/>
          <p:nvPr/>
        </p:nvSpPr>
        <p:spPr>
          <a:xfrm>
            <a:off x="11917375" y="6583680"/>
            <a:ext cx="-146304" cy="0"/>
          </a:xfrm>
          <a:prstGeom prst="line">
            <a:avLst/>
          </a:prstGeom>
          <a:noFill/>
          <a:ln w="12700">
            <a:solidFill>
              <a:srgbClr val="3A3A3A"/>
            </a:solidFill>
            <a:prstDash val="solid"/>
          </a:ln>
        </p:spPr>
      </p:sp>
      <p:sp>
        <p:nvSpPr>
          <p:cNvPr id="9" name="Shape 7"/>
          <p:cNvSpPr/>
          <p:nvPr/>
        </p:nvSpPr>
        <p:spPr>
          <a:xfrm>
            <a:off x="11917375" y="6583680"/>
            <a:ext cx="0" cy="-146304"/>
          </a:xfrm>
          <a:prstGeom prst="line">
            <a:avLst/>
          </a:prstGeom>
          <a:noFill/>
          <a:ln w="12700">
            <a:solidFill>
              <a:srgbClr val="3A3A3A"/>
            </a:solidFill>
            <a:prstDash val="solid"/>
          </a:ln>
        </p:spPr>
      </p:sp>
      <p:sp>
        <p:nvSpPr>
          <p:cNvPr id="10" name="Text 8"/>
          <p:cNvSpPr/>
          <p:nvPr/>
        </p:nvSpPr>
        <p:spPr>
          <a:xfrm>
            <a:off x="658368" y="274320"/>
            <a:ext cx="2743200" cy="219456"/>
          </a:xfrm>
          <a:prstGeom prst="rect">
            <a:avLst/>
          </a:prstGeom>
          <a:noFill/>
          <a:ln/>
        </p:spPr>
        <p:txBody>
          <a:bodyPr wrap="square" rtlCol="0" anchor="ctr"/>
          <a:lstStyle/>
          <a:p>
            <a:pPr indent="0" marL="0">
              <a:buNone/>
            </a:pPr>
            <a:r>
              <a:rPr lang="en-US" sz="800" b="1" spc="240" kern="0" dirty="0">
                <a:solidFill>
                  <a:srgbClr val="7A7A7A"/>
                </a:solidFill>
                <a:latin typeface="Arial" pitchFamily="34" charset="0"/>
                <a:ea typeface="Arial" pitchFamily="34" charset="-122"/>
                <a:cs typeface="Arial" pitchFamily="34" charset="-120"/>
              </a:rPr>
              <a:t>CABALMESH</a:t>
            </a:r>
            <a:endParaRPr lang="en-US" sz="800" dirty="0"/>
          </a:p>
        </p:txBody>
      </p:sp>
      <p:sp>
        <p:nvSpPr>
          <p:cNvPr id="11" name="Text 9"/>
          <p:cNvSpPr/>
          <p:nvPr/>
        </p:nvSpPr>
        <p:spPr>
          <a:xfrm>
            <a:off x="6583680" y="274320"/>
            <a:ext cx="4937760" cy="219456"/>
          </a:xfrm>
          <a:prstGeom prst="rect">
            <a:avLst/>
          </a:prstGeom>
          <a:noFill/>
          <a:ln/>
        </p:spPr>
        <p:txBody>
          <a:bodyPr wrap="square" rtlCol="0" anchor="ctr"/>
          <a:lstStyle/>
          <a:p>
            <a:pPr algn="r" indent="0" marL="0">
              <a:buNone/>
            </a:pPr>
            <a:r>
              <a:rPr lang="en-US" sz="800" b="1" spc="240" kern="0" dirty="0">
                <a:solidFill>
                  <a:srgbClr val="3A3A3A"/>
                </a:solidFill>
                <a:latin typeface="Arial" pitchFamily="34" charset="0"/>
                <a:ea typeface="Arial" pitchFamily="34" charset="-122"/>
                <a:cs typeface="Arial" pitchFamily="34" charset="-120"/>
              </a:rPr>
              <a:t>ROADMAP · AUG 2026 – JAN 2027</a:t>
            </a:r>
            <a:endParaRPr lang="en-US" sz="800" dirty="0"/>
          </a:p>
        </p:txBody>
      </p:sp>
      <p:sp>
        <p:nvSpPr>
          <p:cNvPr id="12" name="Shape 10"/>
          <p:cNvSpPr/>
          <p:nvPr/>
        </p:nvSpPr>
        <p:spPr>
          <a:xfrm>
            <a:off x="658368" y="566928"/>
            <a:ext cx="10874959" cy="0"/>
          </a:xfrm>
          <a:prstGeom prst="line">
            <a:avLst/>
          </a:prstGeom>
          <a:noFill/>
          <a:ln w="12700">
            <a:solidFill>
              <a:srgbClr val="1C1C1C"/>
            </a:solidFill>
            <a:prstDash val="solid"/>
          </a:ln>
        </p:spPr>
      </p:sp>
      <p:sp>
        <p:nvSpPr>
          <p:cNvPr id="13" name="Text 11"/>
          <p:cNvSpPr/>
          <p:nvPr/>
        </p:nvSpPr>
        <p:spPr>
          <a:xfrm>
            <a:off x="10881360" y="6419088"/>
            <a:ext cx="658368" cy="219456"/>
          </a:xfrm>
          <a:prstGeom prst="rect">
            <a:avLst/>
          </a:prstGeom>
          <a:noFill/>
          <a:ln/>
        </p:spPr>
        <p:txBody>
          <a:bodyPr wrap="square" rtlCol="0" anchor="ctr"/>
          <a:lstStyle/>
          <a:p>
            <a:pPr algn="r" indent="0" marL="0">
              <a:buNone/>
            </a:pPr>
            <a:r>
              <a:rPr lang="en-US" sz="800" dirty="0">
                <a:solidFill>
                  <a:srgbClr val="3A3A3A"/>
                </a:solidFill>
                <a:latin typeface="Courier New" pitchFamily="34" charset="0"/>
                <a:ea typeface="Courier New" pitchFamily="34" charset="-122"/>
                <a:cs typeface="Courier New" pitchFamily="34" charset="-120"/>
              </a:rPr>
              <a:t>06</a:t>
            </a:r>
            <a:endParaRPr lang="en-US" sz="800" dirty="0"/>
          </a:p>
        </p:txBody>
      </p:sp>
      <p:sp>
        <p:nvSpPr>
          <p:cNvPr id="14" name="Text 12"/>
          <p:cNvSpPr/>
          <p:nvPr/>
        </p:nvSpPr>
        <p:spPr>
          <a:xfrm>
            <a:off x="658368" y="786384"/>
            <a:ext cx="8229600" cy="237744"/>
          </a:xfrm>
          <a:prstGeom prst="rect">
            <a:avLst/>
          </a:prstGeom>
          <a:noFill/>
          <a:ln/>
        </p:spPr>
        <p:txBody>
          <a:bodyPr wrap="square" rtlCol="0" anchor="ctr"/>
          <a:lstStyle/>
          <a:p>
            <a:pPr indent="0" marL="0">
              <a:buNone/>
            </a:pPr>
            <a:r>
              <a:rPr lang="en-US" sz="950" b="1" spc="240" kern="0" dirty="0">
                <a:solidFill>
                  <a:srgbClr val="00E5FF"/>
                </a:solidFill>
                <a:latin typeface="Arial" pitchFamily="34" charset="0"/>
                <a:ea typeface="Arial" pitchFamily="34" charset="-122"/>
                <a:cs typeface="Arial" pitchFamily="34" charset="-120"/>
              </a:rPr>
              <a:t>PHASE 02 · DEMAND · SEP – OCT 2026</a:t>
            </a:r>
            <a:endParaRPr lang="en-US" sz="950" dirty="0"/>
          </a:p>
        </p:txBody>
      </p:sp>
      <p:sp>
        <p:nvSpPr>
          <p:cNvPr id="15" name="Text 13"/>
          <p:cNvSpPr/>
          <p:nvPr/>
        </p:nvSpPr>
        <p:spPr>
          <a:xfrm>
            <a:off x="658368" y="1097280"/>
            <a:ext cx="8778240" cy="731520"/>
          </a:xfrm>
          <a:prstGeom prst="rect">
            <a:avLst/>
          </a:prstGeom>
          <a:noFill/>
          <a:ln/>
        </p:spPr>
        <p:txBody>
          <a:bodyPr wrap="square" rtlCol="0" anchor="ctr"/>
          <a:lstStyle/>
          <a:p>
            <a:pPr indent="0" marL="0">
              <a:lnSpc>
                <a:spcPct val="112000"/>
              </a:lnSpc>
              <a:buNone/>
            </a:pPr>
            <a:r>
              <a:rPr lang="en-US" sz="2700" b="1" dirty="0">
                <a:solidFill>
                  <a:srgbClr val="FFFFFF"/>
                </a:solidFill>
                <a:latin typeface="Arial" pitchFamily="34" charset="0"/>
                <a:ea typeface="Arial" pitchFamily="34" charset="-122"/>
                <a:cs typeface="Arial" pitchFamily="34" charset="-120"/>
              </a:rPr>
              <a:t>Something people can hold and buy</a:t>
            </a:r>
            <a:endParaRPr lang="en-US" sz="2700" dirty="0"/>
          </a:p>
        </p:txBody>
      </p:sp>
      <p:sp>
        <p:nvSpPr>
          <p:cNvPr id="16" name="Shape 14"/>
          <p:cNvSpPr/>
          <p:nvPr/>
        </p:nvSpPr>
        <p:spPr>
          <a:xfrm>
            <a:off x="10424160" y="804672"/>
            <a:ext cx="1097280" cy="201168"/>
          </a:xfrm>
          <a:prstGeom prst="rect">
            <a:avLst/>
          </a:prstGeom>
          <a:ln w="12700">
            <a:solidFill>
              <a:srgbClr val="BEBEBE"/>
            </a:solidFill>
            <a:prstDash val="solid"/>
          </a:ln>
        </p:spPr>
      </p:sp>
      <p:sp>
        <p:nvSpPr>
          <p:cNvPr id="17" name="Text 15"/>
          <p:cNvSpPr/>
          <p:nvPr/>
        </p:nvSpPr>
        <p:spPr>
          <a:xfrm>
            <a:off x="10424160" y="800100"/>
            <a:ext cx="1097280" cy="201168"/>
          </a:xfrm>
          <a:prstGeom prst="rect">
            <a:avLst/>
          </a:prstGeom>
          <a:noFill/>
          <a:ln/>
        </p:spPr>
        <p:txBody>
          <a:bodyPr wrap="square" rtlCol="0" anchor="ctr"/>
          <a:lstStyle/>
          <a:p>
            <a:pPr algn="ctr" indent="0" marL="0">
              <a:buNone/>
            </a:pPr>
            <a:r>
              <a:rPr lang="en-US" sz="750" b="1" spc="120" kern="0" dirty="0">
                <a:solidFill>
                  <a:srgbClr val="BEBEBE"/>
                </a:solidFill>
                <a:latin typeface="Arial" pitchFamily="34" charset="0"/>
                <a:ea typeface="Arial" pitchFamily="34" charset="-122"/>
                <a:cs typeface="Arial" pitchFamily="34" charset="-120"/>
              </a:rPr>
              <a:t>NEXT</a:t>
            </a:r>
            <a:endParaRPr lang="en-US" sz="750" dirty="0"/>
          </a:p>
        </p:txBody>
      </p:sp>
      <p:sp>
        <p:nvSpPr>
          <p:cNvPr id="18" name="Text 16"/>
          <p:cNvSpPr/>
          <p:nvPr/>
        </p:nvSpPr>
        <p:spPr>
          <a:xfrm>
            <a:off x="658368" y="1847088"/>
            <a:ext cx="9692640" cy="640080"/>
          </a:xfrm>
          <a:prstGeom prst="rect">
            <a:avLst/>
          </a:prstGeom>
          <a:noFill/>
          <a:ln/>
        </p:spPr>
        <p:txBody>
          <a:bodyPr wrap="square" rtlCol="0" anchor="ctr"/>
          <a:lstStyle/>
          <a:p>
            <a:pPr indent="0" marL="0">
              <a:lnSpc>
                <a:spcPct val="134000"/>
              </a:lnSpc>
              <a:buNone/>
            </a:pPr>
            <a:r>
              <a:rPr lang="en-US" sz="1250" dirty="0">
                <a:solidFill>
                  <a:srgbClr val="BEBEBE"/>
                </a:solidFill>
                <a:latin typeface="Arial" pitchFamily="34" charset="0"/>
                <a:ea typeface="Arial" pitchFamily="34" charset="-122"/>
                <a:cs typeface="Arial" pitchFamily="34" charset="-120"/>
              </a:rPr>
              <a:t>A mesh is invisible, and invisible things do not sell. Two devices turn the idea into something a person can point at — and into the first thing we can take money for.</a:t>
            </a:r>
            <a:endParaRPr lang="en-US" sz="1250" dirty="0"/>
          </a:p>
        </p:txBody>
      </p:sp>
      <p:sp>
        <p:nvSpPr>
          <p:cNvPr id="19" name="Shape 17"/>
          <p:cNvSpPr/>
          <p:nvPr/>
        </p:nvSpPr>
        <p:spPr>
          <a:xfrm>
            <a:off x="658368" y="2706624"/>
            <a:ext cx="5276088" cy="2743200"/>
          </a:xfrm>
          <a:prstGeom prst="rect">
            <a:avLst/>
          </a:prstGeom>
          <a:solidFill>
            <a:srgbClr val="0D0D0D"/>
          </a:solidFill>
          <a:ln w="12700">
            <a:solidFill>
              <a:srgbClr val="1C1C1C"/>
            </a:solidFill>
            <a:prstDash val="solid"/>
          </a:ln>
        </p:spPr>
      </p:sp>
      <p:pic>
        <p:nvPicPr>
          <p:cNvPr id="20" name="Image 0" descr="/Users/mac/dev/Cabal-Mesh/docs/pitch/src/deck-shadowbox.png">    </p:cNvPr>
          <p:cNvPicPr>
            <a:picLocks noChangeAspect="1"/>
          </p:cNvPicPr>
          <p:nvPr/>
        </p:nvPicPr>
        <p:blipFill>
          <a:blip r:embed="rId1"/>
          <a:srcRect l="0" r="0" t="0" b="0"/>
          <a:stretch/>
        </p:blipFill>
        <p:spPr>
          <a:xfrm>
            <a:off x="676656" y="2724912"/>
            <a:ext cx="5239512" cy="1426464"/>
          </a:xfrm>
          <a:prstGeom prst="rect">
            <a:avLst/>
          </a:prstGeom>
        </p:spPr>
      </p:pic>
      <p:sp>
        <p:nvSpPr>
          <p:cNvPr id="21" name="Text 18"/>
          <p:cNvSpPr/>
          <p:nvPr/>
        </p:nvSpPr>
        <p:spPr>
          <a:xfrm>
            <a:off x="969264" y="4315968"/>
            <a:ext cx="4654296" cy="219456"/>
          </a:xfrm>
          <a:prstGeom prst="rect">
            <a:avLst/>
          </a:prstGeom>
          <a:noFill/>
          <a:ln/>
        </p:spPr>
        <p:txBody>
          <a:bodyPr wrap="square" rtlCol="0" anchor="ctr"/>
          <a:lstStyle/>
          <a:p>
            <a:pPr algn="l" indent="0" marL="0">
              <a:buNone/>
            </a:pPr>
            <a:r>
              <a:rPr lang="en-US" sz="800" b="1" spc="200" kern="0" dirty="0">
                <a:solidFill>
                  <a:srgbClr val="00E5FF"/>
                </a:solidFill>
                <a:latin typeface="Arial" pitchFamily="34" charset="0"/>
                <a:ea typeface="Arial" pitchFamily="34" charset="-122"/>
                <a:cs typeface="Arial" pitchFamily="34" charset="-120"/>
              </a:rPr>
              <a:t>MESH YOU CAN HOLD</a:t>
            </a:r>
            <a:endParaRPr lang="en-US" sz="800" dirty="0"/>
          </a:p>
        </p:txBody>
      </p:sp>
      <p:sp>
        <p:nvSpPr>
          <p:cNvPr id="22" name="Text 19"/>
          <p:cNvSpPr/>
          <p:nvPr/>
        </p:nvSpPr>
        <p:spPr>
          <a:xfrm>
            <a:off x="969264" y="4535424"/>
            <a:ext cx="4654296" cy="310896"/>
          </a:xfrm>
          <a:prstGeom prst="rect">
            <a:avLst/>
          </a:prstGeom>
          <a:noFill/>
          <a:ln/>
        </p:spPr>
        <p:txBody>
          <a:bodyPr wrap="square" rtlCol="0" anchor="t"/>
          <a:lstStyle/>
          <a:p>
            <a:pPr algn="l" indent="0" marL="0">
              <a:lnSpc>
                <a:spcPct val="130000"/>
              </a:lnSpc>
              <a:buNone/>
            </a:pPr>
            <a:r>
              <a:rPr lang="en-US" sz="1600" b="1" dirty="0">
                <a:solidFill>
                  <a:srgbClr val="FFFFFF"/>
                </a:solidFill>
                <a:latin typeface="Arial" pitchFamily="34" charset="0"/>
                <a:ea typeface="Arial" pitchFamily="34" charset="-122"/>
                <a:cs typeface="Arial" pitchFamily="34" charset="-120"/>
              </a:rPr>
              <a:t>SHADOWBOX</a:t>
            </a:r>
            <a:endParaRPr lang="en-US" sz="1600" dirty="0"/>
          </a:p>
        </p:txBody>
      </p:sp>
      <p:sp>
        <p:nvSpPr>
          <p:cNvPr id="23" name="Text 20"/>
          <p:cNvSpPr/>
          <p:nvPr/>
        </p:nvSpPr>
        <p:spPr>
          <a:xfrm>
            <a:off x="969264" y="4882896"/>
            <a:ext cx="4654296" cy="548640"/>
          </a:xfrm>
          <a:prstGeom prst="rect">
            <a:avLst/>
          </a:prstGeom>
          <a:noFill/>
          <a:ln/>
        </p:spPr>
        <p:txBody>
          <a:bodyPr wrap="square" rtlCol="0" anchor="t"/>
          <a:lstStyle/>
          <a:p>
            <a:pPr algn="l" indent="0" marL="0">
              <a:lnSpc>
                <a:spcPct val="130000"/>
              </a:lnSpc>
              <a:buNone/>
            </a:pPr>
            <a:r>
              <a:rPr lang="en-US" sz="960" dirty="0">
                <a:solidFill>
                  <a:srgbClr val="BEBEBE"/>
                </a:solidFill>
                <a:latin typeface="Arial" pitchFamily="34" charset="0"/>
                <a:ea typeface="Arial" pitchFamily="34" charset="-122"/>
                <a:cs typeface="Arial" pitchFamily="34" charset="-120"/>
              </a:rPr>
              <a:t>One node: it relays for the neighbourhood, runs the model that reads your sentence, and proves you can afford something without saying what you hold.</a:t>
            </a:r>
            <a:endParaRPr lang="en-US" sz="960" dirty="0"/>
          </a:p>
        </p:txBody>
      </p:sp>
      <p:sp>
        <p:nvSpPr>
          <p:cNvPr id="24" name="Shape 21"/>
          <p:cNvSpPr/>
          <p:nvPr/>
        </p:nvSpPr>
        <p:spPr>
          <a:xfrm>
            <a:off x="6245352" y="2706624"/>
            <a:ext cx="5276088" cy="2743200"/>
          </a:xfrm>
          <a:prstGeom prst="rect">
            <a:avLst/>
          </a:prstGeom>
          <a:solidFill>
            <a:srgbClr val="0D0D0D"/>
          </a:solidFill>
          <a:ln w="12700">
            <a:solidFill>
              <a:srgbClr val="1C1C1C"/>
            </a:solidFill>
            <a:prstDash val="solid"/>
          </a:ln>
        </p:spPr>
      </p:sp>
      <p:pic>
        <p:nvPicPr>
          <p:cNvPr id="25" name="Image 1" descr="/Users/mac/dev/Cabal-Mesh/docs/pitch/src/deck-nobody.png">    </p:cNvPr>
          <p:cNvPicPr>
            <a:picLocks noChangeAspect="1"/>
          </p:cNvPicPr>
          <p:nvPr/>
        </p:nvPicPr>
        <p:blipFill>
          <a:blip r:embed="rId2"/>
          <a:srcRect l="0" r="0" t="0" b="0"/>
          <a:stretch/>
        </p:blipFill>
        <p:spPr>
          <a:xfrm>
            <a:off x="6263640" y="2724912"/>
            <a:ext cx="5239512" cy="1426464"/>
          </a:xfrm>
          <a:prstGeom prst="rect">
            <a:avLst/>
          </a:prstGeom>
        </p:spPr>
      </p:pic>
      <p:sp>
        <p:nvSpPr>
          <p:cNvPr id="26" name="Text 22"/>
          <p:cNvSpPr/>
          <p:nvPr/>
        </p:nvSpPr>
        <p:spPr>
          <a:xfrm>
            <a:off x="6556248" y="4315968"/>
            <a:ext cx="4654296" cy="219456"/>
          </a:xfrm>
          <a:prstGeom prst="rect">
            <a:avLst/>
          </a:prstGeom>
          <a:noFill/>
          <a:ln/>
        </p:spPr>
        <p:txBody>
          <a:bodyPr wrap="square" rtlCol="0" anchor="ctr"/>
          <a:lstStyle/>
          <a:p>
            <a:pPr algn="l" indent="0" marL="0">
              <a:buNone/>
            </a:pPr>
            <a:r>
              <a:rPr lang="en-US" sz="800" b="1" spc="200" kern="0" dirty="0">
                <a:solidFill>
                  <a:srgbClr val="00E5FF"/>
                </a:solidFill>
                <a:latin typeface="Arial" pitchFamily="34" charset="0"/>
                <a:ea typeface="Arial" pitchFamily="34" charset="-122"/>
                <a:cs typeface="Arial" pitchFamily="34" charset="-120"/>
              </a:rPr>
              <a:t>ESCROW YOU CAN TOUCH</a:t>
            </a:r>
            <a:endParaRPr lang="en-US" sz="800" dirty="0"/>
          </a:p>
        </p:txBody>
      </p:sp>
      <p:sp>
        <p:nvSpPr>
          <p:cNvPr id="27" name="Text 23"/>
          <p:cNvSpPr/>
          <p:nvPr/>
        </p:nvSpPr>
        <p:spPr>
          <a:xfrm>
            <a:off x="6556248" y="4535424"/>
            <a:ext cx="4654296" cy="310896"/>
          </a:xfrm>
          <a:prstGeom prst="rect">
            <a:avLst/>
          </a:prstGeom>
          <a:noFill/>
          <a:ln/>
        </p:spPr>
        <p:txBody>
          <a:bodyPr wrap="square" rtlCol="0" anchor="t"/>
          <a:lstStyle/>
          <a:p>
            <a:pPr algn="l" indent="0" marL="0">
              <a:lnSpc>
                <a:spcPct val="130000"/>
              </a:lnSpc>
              <a:buNone/>
            </a:pPr>
            <a:r>
              <a:rPr lang="en-US" sz="1600" b="1" dirty="0">
                <a:solidFill>
                  <a:srgbClr val="FFFFFF"/>
                </a:solidFill>
                <a:latin typeface="Arial" pitchFamily="34" charset="0"/>
                <a:ea typeface="Arial" pitchFamily="34" charset="-122"/>
                <a:cs typeface="Arial" pitchFamily="34" charset="-120"/>
              </a:rPr>
              <a:t>THE NOBODY BOX</a:t>
            </a:r>
            <a:endParaRPr lang="en-US" sz="1600" dirty="0"/>
          </a:p>
        </p:txBody>
      </p:sp>
      <p:sp>
        <p:nvSpPr>
          <p:cNvPr id="28" name="Text 24"/>
          <p:cNvSpPr/>
          <p:nvPr/>
        </p:nvSpPr>
        <p:spPr>
          <a:xfrm>
            <a:off x="6556248" y="4882896"/>
            <a:ext cx="4654296" cy="548640"/>
          </a:xfrm>
          <a:prstGeom prst="rect">
            <a:avLst/>
          </a:prstGeom>
          <a:noFill/>
          <a:ln/>
        </p:spPr>
        <p:txBody>
          <a:bodyPr wrap="square" rtlCol="0" anchor="t"/>
          <a:lstStyle/>
          <a:p>
            <a:pPr algn="l" indent="0" marL="0">
              <a:lnSpc>
                <a:spcPct val="130000"/>
              </a:lnSpc>
              <a:buNone/>
            </a:pPr>
            <a:r>
              <a:rPr lang="en-US" sz="960" dirty="0">
                <a:solidFill>
                  <a:srgbClr val="BEBEBE"/>
                </a:solidFill>
                <a:latin typeface="Arial" pitchFamily="34" charset="0"/>
                <a:ea typeface="Arial" pitchFamily="34" charset="-122"/>
                <a:cs typeface="Arial" pitchFamily="34" charset="-120"/>
              </a:rPr>
              <a:t>A parcel locker whose bolt turns on the on-chain release. The seller drops it in, the buyer opens it, and nobody in between ever could.</a:t>
            </a:r>
            <a:endParaRPr lang="en-US" sz="960" dirty="0"/>
          </a:p>
        </p:txBody>
      </p:sp>
      <p:sp>
        <p:nvSpPr>
          <p:cNvPr id="29" name="Text 25"/>
          <p:cNvSpPr/>
          <p:nvPr/>
        </p:nvSpPr>
        <p:spPr>
          <a:xfrm>
            <a:off x="658368" y="5596128"/>
            <a:ext cx="10515600" cy="365760"/>
          </a:xfrm>
          <a:prstGeom prst="rect">
            <a:avLst/>
          </a:prstGeom>
          <a:noFill/>
          <a:ln/>
        </p:spPr>
        <p:txBody>
          <a:bodyPr wrap="square" rtlCol="0" anchor="t"/>
          <a:lstStyle/>
          <a:p>
            <a:pPr algn="l" indent="0" marL="0">
              <a:lnSpc>
                <a:spcPct val="130000"/>
              </a:lnSpc>
              <a:buNone/>
            </a:pPr>
            <a:r>
              <a:rPr lang="en-US" sz="980" dirty="0">
                <a:solidFill>
                  <a:srgbClr val="7A7A7A"/>
                </a:solidFill>
                <a:latin typeface="Arial" pitchFamily="34" charset="0"/>
                <a:ea typeface="Arial" pitchFamily="34" charset="-122"/>
                <a:cs typeface="Arial" pitchFamily="34" charset="-120"/>
              </a:rPr>
              <a:t>Concept renders and a pre-order page do not wait on manufacturing. Demand is validated first, tooling second — the waitlist decides whether a batch is ever produced.</a:t>
            </a:r>
            <a:endParaRPr lang="en-US" sz="980" dirty="0"/>
          </a:p>
        </p:txBody>
      </p:sp>
      <p:sp>
        <p:nvSpPr>
          <p:cNvPr id="30" name="Shape 26"/>
          <p:cNvSpPr/>
          <p:nvPr/>
        </p:nvSpPr>
        <p:spPr>
          <a:xfrm>
            <a:off x="658368" y="5943600"/>
            <a:ext cx="10874959" cy="658368"/>
          </a:xfrm>
          <a:prstGeom prst="rect">
            <a:avLst/>
          </a:prstGeom>
          <a:solidFill>
            <a:srgbClr val="141414"/>
          </a:solidFill>
          <a:ln w="12700">
            <a:solidFill>
              <a:srgbClr val="2A2A2A"/>
            </a:solidFill>
            <a:prstDash val="solid"/>
          </a:ln>
        </p:spPr>
      </p:sp>
      <p:sp>
        <p:nvSpPr>
          <p:cNvPr id="31" name="Text 27"/>
          <p:cNvSpPr/>
          <p:nvPr/>
        </p:nvSpPr>
        <p:spPr>
          <a:xfrm>
            <a:off x="950976" y="6071616"/>
            <a:ext cx="10289743" cy="438912"/>
          </a:xfrm>
          <a:prstGeom prst="rect">
            <a:avLst/>
          </a:prstGeom>
          <a:noFill/>
          <a:ln/>
        </p:spPr>
        <p:txBody>
          <a:bodyPr wrap="square" rtlCol="0" anchor="t"/>
          <a:lstStyle/>
          <a:p>
            <a:pPr algn="l" indent="0" marL="0">
              <a:lnSpc>
                <a:spcPct val="130000"/>
              </a:lnSpc>
              <a:buNone/>
            </a:pPr>
            <a:r>
              <a:rPr lang="en-US" sz="980" dirty="0">
                <a:solidFill>
                  <a:srgbClr val="FFFFFF"/>
                </a:solidFill>
                <a:latin typeface="Arial" pitchFamily="34" charset="0"/>
                <a:ea typeface="Arial" pitchFamily="34" charset="-122"/>
                <a:cs typeface="Arial" pitchFamily="34" charset="-120"/>
              </a:rPr>
              <a:t>MILESTONE — both devices have finished renders, a pre-order page is live, and the first campaign has reached an audience beyond our own testers.</a:t>
            </a:r>
            <a:endParaRPr lang="en-US" sz="9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274320" y="274320"/>
            <a:ext cx="146304" cy="0"/>
          </a:xfrm>
          <a:prstGeom prst="line">
            <a:avLst/>
          </a:prstGeom>
          <a:noFill/>
          <a:ln w="12700">
            <a:solidFill>
              <a:srgbClr val="3A3A3A"/>
            </a:solidFill>
            <a:prstDash val="solid"/>
          </a:ln>
        </p:spPr>
      </p:sp>
      <p:sp>
        <p:nvSpPr>
          <p:cNvPr id="3" name="Shape 1"/>
          <p:cNvSpPr/>
          <p:nvPr/>
        </p:nvSpPr>
        <p:spPr>
          <a:xfrm>
            <a:off x="274320" y="274320"/>
            <a:ext cx="0" cy="146304"/>
          </a:xfrm>
          <a:prstGeom prst="line">
            <a:avLst/>
          </a:prstGeom>
          <a:noFill/>
          <a:ln w="12700">
            <a:solidFill>
              <a:srgbClr val="3A3A3A"/>
            </a:solidFill>
            <a:prstDash val="solid"/>
          </a:ln>
        </p:spPr>
      </p:sp>
      <p:sp>
        <p:nvSpPr>
          <p:cNvPr id="4" name="Shape 2"/>
          <p:cNvSpPr/>
          <p:nvPr/>
        </p:nvSpPr>
        <p:spPr>
          <a:xfrm>
            <a:off x="11917375" y="274320"/>
            <a:ext cx="-146304" cy="0"/>
          </a:xfrm>
          <a:prstGeom prst="line">
            <a:avLst/>
          </a:prstGeom>
          <a:noFill/>
          <a:ln w="12700">
            <a:solidFill>
              <a:srgbClr val="3A3A3A"/>
            </a:solidFill>
            <a:prstDash val="solid"/>
          </a:ln>
        </p:spPr>
      </p:sp>
      <p:sp>
        <p:nvSpPr>
          <p:cNvPr id="5" name="Shape 3"/>
          <p:cNvSpPr/>
          <p:nvPr/>
        </p:nvSpPr>
        <p:spPr>
          <a:xfrm>
            <a:off x="11917375" y="274320"/>
            <a:ext cx="0" cy="146304"/>
          </a:xfrm>
          <a:prstGeom prst="line">
            <a:avLst/>
          </a:prstGeom>
          <a:noFill/>
          <a:ln w="12700">
            <a:solidFill>
              <a:srgbClr val="3A3A3A"/>
            </a:solidFill>
            <a:prstDash val="solid"/>
          </a:ln>
        </p:spPr>
      </p:sp>
      <p:sp>
        <p:nvSpPr>
          <p:cNvPr id="6" name="Shape 4"/>
          <p:cNvSpPr/>
          <p:nvPr/>
        </p:nvSpPr>
        <p:spPr>
          <a:xfrm>
            <a:off x="274320" y="6583680"/>
            <a:ext cx="146304" cy="0"/>
          </a:xfrm>
          <a:prstGeom prst="line">
            <a:avLst/>
          </a:prstGeom>
          <a:noFill/>
          <a:ln w="12700">
            <a:solidFill>
              <a:srgbClr val="3A3A3A"/>
            </a:solidFill>
            <a:prstDash val="solid"/>
          </a:ln>
        </p:spPr>
      </p:sp>
      <p:sp>
        <p:nvSpPr>
          <p:cNvPr id="7" name="Shape 5"/>
          <p:cNvSpPr/>
          <p:nvPr/>
        </p:nvSpPr>
        <p:spPr>
          <a:xfrm>
            <a:off x="274320" y="6583680"/>
            <a:ext cx="0" cy="-146304"/>
          </a:xfrm>
          <a:prstGeom prst="line">
            <a:avLst/>
          </a:prstGeom>
          <a:noFill/>
          <a:ln w="12700">
            <a:solidFill>
              <a:srgbClr val="3A3A3A"/>
            </a:solidFill>
            <a:prstDash val="solid"/>
          </a:ln>
        </p:spPr>
      </p:sp>
      <p:sp>
        <p:nvSpPr>
          <p:cNvPr id="8" name="Shape 6"/>
          <p:cNvSpPr/>
          <p:nvPr/>
        </p:nvSpPr>
        <p:spPr>
          <a:xfrm>
            <a:off x="11917375" y="6583680"/>
            <a:ext cx="-146304" cy="0"/>
          </a:xfrm>
          <a:prstGeom prst="line">
            <a:avLst/>
          </a:prstGeom>
          <a:noFill/>
          <a:ln w="12700">
            <a:solidFill>
              <a:srgbClr val="3A3A3A"/>
            </a:solidFill>
            <a:prstDash val="solid"/>
          </a:ln>
        </p:spPr>
      </p:sp>
      <p:sp>
        <p:nvSpPr>
          <p:cNvPr id="9" name="Shape 7"/>
          <p:cNvSpPr/>
          <p:nvPr/>
        </p:nvSpPr>
        <p:spPr>
          <a:xfrm>
            <a:off x="11917375" y="6583680"/>
            <a:ext cx="0" cy="-146304"/>
          </a:xfrm>
          <a:prstGeom prst="line">
            <a:avLst/>
          </a:prstGeom>
          <a:noFill/>
          <a:ln w="12700">
            <a:solidFill>
              <a:srgbClr val="3A3A3A"/>
            </a:solidFill>
            <a:prstDash val="solid"/>
          </a:ln>
        </p:spPr>
      </p:sp>
      <p:sp>
        <p:nvSpPr>
          <p:cNvPr id="10" name="Text 8"/>
          <p:cNvSpPr/>
          <p:nvPr/>
        </p:nvSpPr>
        <p:spPr>
          <a:xfrm>
            <a:off x="658368" y="274320"/>
            <a:ext cx="2743200" cy="219456"/>
          </a:xfrm>
          <a:prstGeom prst="rect">
            <a:avLst/>
          </a:prstGeom>
          <a:noFill/>
          <a:ln/>
        </p:spPr>
        <p:txBody>
          <a:bodyPr wrap="square" rtlCol="0" anchor="ctr"/>
          <a:lstStyle/>
          <a:p>
            <a:pPr indent="0" marL="0">
              <a:buNone/>
            </a:pPr>
            <a:r>
              <a:rPr lang="en-US" sz="800" b="1" spc="240" kern="0" dirty="0">
                <a:solidFill>
                  <a:srgbClr val="7A7A7A"/>
                </a:solidFill>
                <a:latin typeface="Arial" pitchFamily="34" charset="0"/>
                <a:ea typeface="Arial" pitchFamily="34" charset="-122"/>
                <a:cs typeface="Arial" pitchFamily="34" charset="-120"/>
              </a:rPr>
              <a:t>CABALMESH</a:t>
            </a:r>
            <a:endParaRPr lang="en-US" sz="800" dirty="0"/>
          </a:p>
        </p:txBody>
      </p:sp>
      <p:sp>
        <p:nvSpPr>
          <p:cNvPr id="11" name="Text 9"/>
          <p:cNvSpPr/>
          <p:nvPr/>
        </p:nvSpPr>
        <p:spPr>
          <a:xfrm>
            <a:off x="6583680" y="274320"/>
            <a:ext cx="4937760" cy="219456"/>
          </a:xfrm>
          <a:prstGeom prst="rect">
            <a:avLst/>
          </a:prstGeom>
          <a:noFill/>
          <a:ln/>
        </p:spPr>
        <p:txBody>
          <a:bodyPr wrap="square" rtlCol="0" anchor="ctr"/>
          <a:lstStyle/>
          <a:p>
            <a:pPr algn="r" indent="0" marL="0">
              <a:buNone/>
            </a:pPr>
            <a:r>
              <a:rPr lang="en-US" sz="800" b="1" spc="240" kern="0" dirty="0">
                <a:solidFill>
                  <a:srgbClr val="3A3A3A"/>
                </a:solidFill>
                <a:latin typeface="Arial" pitchFamily="34" charset="0"/>
                <a:ea typeface="Arial" pitchFamily="34" charset="-122"/>
                <a:cs typeface="Arial" pitchFamily="34" charset="-120"/>
              </a:rPr>
              <a:t>ROADMAP · AUG 2026 – JAN 2027</a:t>
            </a:r>
            <a:endParaRPr lang="en-US" sz="800" dirty="0"/>
          </a:p>
        </p:txBody>
      </p:sp>
      <p:sp>
        <p:nvSpPr>
          <p:cNvPr id="12" name="Shape 10"/>
          <p:cNvSpPr/>
          <p:nvPr/>
        </p:nvSpPr>
        <p:spPr>
          <a:xfrm>
            <a:off x="658368" y="566928"/>
            <a:ext cx="10874959" cy="0"/>
          </a:xfrm>
          <a:prstGeom prst="line">
            <a:avLst/>
          </a:prstGeom>
          <a:noFill/>
          <a:ln w="12700">
            <a:solidFill>
              <a:srgbClr val="1C1C1C"/>
            </a:solidFill>
            <a:prstDash val="solid"/>
          </a:ln>
        </p:spPr>
      </p:sp>
      <p:sp>
        <p:nvSpPr>
          <p:cNvPr id="13" name="Text 11"/>
          <p:cNvSpPr/>
          <p:nvPr/>
        </p:nvSpPr>
        <p:spPr>
          <a:xfrm>
            <a:off x="10881360" y="6419088"/>
            <a:ext cx="658368" cy="219456"/>
          </a:xfrm>
          <a:prstGeom prst="rect">
            <a:avLst/>
          </a:prstGeom>
          <a:noFill/>
          <a:ln/>
        </p:spPr>
        <p:txBody>
          <a:bodyPr wrap="square" rtlCol="0" anchor="ctr"/>
          <a:lstStyle/>
          <a:p>
            <a:pPr algn="r" indent="0" marL="0">
              <a:buNone/>
            </a:pPr>
            <a:r>
              <a:rPr lang="en-US" sz="800" dirty="0">
                <a:solidFill>
                  <a:srgbClr val="3A3A3A"/>
                </a:solidFill>
                <a:latin typeface="Courier New" pitchFamily="34" charset="0"/>
                <a:ea typeface="Courier New" pitchFamily="34" charset="-122"/>
                <a:cs typeface="Courier New" pitchFamily="34" charset="-120"/>
              </a:rPr>
              <a:t>07</a:t>
            </a:r>
            <a:endParaRPr lang="en-US" sz="800" dirty="0"/>
          </a:p>
        </p:txBody>
      </p:sp>
      <p:sp>
        <p:nvSpPr>
          <p:cNvPr id="14" name="Text 12"/>
          <p:cNvSpPr/>
          <p:nvPr/>
        </p:nvSpPr>
        <p:spPr>
          <a:xfrm>
            <a:off x="658368" y="786384"/>
            <a:ext cx="8229600" cy="237744"/>
          </a:xfrm>
          <a:prstGeom prst="rect">
            <a:avLst/>
          </a:prstGeom>
          <a:noFill/>
          <a:ln/>
        </p:spPr>
        <p:txBody>
          <a:bodyPr wrap="square" rtlCol="0" anchor="ctr"/>
          <a:lstStyle/>
          <a:p>
            <a:pPr indent="0" marL="0">
              <a:buNone/>
            </a:pPr>
            <a:r>
              <a:rPr lang="en-US" sz="950" b="1" spc="240" kern="0" dirty="0">
                <a:solidFill>
                  <a:srgbClr val="00E5FF"/>
                </a:solidFill>
                <a:latin typeface="Arial" pitchFamily="34" charset="0"/>
                <a:ea typeface="Arial" pitchFamily="34" charset="-122"/>
                <a:cs typeface="Arial" pitchFamily="34" charset="-120"/>
              </a:rPr>
              <a:t>MARKETING PLAN</a:t>
            </a:r>
            <a:endParaRPr lang="en-US" sz="950" dirty="0"/>
          </a:p>
        </p:txBody>
      </p:sp>
      <p:sp>
        <p:nvSpPr>
          <p:cNvPr id="15" name="Text 13"/>
          <p:cNvSpPr/>
          <p:nvPr/>
        </p:nvSpPr>
        <p:spPr>
          <a:xfrm>
            <a:off x="658368" y="1097280"/>
            <a:ext cx="9875520" cy="914400"/>
          </a:xfrm>
          <a:prstGeom prst="rect">
            <a:avLst/>
          </a:prstGeom>
          <a:noFill/>
          <a:ln/>
        </p:spPr>
        <p:txBody>
          <a:bodyPr wrap="square" rtlCol="0" anchor="ctr"/>
          <a:lstStyle/>
          <a:p>
            <a:pPr indent="0" marL="0">
              <a:lnSpc>
                <a:spcPct val="112000"/>
              </a:lnSpc>
              <a:buNone/>
            </a:pPr>
            <a:r>
              <a:rPr lang="en-US" sz="2600" b="1" dirty="0">
                <a:solidFill>
                  <a:srgbClr val="FFFFFF"/>
                </a:solidFill>
                <a:latin typeface="Arial" pitchFamily="34" charset="0"/>
                <a:ea typeface="Arial" pitchFamily="34" charset="-122"/>
                <a:cs typeface="Arial" pitchFamily="34" charset="-120"/>
              </a:rPr>
              <a:t>Earn attention from people who can check the claim.</a:t>
            </a:r>
            <a:endParaRPr lang="en-US" sz="2600" dirty="0"/>
          </a:p>
        </p:txBody>
      </p:sp>
      <p:sp>
        <p:nvSpPr>
          <p:cNvPr id="16" name="Shape 14"/>
          <p:cNvSpPr/>
          <p:nvPr/>
        </p:nvSpPr>
        <p:spPr>
          <a:xfrm>
            <a:off x="658368" y="2377440"/>
            <a:ext cx="6035040" cy="1956816"/>
          </a:xfrm>
          <a:prstGeom prst="rect">
            <a:avLst/>
          </a:prstGeom>
          <a:solidFill>
            <a:srgbClr val="0D0D0D"/>
          </a:solidFill>
          <a:ln w="12700">
            <a:solidFill>
              <a:srgbClr val="1C1C1C"/>
            </a:solidFill>
            <a:prstDash val="solid"/>
          </a:ln>
        </p:spPr>
      </p:sp>
      <p:sp>
        <p:nvSpPr>
          <p:cNvPr id="17" name="Shape 15"/>
          <p:cNvSpPr/>
          <p:nvPr/>
        </p:nvSpPr>
        <p:spPr>
          <a:xfrm>
            <a:off x="658368" y="2377440"/>
            <a:ext cx="6035040" cy="25603"/>
          </a:xfrm>
          <a:prstGeom prst="rect">
            <a:avLst/>
          </a:prstGeom>
          <a:solidFill>
            <a:srgbClr val="00E5FF"/>
          </a:solidFill>
          <a:ln/>
        </p:spPr>
      </p:sp>
      <p:sp>
        <p:nvSpPr>
          <p:cNvPr id="18" name="Text 16"/>
          <p:cNvSpPr/>
          <p:nvPr/>
        </p:nvSpPr>
        <p:spPr>
          <a:xfrm>
            <a:off x="987552" y="2670048"/>
            <a:ext cx="5376672" cy="219456"/>
          </a:xfrm>
          <a:prstGeom prst="rect">
            <a:avLst/>
          </a:prstGeom>
          <a:noFill/>
          <a:ln/>
        </p:spPr>
        <p:txBody>
          <a:bodyPr wrap="square" rtlCol="0" anchor="ctr"/>
          <a:lstStyle/>
          <a:p>
            <a:pPr algn="l" indent="0" marL="0">
              <a:buNone/>
            </a:pPr>
            <a:r>
              <a:rPr lang="en-US" sz="850" b="1" spc="200" kern="0" dirty="0">
                <a:solidFill>
                  <a:srgbClr val="00E5FF"/>
                </a:solidFill>
                <a:latin typeface="Arial" pitchFamily="34" charset="0"/>
                <a:ea typeface="Arial" pitchFamily="34" charset="-122"/>
                <a:cs typeface="Arial" pitchFamily="34" charset="-120"/>
              </a:rPr>
              <a:t>WHO WE TALK TO, IN ORDER</a:t>
            </a:r>
            <a:endParaRPr lang="en-US" sz="850" dirty="0"/>
          </a:p>
        </p:txBody>
      </p:sp>
      <p:sp>
        <p:nvSpPr>
          <p:cNvPr id="19" name="Shape 17"/>
          <p:cNvSpPr/>
          <p:nvPr/>
        </p:nvSpPr>
        <p:spPr>
          <a:xfrm>
            <a:off x="987552" y="3172968"/>
            <a:ext cx="118872" cy="0"/>
          </a:xfrm>
          <a:prstGeom prst="line">
            <a:avLst/>
          </a:prstGeom>
          <a:noFill/>
          <a:ln w="12700">
            <a:solidFill>
              <a:srgbClr val="3A3A3A"/>
            </a:solidFill>
            <a:prstDash val="solid"/>
          </a:ln>
        </p:spPr>
      </p:sp>
      <p:sp>
        <p:nvSpPr>
          <p:cNvPr id="20" name="Text 18"/>
          <p:cNvSpPr/>
          <p:nvPr/>
        </p:nvSpPr>
        <p:spPr>
          <a:xfrm>
            <a:off x="1225296" y="3072384"/>
            <a:ext cx="5120640" cy="365760"/>
          </a:xfrm>
          <a:prstGeom prst="rect">
            <a:avLst/>
          </a:prstGeom>
          <a:noFill/>
          <a:ln/>
        </p:spPr>
        <p:txBody>
          <a:bodyPr wrap="square" rtlCol="0" anchor="t"/>
          <a:lstStyle/>
          <a:p>
            <a:pPr algn="l" indent="0" marL="0">
              <a:lnSpc>
                <a:spcPct val="130000"/>
              </a:lnSpc>
              <a:buNone/>
            </a:pPr>
            <a:r>
              <a:rPr lang="en-US" sz="940" dirty="0">
                <a:solidFill>
                  <a:srgbClr val="BEBEBE"/>
                </a:solidFill>
                <a:latin typeface="Arial" pitchFamily="34" charset="0"/>
                <a:ea typeface="Arial" pitchFamily="34" charset="-122"/>
                <a:cs typeface="Arial" pitchFamily="34" charset="-120"/>
              </a:rPr>
              <a:t>Avalanche builders and ecosystem circles — they read code, so proof travels fast</a:t>
            </a:r>
            <a:endParaRPr lang="en-US" sz="940" dirty="0"/>
          </a:p>
        </p:txBody>
      </p:sp>
      <p:sp>
        <p:nvSpPr>
          <p:cNvPr id="21" name="Shape 19"/>
          <p:cNvSpPr/>
          <p:nvPr/>
        </p:nvSpPr>
        <p:spPr>
          <a:xfrm>
            <a:off x="987552" y="3575304"/>
            <a:ext cx="118872" cy="0"/>
          </a:xfrm>
          <a:prstGeom prst="line">
            <a:avLst/>
          </a:prstGeom>
          <a:noFill/>
          <a:ln w="12700">
            <a:solidFill>
              <a:srgbClr val="3A3A3A"/>
            </a:solidFill>
            <a:prstDash val="solid"/>
          </a:ln>
        </p:spPr>
      </p:sp>
      <p:sp>
        <p:nvSpPr>
          <p:cNvPr id="22" name="Text 20"/>
          <p:cNvSpPr/>
          <p:nvPr/>
        </p:nvSpPr>
        <p:spPr>
          <a:xfrm>
            <a:off x="1225296" y="3474720"/>
            <a:ext cx="5120640" cy="365760"/>
          </a:xfrm>
          <a:prstGeom prst="rect">
            <a:avLst/>
          </a:prstGeom>
          <a:noFill/>
          <a:ln/>
        </p:spPr>
        <p:txBody>
          <a:bodyPr wrap="square" rtlCol="0" anchor="t"/>
          <a:lstStyle/>
          <a:p>
            <a:pPr algn="l" indent="0" marL="0">
              <a:lnSpc>
                <a:spcPct val="130000"/>
              </a:lnSpc>
              <a:buNone/>
            </a:pPr>
            <a:r>
              <a:rPr lang="en-US" sz="940" dirty="0">
                <a:solidFill>
                  <a:srgbClr val="BEBEBE"/>
                </a:solidFill>
                <a:latin typeface="Arial" pitchFamily="34" charset="0"/>
                <a:ea typeface="Arial" pitchFamily="34" charset="-122"/>
                <a:cs typeface="Arial" pitchFamily="34" charset="-120"/>
              </a:rPr>
              <a:t>Privacy and crypto-hardware buyers — a category that already buys a physical device</a:t>
            </a:r>
            <a:endParaRPr lang="en-US" sz="940" dirty="0"/>
          </a:p>
        </p:txBody>
      </p:sp>
      <p:sp>
        <p:nvSpPr>
          <p:cNvPr id="23" name="Shape 21"/>
          <p:cNvSpPr/>
          <p:nvPr/>
        </p:nvSpPr>
        <p:spPr>
          <a:xfrm>
            <a:off x="987552" y="3977640"/>
            <a:ext cx="118872" cy="0"/>
          </a:xfrm>
          <a:prstGeom prst="line">
            <a:avLst/>
          </a:prstGeom>
          <a:noFill/>
          <a:ln w="12700">
            <a:solidFill>
              <a:srgbClr val="3A3A3A"/>
            </a:solidFill>
            <a:prstDash val="solid"/>
          </a:ln>
        </p:spPr>
      </p:sp>
      <p:sp>
        <p:nvSpPr>
          <p:cNvPr id="24" name="Text 22"/>
          <p:cNvSpPr/>
          <p:nvPr/>
        </p:nvSpPr>
        <p:spPr>
          <a:xfrm>
            <a:off x="1225296" y="3877056"/>
            <a:ext cx="5120640" cy="365760"/>
          </a:xfrm>
          <a:prstGeom prst="rect">
            <a:avLst/>
          </a:prstGeom>
          <a:noFill/>
          <a:ln/>
        </p:spPr>
        <p:txBody>
          <a:bodyPr wrap="square" rtlCol="0" anchor="t"/>
          <a:lstStyle/>
          <a:p>
            <a:pPr algn="l" indent="0" marL="0">
              <a:lnSpc>
                <a:spcPct val="130000"/>
              </a:lnSpc>
              <a:buNone/>
            </a:pPr>
            <a:r>
              <a:rPr lang="en-US" sz="940" dirty="0">
                <a:solidFill>
                  <a:srgbClr val="BEBEBE"/>
                </a:solidFill>
                <a:latin typeface="Arial" pitchFamily="34" charset="0"/>
                <a:ea typeface="Arial" pitchFamily="34" charset="-122"/>
                <a:cs typeface="Arial" pitchFamily="34" charset="-120"/>
              </a:rPr>
              <a:t>Off-grid, disaster and local-trade communities — most loyal once it works</a:t>
            </a:r>
            <a:endParaRPr lang="en-US" sz="940" dirty="0"/>
          </a:p>
        </p:txBody>
      </p:sp>
      <p:sp>
        <p:nvSpPr>
          <p:cNvPr id="25" name="Shape 23"/>
          <p:cNvSpPr/>
          <p:nvPr/>
        </p:nvSpPr>
        <p:spPr>
          <a:xfrm>
            <a:off x="7004304" y="2377440"/>
            <a:ext cx="4517136" cy="1956816"/>
          </a:xfrm>
          <a:prstGeom prst="rect">
            <a:avLst/>
          </a:prstGeom>
          <a:solidFill>
            <a:srgbClr val="0D0D0D"/>
          </a:solidFill>
          <a:ln w="12700">
            <a:solidFill>
              <a:srgbClr val="1C1C1C"/>
            </a:solidFill>
            <a:prstDash val="solid"/>
          </a:ln>
        </p:spPr>
      </p:sp>
      <p:sp>
        <p:nvSpPr>
          <p:cNvPr id="26" name="Shape 24"/>
          <p:cNvSpPr/>
          <p:nvPr/>
        </p:nvSpPr>
        <p:spPr>
          <a:xfrm>
            <a:off x="7004304" y="2377440"/>
            <a:ext cx="4517136" cy="25603"/>
          </a:xfrm>
          <a:prstGeom prst="rect">
            <a:avLst/>
          </a:prstGeom>
          <a:solidFill>
            <a:srgbClr val="7A7A7A"/>
          </a:solidFill>
          <a:ln/>
        </p:spPr>
      </p:sp>
      <p:sp>
        <p:nvSpPr>
          <p:cNvPr id="27" name="Text 25"/>
          <p:cNvSpPr/>
          <p:nvPr/>
        </p:nvSpPr>
        <p:spPr>
          <a:xfrm>
            <a:off x="7333488" y="2670048"/>
            <a:ext cx="3858768" cy="219456"/>
          </a:xfrm>
          <a:prstGeom prst="rect">
            <a:avLst/>
          </a:prstGeom>
          <a:noFill/>
          <a:ln/>
        </p:spPr>
        <p:txBody>
          <a:bodyPr wrap="square" rtlCol="0" anchor="ctr"/>
          <a:lstStyle/>
          <a:p>
            <a:pPr algn="l" indent="0" marL="0">
              <a:buNone/>
            </a:pPr>
            <a:r>
              <a:rPr lang="en-US" sz="850" b="1" spc="200" kern="0" dirty="0">
                <a:solidFill>
                  <a:srgbClr val="7A7A7A"/>
                </a:solidFill>
                <a:latin typeface="Arial" pitchFamily="34" charset="0"/>
                <a:ea typeface="Arial" pitchFamily="34" charset="-122"/>
                <a:cs typeface="Arial" pitchFamily="34" charset="-120"/>
              </a:rPr>
              <a:t>WHERE</a:t>
            </a:r>
            <a:endParaRPr lang="en-US" sz="850" dirty="0"/>
          </a:p>
        </p:txBody>
      </p:sp>
      <p:sp>
        <p:nvSpPr>
          <p:cNvPr id="28" name="Shape 26"/>
          <p:cNvSpPr/>
          <p:nvPr/>
        </p:nvSpPr>
        <p:spPr>
          <a:xfrm>
            <a:off x="7333488" y="3172968"/>
            <a:ext cx="118872" cy="0"/>
          </a:xfrm>
          <a:prstGeom prst="line">
            <a:avLst/>
          </a:prstGeom>
          <a:noFill/>
          <a:ln w="12700">
            <a:solidFill>
              <a:srgbClr val="3A3A3A"/>
            </a:solidFill>
            <a:prstDash val="solid"/>
          </a:ln>
        </p:spPr>
      </p:sp>
      <p:sp>
        <p:nvSpPr>
          <p:cNvPr id="29" name="Text 27"/>
          <p:cNvSpPr/>
          <p:nvPr/>
        </p:nvSpPr>
        <p:spPr>
          <a:xfrm>
            <a:off x="7571232" y="3072384"/>
            <a:ext cx="3602736" cy="274320"/>
          </a:xfrm>
          <a:prstGeom prst="rect">
            <a:avLst/>
          </a:prstGeom>
          <a:noFill/>
          <a:ln/>
        </p:spPr>
        <p:txBody>
          <a:bodyPr wrap="square" rtlCol="0" anchor="t"/>
          <a:lstStyle/>
          <a:p>
            <a:pPr algn="l" indent="0" marL="0">
              <a:lnSpc>
                <a:spcPct val="130000"/>
              </a:lnSpc>
              <a:buNone/>
            </a:pPr>
            <a:r>
              <a:rPr lang="en-US" sz="940" dirty="0">
                <a:solidFill>
                  <a:srgbClr val="BEBEBE"/>
                </a:solidFill>
                <a:latin typeface="Arial" pitchFamily="34" charset="0"/>
                <a:ea typeface="Arial" pitchFamily="34" charset="-122"/>
                <a:cs typeface="Arial" pitchFamily="34" charset="-120"/>
              </a:rPr>
              <a:t>Ecosystem channels and demo days</a:t>
            </a:r>
            <a:endParaRPr lang="en-US" sz="940" dirty="0"/>
          </a:p>
        </p:txBody>
      </p:sp>
      <p:sp>
        <p:nvSpPr>
          <p:cNvPr id="30" name="Shape 28"/>
          <p:cNvSpPr/>
          <p:nvPr/>
        </p:nvSpPr>
        <p:spPr>
          <a:xfrm>
            <a:off x="7333488" y="3483864"/>
            <a:ext cx="118872" cy="0"/>
          </a:xfrm>
          <a:prstGeom prst="line">
            <a:avLst/>
          </a:prstGeom>
          <a:noFill/>
          <a:ln w="12700">
            <a:solidFill>
              <a:srgbClr val="3A3A3A"/>
            </a:solidFill>
            <a:prstDash val="solid"/>
          </a:ln>
        </p:spPr>
      </p:sp>
      <p:sp>
        <p:nvSpPr>
          <p:cNvPr id="31" name="Text 29"/>
          <p:cNvSpPr/>
          <p:nvPr/>
        </p:nvSpPr>
        <p:spPr>
          <a:xfrm>
            <a:off x="7571232" y="3383280"/>
            <a:ext cx="3602736" cy="274320"/>
          </a:xfrm>
          <a:prstGeom prst="rect">
            <a:avLst/>
          </a:prstGeom>
          <a:noFill/>
          <a:ln/>
        </p:spPr>
        <p:txBody>
          <a:bodyPr wrap="square" rtlCol="0" anchor="t"/>
          <a:lstStyle/>
          <a:p>
            <a:pPr algn="l" indent="0" marL="0">
              <a:lnSpc>
                <a:spcPct val="130000"/>
              </a:lnSpc>
              <a:buNone/>
            </a:pPr>
            <a:r>
              <a:rPr lang="en-US" sz="940" dirty="0">
                <a:solidFill>
                  <a:srgbClr val="BEBEBE"/>
                </a:solidFill>
                <a:latin typeface="Arial" pitchFamily="34" charset="0"/>
                <a:ea typeface="Arial" pitchFamily="34" charset="-122"/>
                <a:cs typeface="Arial" pitchFamily="34" charset="-120"/>
              </a:rPr>
              <a:t>A hands-on video, not a pitch video</a:t>
            </a:r>
            <a:endParaRPr lang="en-US" sz="940" dirty="0"/>
          </a:p>
        </p:txBody>
      </p:sp>
      <p:sp>
        <p:nvSpPr>
          <p:cNvPr id="32" name="Shape 30"/>
          <p:cNvSpPr/>
          <p:nvPr/>
        </p:nvSpPr>
        <p:spPr>
          <a:xfrm>
            <a:off x="7333488" y="3794760"/>
            <a:ext cx="118872" cy="0"/>
          </a:xfrm>
          <a:prstGeom prst="line">
            <a:avLst/>
          </a:prstGeom>
          <a:noFill/>
          <a:ln w="12700">
            <a:solidFill>
              <a:srgbClr val="3A3A3A"/>
            </a:solidFill>
            <a:prstDash val="solid"/>
          </a:ln>
        </p:spPr>
      </p:sp>
      <p:sp>
        <p:nvSpPr>
          <p:cNvPr id="33" name="Text 31"/>
          <p:cNvSpPr/>
          <p:nvPr/>
        </p:nvSpPr>
        <p:spPr>
          <a:xfrm>
            <a:off x="7571232" y="3694176"/>
            <a:ext cx="3602736" cy="274320"/>
          </a:xfrm>
          <a:prstGeom prst="rect">
            <a:avLst/>
          </a:prstGeom>
          <a:noFill/>
          <a:ln/>
        </p:spPr>
        <p:txBody>
          <a:bodyPr wrap="square" rtlCol="0" anchor="t"/>
          <a:lstStyle/>
          <a:p>
            <a:pPr algn="l" indent="0" marL="0">
              <a:lnSpc>
                <a:spcPct val="130000"/>
              </a:lnSpc>
              <a:buNone/>
            </a:pPr>
            <a:r>
              <a:rPr lang="en-US" sz="940" dirty="0">
                <a:solidFill>
                  <a:srgbClr val="BEBEBE"/>
                </a:solidFill>
                <a:latin typeface="Arial" pitchFamily="34" charset="0"/>
                <a:ea typeface="Arial" pitchFamily="34" charset="-122"/>
                <a:cs typeface="Arial" pitchFamily="34" charset="-120"/>
              </a:rPr>
              <a:t>Community launch posts and AMAs</a:t>
            </a:r>
            <a:endParaRPr lang="en-US" sz="940" dirty="0"/>
          </a:p>
        </p:txBody>
      </p:sp>
      <p:sp>
        <p:nvSpPr>
          <p:cNvPr id="34" name="Shape 32"/>
          <p:cNvSpPr/>
          <p:nvPr/>
        </p:nvSpPr>
        <p:spPr>
          <a:xfrm>
            <a:off x="7333488" y="4105656"/>
            <a:ext cx="118872" cy="0"/>
          </a:xfrm>
          <a:prstGeom prst="line">
            <a:avLst/>
          </a:prstGeom>
          <a:noFill/>
          <a:ln w="12700">
            <a:solidFill>
              <a:srgbClr val="3A3A3A"/>
            </a:solidFill>
            <a:prstDash val="solid"/>
          </a:ln>
        </p:spPr>
      </p:sp>
      <p:sp>
        <p:nvSpPr>
          <p:cNvPr id="35" name="Text 33"/>
          <p:cNvSpPr/>
          <p:nvPr/>
        </p:nvSpPr>
        <p:spPr>
          <a:xfrm>
            <a:off x="7571232" y="4005072"/>
            <a:ext cx="3602736" cy="274320"/>
          </a:xfrm>
          <a:prstGeom prst="rect">
            <a:avLst/>
          </a:prstGeom>
          <a:noFill/>
          <a:ln/>
        </p:spPr>
        <p:txBody>
          <a:bodyPr wrap="square" rtlCol="0" anchor="t"/>
          <a:lstStyle/>
          <a:p>
            <a:pPr algn="l" indent="0" marL="0">
              <a:lnSpc>
                <a:spcPct val="130000"/>
              </a:lnSpc>
              <a:buNone/>
            </a:pPr>
            <a:r>
              <a:rPr lang="en-US" sz="940" dirty="0">
                <a:solidFill>
                  <a:srgbClr val="BEBEBE"/>
                </a:solidFill>
                <a:latin typeface="Arial" pitchFamily="34" charset="0"/>
                <a:ea typeface="Arial" pitchFamily="34" charset="-122"/>
                <a:cs typeface="Arial" pitchFamily="34" charset="-120"/>
              </a:rPr>
              <a:t>Kaito mindshare campaign</a:t>
            </a:r>
            <a:endParaRPr lang="en-US" sz="940" dirty="0"/>
          </a:p>
        </p:txBody>
      </p:sp>
      <p:sp>
        <p:nvSpPr>
          <p:cNvPr id="36" name="Shape 34"/>
          <p:cNvSpPr/>
          <p:nvPr/>
        </p:nvSpPr>
        <p:spPr>
          <a:xfrm>
            <a:off x="658368" y="4553712"/>
            <a:ext cx="6035040" cy="1426464"/>
          </a:xfrm>
          <a:prstGeom prst="rect">
            <a:avLst/>
          </a:prstGeom>
          <a:solidFill>
            <a:srgbClr val="141414"/>
          </a:solidFill>
          <a:ln w="12700">
            <a:solidFill>
              <a:srgbClr val="2A2A2A"/>
            </a:solidFill>
            <a:prstDash val="solid"/>
          </a:ln>
        </p:spPr>
      </p:sp>
      <p:sp>
        <p:nvSpPr>
          <p:cNvPr id="37" name="Text 35"/>
          <p:cNvSpPr/>
          <p:nvPr/>
        </p:nvSpPr>
        <p:spPr>
          <a:xfrm>
            <a:off x="969264" y="4754880"/>
            <a:ext cx="5486400" cy="219456"/>
          </a:xfrm>
          <a:prstGeom prst="rect">
            <a:avLst/>
          </a:prstGeom>
          <a:noFill/>
          <a:ln/>
        </p:spPr>
        <p:txBody>
          <a:bodyPr wrap="square" rtlCol="0" anchor="ctr"/>
          <a:lstStyle/>
          <a:p>
            <a:pPr algn="l" indent="0" marL="0">
              <a:buNone/>
            </a:pPr>
            <a:r>
              <a:rPr lang="en-US" sz="850" b="1" spc="200" kern="0" dirty="0">
                <a:solidFill>
                  <a:srgbClr val="9BFF00"/>
                </a:solidFill>
                <a:latin typeface="Arial" pitchFamily="34" charset="0"/>
                <a:ea typeface="Arial" pitchFamily="34" charset="-122"/>
                <a:cs typeface="Arial" pitchFamily="34" charset="-120"/>
              </a:rPr>
              <a:t>THE CAMPAIGN — MESH MISSIONS</a:t>
            </a:r>
            <a:endParaRPr lang="en-US" sz="850" dirty="0"/>
          </a:p>
        </p:txBody>
      </p:sp>
      <p:sp>
        <p:nvSpPr>
          <p:cNvPr id="38" name="Text 36"/>
          <p:cNvSpPr/>
          <p:nvPr/>
        </p:nvSpPr>
        <p:spPr>
          <a:xfrm>
            <a:off x="969264" y="5010912"/>
            <a:ext cx="5440680" cy="914400"/>
          </a:xfrm>
          <a:prstGeom prst="rect">
            <a:avLst/>
          </a:prstGeom>
          <a:noFill/>
          <a:ln/>
        </p:spPr>
        <p:txBody>
          <a:bodyPr wrap="square" rtlCol="0" anchor="t"/>
          <a:lstStyle/>
          <a:p>
            <a:pPr algn="l" indent="0" marL="0">
              <a:lnSpc>
                <a:spcPct val="130000"/>
              </a:lnSpc>
              <a:buNone/>
            </a:pPr>
            <a:r>
              <a:rPr lang="en-US" sz="940" dirty="0">
                <a:solidFill>
                  <a:srgbClr val="BEBEBE"/>
                </a:solidFill>
                <a:latin typeface="Arial" pitchFamily="34" charset="0"/>
                <a:ea typeface="Arial" pitchFamily="34" charset="-122"/>
                <a:cs typeface="Arial" pitchFamily="34" charset="-120"/>
              </a:rPr>
              <a:t>Rewards go to people who actually use the thing: broadcast an intent offline, relay traffic as a gateway, complete a guardian recovery. Posting counts too, but usage is what the chain can verify. Crossing the threshold mints a non-tradable Genesis Node badge.</a:t>
            </a:r>
            <a:endParaRPr lang="en-US" sz="940" dirty="0"/>
          </a:p>
        </p:txBody>
      </p:sp>
      <p:sp>
        <p:nvSpPr>
          <p:cNvPr id="39" name="Text 37"/>
          <p:cNvSpPr/>
          <p:nvPr/>
        </p:nvSpPr>
        <p:spPr>
          <a:xfrm>
            <a:off x="7004304" y="4572000"/>
            <a:ext cx="4572000" cy="219456"/>
          </a:xfrm>
          <a:prstGeom prst="rect">
            <a:avLst/>
          </a:prstGeom>
          <a:noFill/>
          <a:ln/>
        </p:spPr>
        <p:txBody>
          <a:bodyPr wrap="square" rtlCol="0" anchor="ctr"/>
          <a:lstStyle/>
          <a:p>
            <a:pPr algn="l" indent="0" marL="0">
              <a:buNone/>
            </a:pPr>
            <a:r>
              <a:rPr lang="en-US" sz="850" b="1" spc="200" kern="0" dirty="0">
                <a:solidFill>
                  <a:srgbClr val="3A3A3A"/>
                </a:solidFill>
                <a:latin typeface="Arial" pitchFamily="34" charset="0"/>
                <a:ea typeface="Arial" pitchFamily="34" charset="-122"/>
                <a:cs typeface="Arial" pitchFamily="34" charset="-120"/>
              </a:rPr>
              <a:t>CAMPAIGN — EIGHT WEEKS</a:t>
            </a:r>
            <a:endParaRPr lang="en-US" sz="850" dirty="0"/>
          </a:p>
        </p:txBody>
      </p:sp>
      <p:sp>
        <p:nvSpPr>
          <p:cNvPr id="40" name="Text 38"/>
          <p:cNvSpPr/>
          <p:nvPr/>
        </p:nvSpPr>
        <p:spPr>
          <a:xfrm>
            <a:off x="7004304" y="4846320"/>
            <a:ext cx="731520" cy="219456"/>
          </a:xfrm>
          <a:prstGeom prst="rect">
            <a:avLst/>
          </a:prstGeom>
          <a:noFill/>
          <a:ln/>
        </p:spPr>
        <p:txBody>
          <a:bodyPr wrap="square" rtlCol="0" anchor="ctr"/>
          <a:lstStyle/>
          <a:p>
            <a:pPr algn="l" indent="0" marL="0">
              <a:buNone/>
            </a:pPr>
            <a:r>
              <a:rPr lang="en-US" sz="850" dirty="0">
                <a:solidFill>
                  <a:srgbClr val="00E5FF"/>
                </a:solidFill>
                <a:latin typeface="Courier New" pitchFamily="34" charset="0"/>
                <a:ea typeface="Courier New" pitchFamily="34" charset="-122"/>
                <a:cs typeface="Courier New" pitchFamily="34" charset="-120"/>
              </a:rPr>
              <a:t>W 1–2</a:t>
            </a:r>
            <a:endParaRPr lang="en-US" sz="850" dirty="0"/>
          </a:p>
        </p:txBody>
      </p:sp>
      <p:sp>
        <p:nvSpPr>
          <p:cNvPr id="41" name="Text 39"/>
          <p:cNvSpPr/>
          <p:nvPr/>
        </p:nvSpPr>
        <p:spPr>
          <a:xfrm>
            <a:off x="7845552" y="4828032"/>
            <a:ext cx="3657600" cy="274320"/>
          </a:xfrm>
          <a:prstGeom prst="rect">
            <a:avLst/>
          </a:prstGeom>
          <a:noFill/>
          <a:ln/>
        </p:spPr>
        <p:txBody>
          <a:bodyPr wrap="square" rtlCol="0" anchor="t"/>
          <a:lstStyle/>
          <a:p>
            <a:pPr algn="l" indent="0" marL="0">
              <a:lnSpc>
                <a:spcPct val="130000"/>
              </a:lnSpc>
              <a:buNone/>
            </a:pPr>
            <a:r>
              <a:rPr lang="en-US" sz="940" dirty="0">
                <a:solidFill>
                  <a:srgbClr val="BEBEBE"/>
                </a:solidFill>
                <a:latin typeface="Arial" pitchFamily="34" charset="0"/>
                <a:ea typeface="Arial" pitchFamily="34" charset="-122"/>
                <a:cs typeface="Arial" pitchFamily="34" charset="-120"/>
              </a:rPr>
              <a:t>Renders finished, landing copy written</a:t>
            </a:r>
            <a:endParaRPr lang="en-US" sz="940" dirty="0"/>
          </a:p>
        </p:txBody>
      </p:sp>
      <p:sp>
        <p:nvSpPr>
          <p:cNvPr id="42" name="Text 40"/>
          <p:cNvSpPr/>
          <p:nvPr/>
        </p:nvSpPr>
        <p:spPr>
          <a:xfrm>
            <a:off x="7004304" y="5157216"/>
            <a:ext cx="731520" cy="219456"/>
          </a:xfrm>
          <a:prstGeom prst="rect">
            <a:avLst/>
          </a:prstGeom>
          <a:noFill/>
          <a:ln/>
        </p:spPr>
        <p:txBody>
          <a:bodyPr wrap="square" rtlCol="0" anchor="ctr"/>
          <a:lstStyle/>
          <a:p>
            <a:pPr algn="l" indent="0" marL="0">
              <a:buNone/>
            </a:pPr>
            <a:r>
              <a:rPr lang="en-US" sz="850" dirty="0">
                <a:solidFill>
                  <a:srgbClr val="00E5FF"/>
                </a:solidFill>
                <a:latin typeface="Courier New" pitchFamily="34" charset="0"/>
                <a:ea typeface="Courier New" pitchFamily="34" charset="-122"/>
                <a:cs typeface="Courier New" pitchFamily="34" charset="-120"/>
              </a:rPr>
              <a:t>W 3–4</a:t>
            </a:r>
            <a:endParaRPr lang="en-US" sz="850" dirty="0"/>
          </a:p>
        </p:txBody>
      </p:sp>
      <p:sp>
        <p:nvSpPr>
          <p:cNvPr id="43" name="Text 41"/>
          <p:cNvSpPr/>
          <p:nvPr/>
        </p:nvSpPr>
        <p:spPr>
          <a:xfrm>
            <a:off x="7845552" y="5138928"/>
            <a:ext cx="3657600" cy="274320"/>
          </a:xfrm>
          <a:prstGeom prst="rect">
            <a:avLst/>
          </a:prstGeom>
          <a:noFill/>
          <a:ln/>
        </p:spPr>
        <p:txBody>
          <a:bodyPr wrap="square" rtlCol="0" anchor="t"/>
          <a:lstStyle/>
          <a:p>
            <a:pPr algn="l" indent="0" marL="0">
              <a:lnSpc>
                <a:spcPct val="130000"/>
              </a:lnSpc>
              <a:buNone/>
            </a:pPr>
            <a:r>
              <a:rPr lang="en-US" sz="940" dirty="0">
                <a:solidFill>
                  <a:srgbClr val="BEBEBE"/>
                </a:solidFill>
                <a:latin typeface="Arial" pitchFamily="34" charset="0"/>
                <a:ea typeface="Arial" pitchFamily="34" charset="-122"/>
                <a:cs typeface="Arial" pitchFamily="34" charset="-120"/>
              </a:rPr>
              <a:t>Teaser, waitlist opens, campaign listed</a:t>
            </a:r>
            <a:endParaRPr lang="en-US" sz="940" dirty="0"/>
          </a:p>
        </p:txBody>
      </p:sp>
      <p:sp>
        <p:nvSpPr>
          <p:cNvPr id="44" name="Text 42"/>
          <p:cNvSpPr/>
          <p:nvPr/>
        </p:nvSpPr>
        <p:spPr>
          <a:xfrm>
            <a:off x="7004304" y="5468112"/>
            <a:ext cx="731520" cy="219456"/>
          </a:xfrm>
          <a:prstGeom prst="rect">
            <a:avLst/>
          </a:prstGeom>
          <a:noFill/>
          <a:ln/>
        </p:spPr>
        <p:txBody>
          <a:bodyPr wrap="square" rtlCol="0" anchor="ctr"/>
          <a:lstStyle/>
          <a:p>
            <a:pPr algn="l" indent="0" marL="0">
              <a:buNone/>
            </a:pPr>
            <a:r>
              <a:rPr lang="en-US" sz="850" dirty="0">
                <a:solidFill>
                  <a:srgbClr val="00E5FF"/>
                </a:solidFill>
                <a:latin typeface="Courier New" pitchFamily="34" charset="0"/>
                <a:ea typeface="Courier New" pitchFamily="34" charset="-122"/>
                <a:cs typeface="Courier New" pitchFamily="34" charset="-120"/>
              </a:rPr>
              <a:t>W 5–6</a:t>
            </a:r>
            <a:endParaRPr lang="en-US" sz="850" dirty="0"/>
          </a:p>
        </p:txBody>
      </p:sp>
      <p:sp>
        <p:nvSpPr>
          <p:cNvPr id="45" name="Text 43"/>
          <p:cNvSpPr/>
          <p:nvPr/>
        </p:nvSpPr>
        <p:spPr>
          <a:xfrm>
            <a:off x="7845552" y="5449824"/>
            <a:ext cx="3657600" cy="274320"/>
          </a:xfrm>
          <a:prstGeom prst="rect">
            <a:avLst/>
          </a:prstGeom>
          <a:noFill/>
          <a:ln/>
        </p:spPr>
        <p:txBody>
          <a:bodyPr wrap="square" rtlCol="0" anchor="t"/>
          <a:lstStyle/>
          <a:p>
            <a:pPr algn="l" indent="0" marL="0">
              <a:lnSpc>
                <a:spcPct val="130000"/>
              </a:lnSpc>
              <a:buNone/>
            </a:pPr>
            <a:r>
              <a:rPr lang="en-US" sz="940" dirty="0">
                <a:solidFill>
                  <a:srgbClr val="BEBEBE"/>
                </a:solidFill>
                <a:latin typeface="Arial" pitchFamily="34" charset="0"/>
                <a:ea typeface="Arial" pitchFamily="34" charset="-122"/>
                <a:cs typeface="Arial" pitchFamily="34" charset="-120"/>
              </a:rPr>
              <a:t>Launch push, demo video, missions live</a:t>
            </a:r>
            <a:endParaRPr lang="en-US" sz="940" dirty="0"/>
          </a:p>
        </p:txBody>
      </p:sp>
      <p:sp>
        <p:nvSpPr>
          <p:cNvPr id="46" name="Text 44"/>
          <p:cNvSpPr/>
          <p:nvPr/>
        </p:nvSpPr>
        <p:spPr>
          <a:xfrm>
            <a:off x="7004304" y="5779008"/>
            <a:ext cx="731520" cy="219456"/>
          </a:xfrm>
          <a:prstGeom prst="rect">
            <a:avLst/>
          </a:prstGeom>
          <a:noFill/>
          <a:ln/>
        </p:spPr>
        <p:txBody>
          <a:bodyPr wrap="square" rtlCol="0" anchor="ctr"/>
          <a:lstStyle/>
          <a:p>
            <a:pPr algn="l" indent="0" marL="0">
              <a:buNone/>
            </a:pPr>
            <a:r>
              <a:rPr lang="en-US" sz="850" dirty="0">
                <a:solidFill>
                  <a:srgbClr val="00E5FF"/>
                </a:solidFill>
                <a:latin typeface="Courier New" pitchFamily="34" charset="0"/>
                <a:ea typeface="Courier New" pitchFamily="34" charset="-122"/>
                <a:cs typeface="Courier New" pitchFamily="34" charset="-120"/>
              </a:rPr>
              <a:t>W 7–8</a:t>
            </a:r>
            <a:endParaRPr lang="en-US" sz="850" dirty="0"/>
          </a:p>
        </p:txBody>
      </p:sp>
      <p:sp>
        <p:nvSpPr>
          <p:cNvPr id="47" name="Text 45"/>
          <p:cNvSpPr/>
          <p:nvPr/>
        </p:nvSpPr>
        <p:spPr>
          <a:xfrm>
            <a:off x="7845552" y="5760720"/>
            <a:ext cx="3657600" cy="274320"/>
          </a:xfrm>
          <a:prstGeom prst="rect">
            <a:avLst/>
          </a:prstGeom>
          <a:noFill/>
          <a:ln/>
        </p:spPr>
        <p:txBody>
          <a:bodyPr wrap="square" rtlCol="0" anchor="t"/>
          <a:lstStyle/>
          <a:p>
            <a:pPr algn="l" indent="0" marL="0">
              <a:lnSpc>
                <a:spcPct val="130000"/>
              </a:lnSpc>
              <a:buNone/>
            </a:pPr>
            <a:r>
              <a:rPr lang="en-US" sz="940" dirty="0">
                <a:solidFill>
                  <a:srgbClr val="BEBEBE"/>
                </a:solidFill>
                <a:latin typeface="Arial" pitchFamily="34" charset="0"/>
                <a:ea typeface="Arial" pitchFamily="34" charset="-122"/>
                <a:cs typeface="Arial" pitchFamily="34" charset="-120"/>
              </a:rPr>
              <a:t>Pre-order opens, badges minted</a:t>
            </a:r>
            <a:endParaRPr lang="en-US" sz="940" dirty="0"/>
          </a:p>
        </p:txBody>
      </p:sp>
      <p:sp>
        <p:nvSpPr>
          <p:cNvPr id="48" name="Shape 46"/>
          <p:cNvSpPr/>
          <p:nvPr/>
        </p:nvSpPr>
        <p:spPr>
          <a:xfrm>
            <a:off x="658368" y="6053328"/>
            <a:ext cx="10874959" cy="0"/>
          </a:xfrm>
          <a:prstGeom prst="line">
            <a:avLst/>
          </a:prstGeom>
          <a:noFill/>
          <a:ln w="12700">
            <a:solidFill>
              <a:srgbClr val="1C1C1C"/>
            </a:solidFill>
            <a:prstDash val="solid"/>
          </a:ln>
        </p:spPr>
      </p:sp>
      <p:sp>
        <p:nvSpPr>
          <p:cNvPr id="49" name="Text 47"/>
          <p:cNvSpPr/>
          <p:nvPr/>
        </p:nvSpPr>
        <p:spPr>
          <a:xfrm>
            <a:off x="658368" y="6199632"/>
            <a:ext cx="10515600" cy="274320"/>
          </a:xfrm>
          <a:prstGeom prst="rect">
            <a:avLst/>
          </a:prstGeom>
          <a:noFill/>
          <a:ln/>
        </p:spPr>
        <p:txBody>
          <a:bodyPr wrap="square" rtlCol="0" anchor="t"/>
          <a:lstStyle/>
          <a:p>
            <a:pPr algn="l" indent="0" marL="0">
              <a:lnSpc>
                <a:spcPct val="130000"/>
              </a:lnSpc>
              <a:buNone/>
            </a:pPr>
            <a:r>
              <a:rPr lang="en-US" sz="980" dirty="0">
                <a:solidFill>
                  <a:srgbClr val="7A7A7A"/>
                </a:solidFill>
                <a:latin typeface="Arial" pitchFamily="34" charset="0"/>
                <a:ea typeface="Arial" pitchFamily="34" charset="-122"/>
                <a:cs typeface="Arial" pitchFamily="34" charset="-120"/>
              </a:rPr>
              <a:t>The campaign only rewards what the network itself can verify — usage first, attention second.</a:t>
            </a:r>
            <a:endParaRPr lang="en-US" sz="9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274320" y="274320"/>
            <a:ext cx="146304" cy="0"/>
          </a:xfrm>
          <a:prstGeom prst="line">
            <a:avLst/>
          </a:prstGeom>
          <a:noFill/>
          <a:ln w="12700">
            <a:solidFill>
              <a:srgbClr val="3A3A3A"/>
            </a:solidFill>
            <a:prstDash val="solid"/>
          </a:ln>
        </p:spPr>
      </p:sp>
      <p:sp>
        <p:nvSpPr>
          <p:cNvPr id="3" name="Shape 1"/>
          <p:cNvSpPr/>
          <p:nvPr/>
        </p:nvSpPr>
        <p:spPr>
          <a:xfrm>
            <a:off x="274320" y="274320"/>
            <a:ext cx="0" cy="146304"/>
          </a:xfrm>
          <a:prstGeom prst="line">
            <a:avLst/>
          </a:prstGeom>
          <a:noFill/>
          <a:ln w="12700">
            <a:solidFill>
              <a:srgbClr val="3A3A3A"/>
            </a:solidFill>
            <a:prstDash val="solid"/>
          </a:ln>
        </p:spPr>
      </p:sp>
      <p:sp>
        <p:nvSpPr>
          <p:cNvPr id="4" name="Shape 2"/>
          <p:cNvSpPr/>
          <p:nvPr/>
        </p:nvSpPr>
        <p:spPr>
          <a:xfrm>
            <a:off x="11917375" y="274320"/>
            <a:ext cx="-146304" cy="0"/>
          </a:xfrm>
          <a:prstGeom prst="line">
            <a:avLst/>
          </a:prstGeom>
          <a:noFill/>
          <a:ln w="12700">
            <a:solidFill>
              <a:srgbClr val="3A3A3A"/>
            </a:solidFill>
            <a:prstDash val="solid"/>
          </a:ln>
        </p:spPr>
      </p:sp>
      <p:sp>
        <p:nvSpPr>
          <p:cNvPr id="5" name="Shape 3"/>
          <p:cNvSpPr/>
          <p:nvPr/>
        </p:nvSpPr>
        <p:spPr>
          <a:xfrm>
            <a:off x="11917375" y="274320"/>
            <a:ext cx="0" cy="146304"/>
          </a:xfrm>
          <a:prstGeom prst="line">
            <a:avLst/>
          </a:prstGeom>
          <a:noFill/>
          <a:ln w="12700">
            <a:solidFill>
              <a:srgbClr val="3A3A3A"/>
            </a:solidFill>
            <a:prstDash val="solid"/>
          </a:ln>
        </p:spPr>
      </p:sp>
      <p:sp>
        <p:nvSpPr>
          <p:cNvPr id="6" name="Shape 4"/>
          <p:cNvSpPr/>
          <p:nvPr/>
        </p:nvSpPr>
        <p:spPr>
          <a:xfrm>
            <a:off x="274320" y="6583680"/>
            <a:ext cx="146304" cy="0"/>
          </a:xfrm>
          <a:prstGeom prst="line">
            <a:avLst/>
          </a:prstGeom>
          <a:noFill/>
          <a:ln w="12700">
            <a:solidFill>
              <a:srgbClr val="3A3A3A"/>
            </a:solidFill>
            <a:prstDash val="solid"/>
          </a:ln>
        </p:spPr>
      </p:sp>
      <p:sp>
        <p:nvSpPr>
          <p:cNvPr id="7" name="Shape 5"/>
          <p:cNvSpPr/>
          <p:nvPr/>
        </p:nvSpPr>
        <p:spPr>
          <a:xfrm>
            <a:off x="274320" y="6583680"/>
            <a:ext cx="0" cy="-146304"/>
          </a:xfrm>
          <a:prstGeom prst="line">
            <a:avLst/>
          </a:prstGeom>
          <a:noFill/>
          <a:ln w="12700">
            <a:solidFill>
              <a:srgbClr val="3A3A3A"/>
            </a:solidFill>
            <a:prstDash val="solid"/>
          </a:ln>
        </p:spPr>
      </p:sp>
      <p:sp>
        <p:nvSpPr>
          <p:cNvPr id="8" name="Shape 6"/>
          <p:cNvSpPr/>
          <p:nvPr/>
        </p:nvSpPr>
        <p:spPr>
          <a:xfrm>
            <a:off x="11917375" y="6583680"/>
            <a:ext cx="-146304" cy="0"/>
          </a:xfrm>
          <a:prstGeom prst="line">
            <a:avLst/>
          </a:prstGeom>
          <a:noFill/>
          <a:ln w="12700">
            <a:solidFill>
              <a:srgbClr val="3A3A3A"/>
            </a:solidFill>
            <a:prstDash val="solid"/>
          </a:ln>
        </p:spPr>
      </p:sp>
      <p:sp>
        <p:nvSpPr>
          <p:cNvPr id="9" name="Shape 7"/>
          <p:cNvSpPr/>
          <p:nvPr/>
        </p:nvSpPr>
        <p:spPr>
          <a:xfrm>
            <a:off x="11917375" y="6583680"/>
            <a:ext cx="0" cy="-146304"/>
          </a:xfrm>
          <a:prstGeom prst="line">
            <a:avLst/>
          </a:prstGeom>
          <a:noFill/>
          <a:ln w="12700">
            <a:solidFill>
              <a:srgbClr val="3A3A3A"/>
            </a:solidFill>
            <a:prstDash val="solid"/>
          </a:ln>
        </p:spPr>
      </p:sp>
      <p:sp>
        <p:nvSpPr>
          <p:cNvPr id="10" name="Text 8"/>
          <p:cNvSpPr/>
          <p:nvPr/>
        </p:nvSpPr>
        <p:spPr>
          <a:xfrm>
            <a:off x="658368" y="274320"/>
            <a:ext cx="2743200" cy="219456"/>
          </a:xfrm>
          <a:prstGeom prst="rect">
            <a:avLst/>
          </a:prstGeom>
          <a:noFill/>
          <a:ln/>
        </p:spPr>
        <p:txBody>
          <a:bodyPr wrap="square" rtlCol="0" anchor="ctr"/>
          <a:lstStyle/>
          <a:p>
            <a:pPr indent="0" marL="0">
              <a:buNone/>
            </a:pPr>
            <a:r>
              <a:rPr lang="en-US" sz="800" b="1" spc="240" kern="0" dirty="0">
                <a:solidFill>
                  <a:srgbClr val="7A7A7A"/>
                </a:solidFill>
                <a:latin typeface="Arial" pitchFamily="34" charset="0"/>
                <a:ea typeface="Arial" pitchFamily="34" charset="-122"/>
                <a:cs typeface="Arial" pitchFamily="34" charset="-120"/>
              </a:rPr>
              <a:t>CABALMESH</a:t>
            </a:r>
            <a:endParaRPr lang="en-US" sz="800" dirty="0"/>
          </a:p>
        </p:txBody>
      </p:sp>
      <p:sp>
        <p:nvSpPr>
          <p:cNvPr id="11" name="Text 9"/>
          <p:cNvSpPr/>
          <p:nvPr/>
        </p:nvSpPr>
        <p:spPr>
          <a:xfrm>
            <a:off x="6583680" y="274320"/>
            <a:ext cx="4937760" cy="219456"/>
          </a:xfrm>
          <a:prstGeom prst="rect">
            <a:avLst/>
          </a:prstGeom>
          <a:noFill/>
          <a:ln/>
        </p:spPr>
        <p:txBody>
          <a:bodyPr wrap="square" rtlCol="0" anchor="ctr"/>
          <a:lstStyle/>
          <a:p>
            <a:pPr algn="r" indent="0" marL="0">
              <a:buNone/>
            </a:pPr>
            <a:r>
              <a:rPr lang="en-US" sz="800" b="1" spc="240" kern="0" dirty="0">
                <a:solidFill>
                  <a:srgbClr val="3A3A3A"/>
                </a:solidFill>
                <a:latin typeface="Arial" pitchFamily="34" charset="0"/>
                <a:ea typeface="Arial" pitchFamily="34" charset="-122"/>
                <a:cs typeface="Arial" pitchFamily="34" charset="-120"/>
              </a:rPr>
              <a:t>ROADMAP · AUG 2026 – JAN 2027</a:t>
            </a:r>
            <a:endParaRPr lang="en-US" sz="800" dirty="0"/>
          </a:p>
        </p:txBody>
      </p:sp>
      <p:sp>
        <p:nvSpPr>
          <p:cNvPr id="12" name="Shape 10"/>
          <p:cNvSpPr/>
          <p:nvPr/>
        </p:nvSpPr>
        <p:spPr>
          <a:xfrm>
            <a:off x="658368" y="566928"/>
            <a:ext cx="10874959" cy="0"/>
          </a:xfrm>
          <a:prstGeom prst="line">
            <a:avLst/>
          </a:prstGeom>
          <a:noFill/>
          <a:ln w="12700">
            <a:solidFill>
              <a:srgbClr val="1C1C1C"/>
            </a:solidFill>
            <a:prstDash val="solid"/>
          </a:ln>
        </p:spPr>
      </p:sp>
      <p:sp>
        <p:nvSpPr>
          <p:cNvPr id="13" name="Text 11"/>
          <p:cNvSpPr/>
          <p:nvPr/>
        </p:nvSpPr>
        <p:spPr>
          <a:xfrm>
            <a:off x="10881360" y="6419088"/>
            <a:ext cx="658368" cy="219456"/>
          </a:xfrm>
          <a:prstGeom prst="rect">
            <a:avLst/>
          </a:prstGeom>
          <a:noFill/>
          <a:ln/>
        </p:spPr>
        <p:txBody>
          <a:bodyPr wrap="square" rtlCol="0" anchor="ctr"/>
          <a:lstStyle/>
          <a:p>
            <a:pPr algn="r" indent="0" marL="0">
              <a:buNone/>
            </a:pPr>
            <a:r>
              <a:rPr lang="en-US" sz="800" dirty="0">
                <a:solidFill>
                  <a:srgbClr val="3A3A3A"/>
                </a:solidFill>
                <a:latin typeface="Courier New" pitchFamily="34" charset="0"/>
                <a:ea typeface="Courier New" pitchFamily="34" charset="-122"/>
                <a:cs typeface="Courier New" pitchFamily="34" charset="-120"/>
              </a:rPr>
              <a:t>08</a:t>
            </a:r>
            <a:endParaRPr lang="en-US" sz="800" dirty="0"/>
          </a:p>
        </p:txBody>
      </p:sp>
      <p:sp>
        <p:nvSpPr>
          <p:cNvPr id="14" name="Text 12"/>
          <p:cNvSpPr/>
          <p:nvPr/>
        </p:nvSpPr>
        <p:spPr>
          <a:xfrm>
            <a:off x="658368" y="786384"/>
            <a:ext cx="8229600" cy="237744"/>
          </a:xfrm>
          <a:prstGeom prst="rect">
            <a:avLst/>
          </a:prstGeom>
          <a:noFill/>
          <a:ln/>
        </p:spPr>
        <p:txBody>
          <a:bodyPr wrap="square" rtlCol="0" anchor="ctr"/>
          <a:lstStyle/>
          <a:p>
            <a:pPr indent="0" marL="0">
              <a:buNone/>
            </a:pPr>
            <a:r>
              <a:rPr lang="en-US" sz="950" b="1" spc="240" kern="0" dirty="0">
                <a:solidFill>
                  <a:srgbClr val="00E5FF"/>
                </a:solidFill>
                <a:latin typeface="Arial" pitchFamily="34" charset="0"/>
                <a:ea typeface="Arial" pitchFamily="34" charset="-122"/>
                <a:cs typeface="Arial" pitchFamily="34" charset="-120"/>
              </a:rPr>
              <a:t>PHASE 03 · ECONOMY · OCT – NOV 2026</a:t>
            </a:r>
            <a:endParaRPr lang="en-US" sz="950" dirty="0"/>
          </a:p>
        </p:txBody>
      </p:sp>
      <p:sp>
        <p:nvSpPr>
          <p:cNvPr id="15" name="Text 13"/>
          <p:cNvSpPr/>
          <p:nvPr/>
        </p:nvSpPr>
        <p:spPr>
          <a:xfrm>
            <a:off x="658368" y="1097280"/>
            <a:ext cx="8778240" cy="731520"/>
          </a:xfrm>
          <a:prstGeom prst="rect">
            <a:avLst/>
          </a:prstGeom>
          <a:noFill/>
          <a:ln/>
        </p:spPr>
        <p:txBody>
          <a:bodyPr wrap="square" rtlCol="0" anchor="ctr"/>
          <a:lstStyle/>
          <a:p>
            <a:pPr indent="0" marL="0">
              <a:lnSpc>
                <a:spcPct val="112000"/>
              </a:lnSpc>
              <a:buNone/>
            </a:pPr>
            <a:r>
              <a:rPr lang="en-US" sz="2700" b="1" dirty="0">
                <a:solidFill>
                  <a:srgbClr val="FFFFFF"/>
                </a:solidFill>
                <a:latin typeface="Arial" pitchFamily="34" charset="0"/>
                <a:ea typeface="Arial" pitchFamily="34" charset="-122"/>
                <a:cs typeface="Arial" pitchFamily="34" charset="-120"/>
              </a:rPr>
              <a:t>A network that pays its own users</a:t>
            </a:r>
            <a:endParaRPr lang="en-US" sz="2700" dirty="0"/>
          </a:p>
        </p:txBody>
      </p:sp>
      <p:sp>
        <p:nvSpPr>
          <p:cNvPr id="16" name="Shape 14"/>
          <p:cNvSpPr/>
          <p:nvPr/>
        </p:nvSpPr>
        <p:spPr>
          <a:xfrm>
            <a:off x="10424160" y="804672"/>
            <a:ext cx="1097280" cy="201168"/>
          </a:xfrm>
          <a:prstGeom prst="rect">
            <a:avLst/>
          </a:prstGeom>
          <a:ln w="12700">
            <a:solidFill>
              <a:srgbClr val="BEBEBE"/>
            </a:solidFill>
            <a:prstDash val="solid"/>
          </a:ln>
        </p:spPr>
      </p:sp>
      <p:sp>
        <p:nvSpPr>
          <p:cNvPr id="17" name="Text 15"/>
          <p:cNvSpPr/>
          <p:nvPr/>
        </p:nvSpPr>
        <p:spPr>
          <a:xfrm>
            <a:off x="10424160" y="800100"/>
            <a:ext cx="1097280" cy="201168"/>
          </a:xfrm>
          <a:prstGeom prst="rect">
            <a:avLst/>
          </a:prstGeom>
          <a:noFill/>
          <a:ln/>
        </p:spPr>
        <p:txBody>
          <a:bodyPr wrap="square" rtlCol="0" anchor="ctr"/>
          <a:lstStyle/>
          <a:p>
            <a:pPr algn="ctr" indent="0" marL="0">
              <a:buNone/>
            </a:pPr>
            <a:r>
              <a:rPr lang="en-US" sz="750" b="1" spc="120" kern="0" dirty="0">
                <a:solidFill>
                  <a:srgbClr val="BEBEBE"/>
                </a:solidFill>
                <a:latin typeface="Arial" pitchFamily="34" charset="0"/>
                <a:ea typeface="Arial" pitchFamily="34" charset="-122"/>
                <a:cs typeface="Arial" pitchFamily="34" charset="-120"/>
              </a:rPr>
              <a:t>NEXT</a:t>
            </a:r>
            <a:endParaRPr lang="en-US" sz="750" dirty="0"/>
          </a:p>
        </p:txBody>
      </p:sp>
      <p:sp>
        <p:nvSpPr>
          <p:cNvPr id="18" name="Text 16"/>
          <p:cNvSpPr/>
          <p:nvPr/>
        </p:nvSpPr>
        <p:spPr>
          <a:xfrm>
            <a:off x="658368" y="1847088"/>
            <a:ext cx="9692640" cy="640080"/>
          </a:xfrm>
          <a:prstGeom prst="rect">
            <a:avLst/>
          </a:prstGeom>
          <a:noFill/>
          <a:ln/>
        </p:spPr>
        <p:txBody>
          <a:bodyPr wrap="square" rtlCol="0" anchor="ctr"/>
          <a:lstStyle/>
          <a:p>
            <a:pPr indent="0" marL="0">
              <a:lnSpc>
                <a:spcPct val="134000"/>
              </a:lnSpc>
              <a:buNone/>
            </a:pPr>
            <a:r>
              <a:rPr lang="en-US" sz="1250" dirty="0">
                <a:solidFill>
                  <a:srgbClr val="BEBEBE"/>
                </a:solidFill>
                <a:latin typeface="Arial" pitchFamily="34" charset="0"/>
                <a:ea typeface="Arial" pitchFamily="34" charset="-122"/>
                <a:cs typeface="Arial" pitchFamily="34" charset="-120"/>
              </a:rPr>
              <a:t>Growth only helps a mesh if new users become new nodes. The in-app economy makes relaying for other people the most profitable thing a user can do.</a:t>
            </a:r>
            <a:endParaRPr lang="en-US" sz="1250" dirty="0"/>
          </a:p>
        </p:txBody>
      </p:sp>
      <p:sp>
        <p:nvSpPr>
          <p:cNvPr id="19" name="Shape 17"/>
          <p:cNvSpPr/>
          <p:nvPr/>
        </p:nvSpPr>
        <p:spPr>
          <a:xfrm>
            <a:off x="658368" y="2688336"/>
            <a:ext cx="2487168" cy="1371600"/>
          </a:xfrm>
          <a:prstGeom prst="rect">
            <a:avLst/>
          </a:prstGeom>
          <a:solidFill>
            <a:srgbClr val="0D0D0D"/>
          </a:solidFill>
          <a:ln w="12700">
            <a:solidFill>
              <a:srgbClr val="1C1C1C"/>
            </a:solidFill>
            <a:prstDash val="solid"/>
          </a:ln>
        </p:spPr>
      </p:sp>
      <p:sp>
        <p:nvSpPr>
          <p:cNvPr id="20" name="Text 18"/>
          <p:cNvSpPr/>
          <p:nvPr/>
        </p:nvSpPr>
        <p:spPr>
          <a:xfrm>
            <a:off x="932688" y="2889504"/>
            <a:ext cx="640080" cy="237744"/>
          </a:xfrm>
          <a:prstGeom prst="rect">
            <a:avLst/>
          </a:prstGeom>
          <a:noFill/>
          <a:ln/>
        </p:spPr>
        <p:txBody>
          <a:bodyPr wrap="square" rtlCol="0" anchor="ctr"/>
          <a:lstStyle/>
          <a:p>
            <a:pPr indent="0" marL="0">
              <a:buNone/>
            </a:pPr>
            <a:r>
              <a:rPr lang="en-US" sz="950" b="1" dirty="0">
                <a:solidFill>
                  <a:srgbClr val="00E5FF"/>
                </a:solidFill>
                <a:latin typeface="Courier New" pitchFamily="34" charset="0"/>
                <a:ea typeface="Courier New" pitchFamily="34" charset="-122"/>
                <a:cs typeface="Courier New" pitchFamily="34" charset="-120"/>
              </a:rPr>
              <a:t>01</a:t>
            </a:r>
            <a:endParaRPr lang="en-US" sz="950" dirty="0"/>
          </a:p>
        </p:txBody>
      </p:sp>
      <p:sp>
        <p:nvSpPr>
          <p:cNvPr id="21" name="Text 19"/>
          <p:cNvSpPr/>
          <p:nvPr/>
        </p:nvSpPr>
        <p:spPr>
          <a:xfrm>
            <a:off x="932688" y="3200400"/>
            <a:ext cx="1938528" cy="274320"/>
          </a:xfrm>
          <a:prstGeom prst="rect">
            <a:avLst/>
          </a:prstGeom>
          <a:noFill/>
          <a:ln/>
        </p:spPr>
        <p:txBody>
          <a:bodyPr wrap="square" rtlCol="0" anchor="t"/>
          <a:lstStyle/>
          <a:p>
            <a:pPr algn="l" indent="0" marL="0">
              <a:lnSpc>
                <a:spcPct val="130000"/>
              </a:lnSpc>
              <a:buNone/>
            </a:pPr>
            <a:r>
              <a:rPr lang="en-US" sz="1300" b="1" dirty="0">
                <a:solidFill>
                  <a:srgbClr val="FFFFFF"/>
                </a:solidFill>
                <a:latin typeface="Arial" pitchFamily="34" charset="0"/>
                <a:ea typeface="Arial" pitchFamily="34" charset="-122"/>
                <a:cs typeface="Arial" pitchFamily="34" charset="-120"/>
              </a:rPr>
              <a:t>RELAY</a:t>
            </a:r>
            <a:endParaRPr lang="en-US" sz="1300" dirty="0"/>
          </a:p>
        </p:txBody>
      </p:sp>
      <p:sp>
        <p:nvSpPr>
          <p:cNvPr id="22" name="Text 20"/>
          <p:cNvSpPr/>
          <p:nvPr/>
        </p:nvSpPr>
        <p:spPr>
          <a:xfrm>
            <a:off x="932688" y="3529584"/>
            <a:ext cx="1938528" cy="457200"/>
          </a:xfrm>
          <a:prstGeom prst="rect">
            <a:avLst/>
          </a:prstGeom>
          <a:noFill/>
          <a:ln/>
        </p:spPr>
        <p:txBody>
          <a:bodyPr wrap="square" rtlCol="0" anchor="t"/>
          <a:lstStyle/>
          <a:p>
            <a:pPr algn="l" indent="0" marL="0">
              <a:lnSpc>
                <a:spcPct val="130000"/>
              </a:lnSpc>
              <a:buNone/>
            </a:pPr>
            <a:r>
              <a:rPr lang="en-US" sz="900" dirty="0">
                <a:solidFill>
                  <a:srgbClr val="BEBEBE"/>
                </a:solidFill>
                <a:latin typeface="Arial" pitchFamily="34" charset="0"/>
                <a:ea typeface="Arial" pitchFamily="34" charset="-122"/>
                <a:cs typeface="Arial" pitchFamily="34" charset="-120"/>
              </a:rPr>
              <a:t>Carry other people’s traffic as a gateway.</a:t>
            </a:r>
            <a:endParaRPr lang="en-US" sz="900" dirty="0"/>
          </a:p>
        </p:txBody>
      </p:sp>
      <p:sp>
        <p:nvSpPr>
          <p:cNvPr id="23" name="Shape 21"/>
          <p:cNvSpPr/>
          <p:nvPr/>
        </p:nvSpPr>
        <p:spPr>
          <a:xfrm>
            <a:off x="3200400" y="3346704"/>
            <a:ext cx="196596" cy="0"/>
          </a:xfrm>
          <a:prstGeom prst="line">
            <a:avLst/>
          </a:prstGeom>
          <a:noFill/>
          <a:ln w="12700">
            <a:solidFill>
              <a:srgbClr val="3A3A3A"/>
            </a:solidFill>
            <a:prstDash val="solid"/>
          </a:ln>
        </p:spPr>
      </p:sp>
      <p:sp>
        <p:nvSpPr>
          <p:cNvPr id="24" name="Shape 22"/>
          <p:cNvSpPr/>
          <p:nvPr/>
        </p:nvSpPr>
        <p:spPr>
          <a:xfrm>
            <a:off x="3451860" y="2688336"/>
            <a:ext cx="2487168" cy="1371600"/>
          </a:xfrm>
          <a:prstGeom prst="rect">
            <a:avLst/>
          </a:prstGeom>
          <a:solidFill>
            <a:srgbClr val="0D0D0D"/>
          </a:solidFill>
          <a:ln w="12700">
            <a:solidFill>
              <a:srgbClr val="1C1C1C"/>
            </a:solidFill>
            <a:prstDash val="solid"/>
          </a:ln>
        </p:spPr>
      </p:sp>
      <p:sp>
        <p:nvSpPr>
          <p:cNvPr id="25" name="Text 23"/>
          <p:cNvSpPr/>
          <p:nvPr/>
        </p:nvSpPr>
        <p:spPr>
          <a:xfrm>
            <a:off x="3726180" y="2889504"/>
            <a:ext cx="640080" cy="237744"/>
          </a:xfrm>
          <a:prstGeom prst="rect">
            <a:avLst/>
          </a:prstGeom>
          <a:noFill/>
          <a:ln/>
        </p:spPr>
        <p:txBody>
          <a:bodyPr wrap="square" rtlCol="0" anchor="ctr"/>
          <a:lstStyle/>
          <a:p>
            <a:pPr indent="0" marL="0">
              <a:buNone/>
            </a:pPr>
            <a:r>
              <a:rPr lang="en-US" sz="950" b="1" dirty="0">
                <a:solidFill>
                  <a:srgbClr val="00E5FF"/>
                </a:solidFill>
                <a:latin typeface="Courier New" pitchFamily="34" charset="0"/>
                <a:ea typeface="Courier New" pitchFamily="34" charset="-122"/>
                <a:cs typeface="Courier New" pitchFamily="34" charset="-120"/>
              </a:rPr>
              <a:t>02</a:t>
            </a:r>
            <a:endParaRPr lang="en-US" sz="950" dirty="0"/>
          </a:p>
        </p:txBody>
      </p:sp>
      <p:sp>
        <p:nvSpPr>
          <p:cNvPr id="26" name="Text 24"/>
          <p:cNvSpPr/>
          <p:nvPr/>
        </p:nvSpPr>
        <p:spPr>
          <a:xfrm>
            <a:off x="3726180" y="3200400"/>
            <a:ext cx="1938528" cy="274320"/>
          </a:xfrm>
          <a:prstGeom prst="rect">
            <a:avLst/>
          </a:prstGeom>
          <a:noFill/>
          <a:ln/>
        </p:spPr>
        <p:txBody>
          <a:bodyPr wrap="square" rtlCol="0" anchor="t"/>
          <a:lstStyle/>
          <a:p>
            <a:pPr algn="l" indent="0" marL="0">
              <a:lnSpc>
                <a:spcPct val="130000"/>
              </a:lnSpc>
              <a:buNone/>
            </a:pPr>
            <a:r>
              <a:rPr lang="en-US" sz="1300" b="1" dirty="0">
                <a:solidFill>
                  <a:srgbClr val="FFFFFF"/>
                </a:solidFill>
                <a:latin typeface="Arial" pitchFamily="34" charset="0"/>
                <a:ea typeface="Arial" pitchFamily="34" charset="-122"/>
                <a:cs typeface="Arial" pitchFamily="34" charset="-120"/>
              </a:rPr>
              <a:t>EARN</a:t>
            </a:r>
            <a:endParaRPr lang="en-US" sz="1300" dirty="0"/>
          </a:p>
        </p:txBody>
      </p:sp>
      <p:sp>
        <p:nvSpPr>
          <p:cNvPr id="27" name="Text 25"/>
          <p:cNvSpPr/>
          <p:nvPr/>
        </p:nvSpPr>
        <p:spPr>
          <a:xfrm>
            <a:off x="3726180" y="3529584"/>
            <a:ext cx="1938528" cy="457200"/>
          </a:xfrm>
          <a:prstGeom prst="rect">
            <a:avLst/>
          </a:prstGeom>
          <a:noFill/>
          <a:ln/>
        </p:spPr>
        <p:txBody>
          <a:bodyPr wrap="square" rtlCol="0" anchor="t"/>
          <a:lstStyle/>
          <a:p>
            <a:pPr algn="l" indent="0" marL="0">
              <a:lnSpc>
                <a:spcPct val="130000"/>
              </a:lnSpc>
              <a:buNone/>
            </a:pPr>
            <a:r>
              <a:rPr lang="en-US" sz="900" dirty="0">
                <a:solidFill>
                  <a:srgbClr val="BEBEBE"/>
                </a:solidFill>
                <a:latin typeface="Arial" pitchFamily="34" charset="0"/>
                <a:ea typeface="Arial" pitchFamily="34" charset="-122"/>
                <a:cs typeface="Arial" pitchFamily="34" charset="-120"/>
              </a:rPr>
              <a:t>Relayed volume converts into on-chain rewards.</a:t>
            </a:r>
            <a:endParaRPr lang="en-US" sz="900" dirty="0"/>
          </a:p>
        </p:txBody>
      </p:sp>
      <p:sp>
        <p:nvSpPr>
          <p:cNvPr id="28" name="Shape 26"/>
          <p:cNvSpPr/>
          <p:nvPr/>
        </p:nvSpPr>
        <p:spPr>
          <a:xfrm>
            <a:off x="5993892" y="3346704"/>
            <a:ext cx="196596" cy="0"/>
          </a:xfrm>
          <a:prstGeom prst="line">
            <a:avLst/>
          </a:prstGeom>
          <a:noFill/>
          <a:ln w="12700">
            <a:solidFill>
              <a:srgbClr val="3A3A3A"/>
            </a:solidFill>
            <a:prstDash val="solid"/>
          </a:ln>
        </p:spPr>
      </p:sp>
      <p:sp>
        <p:nvSpPr>
          <p:cNvPr id="29" name="Shape 27"/>
          <p:cNvSpPr/>
          <p:nvPr/>
        </p:nvSpPr>
        <p:spPr>
          <a:xfrm>
            <a:off x="6245352" y="2688336"/>
            <a:ext cx="2487168" cy="1371600"/>
          </a:xfrm>
          <a:prstGeom prst="rect">
            <a:avLst/>
          </a:prstGeom>
          <a:solidFill>
            <a:srgbClr val="0D0D0D"/>
          </a:solidFill>
          <a:ln w="12700">
            <a:solidFill>
              <a:srgbClr val="1C1C1C"/>
            </a:solidFill>
            <a:prstDash val="solid"/>
          </a:ln>
        </p:spPr>
      </p:sp>
      <p:sp>
        <p:nvSpPr>
          <p:cNvPr id="30" name="Text 28"/>
          <p:cNvSpPr/>
          <p:nvPr/>
        </p:nvSpPr>
        <p:spPr>
          <a:xfrm>
            <a:off x="6519672" y="2889504"/>
            <a:ext cx="640080" cy="237744"/>
          </a:xfrm>
          <a:prstGeom prst="rect">
            <a:avLst/>
          </a:prstGeom>
          <a:noFill/>
          <a:ln/>
        </p:spPr>
        <p:txBody>
          <a:bodyPr wrap="square" rtlCol="0" anchor="ctr"/>
          <a:lstStyle/>
          <a:p>
            <a:pPr indent="0" marL="0">
              <a:buNone/>
            </a:pPr>
            <a:r>
              <a:rPr lang="en-US" sz="950" b="1" dirty="0">
                <a:solidFill>
                  <a:srgbClr val="00E5FF"/>
                </a:solidFill>
                <a:latin typeface="Courier New" pitchFamily="34" charset="0"/>
                <a:ea typeface="Courier New" pitchFamily="34" charset="-122"/>
                <a:cs typeface="Courier New" pitchFamily="34" charset="-120"/>
              </a:rPr>
              <a:t>03</a:t>
            </a:r>
            <a:endParaRPr lang="en-US" sz="950" dirty="0"/>
          </a:p>
        </p:txBody>
      </p:sp>
      <p:sp>
        <p:nvSpPr>
          <p:cNvPr id="31" name="Text 29"/>
          <p:cNvSpPr/>
          <p:nvPr/>
        </p:nvSpPr>
        <p:spPr>
          <a:xfrm>
            <a:off x="6519672" y="3200400"/>
            <a:ext cx="1938528" cy="274320"/>
          </a:xfrm>
          <a:prstGeom prst="rect">
            <a:avLst/>
          </a:prstGeom>
          <a:noFill/>
          <a:ln/>
        </p:spPr>
        <p:txBody>
          <a:bodyPr wrap="square" rtlCol="0" anchor="t"/>
          <a:lstStyle/>
          <a:p>
            <a:pPr algn="l" indent="0" marL="0">
              <a:lnSpc>
                <a:spcPct val="130000"/>
              </a:lnSpc>
              <a:buNone/>
            </a:pPr>
            <a:r>
              <a:rPr lang="en-US" sz="1300" b="1" dirty="0">
                <a:solidFill>
                  <a:srgbClr val="FFFFFF"/>
                </a:solidFill>
                <a:latin typeface="Arial" pitchFamily="34" charset="0"/>
                <a:ea typeface="Arial" pitchFamily="34" charset="-122"/>
                <a:cs typeface="Arial" pitchFamily="34" charset="-120"/>
              </a:rPr>
              <a:t>UPGRADE</a:t>
            </a:r>
            <a:endParaRPr lang="en-US" sz="1300" dirty="0"/>
          </a:p>
        </p:txBody>
      </p:sp>
      <p:sp>
        <p:nvSpPr>
          <p:cNvPr id="32" name="Text 30"/>
          <p:cNvSpPr/>
          <p:nvPr/>
        </p:nvSpPr>
        <p:spPr>
          <a:xfrm>
            <a:off x="6519672" y="3529584"/>
            <a:ext cx="1938528" cy="457200"/>
          </a:xfrm>
          <a:prstGeom prst="rect">
            <a:avLst/>
          </a:prstGeom>
          <a:noFill/>
          <a:ln/>
        </p:spPr>
        <p:txBody>
          <a:bodyPr wrap="square" rtlCol="0" anchor="t"/>
          <a:lstStyle/>
          <a:p>
            <a:pPr algn="l" indent="0" marL="0">
              <a:lnSpc>
                <a:spcPct val="130000"/>
              </a:lnSpc>
              <a:buNone/>
            </a:pPr>
            <a:r>
              <a:rPr lang="en-US" sz="900" dirty="0">
                <a:solidFill>
                  <a:srgbClr val="BEBEBE"/>
                </a:solidFill>
                <a:latin typeface="Arial" pitchFamily="34" charset="0"/>
                <a:ea typeface="Arial" pitchFamily="34" charset="-122"/>
                <a:cs typeface="Arial" pitchFamily="34" charset="-120"/>
              </a:rPr>
              <a:t>Rewards buy modules that raise your relay yield.</a:t>
            </a:r>
            <a:endParaRPr lang="en-US" sz="900" dirty="0"/>
          </a:p>
        </p:txBody>
      </p:sp>
      <p:sp>
        <p:nvSpPr>
          <p:cNvPr id="33" name="Shape 31"/>
          <p:cNvSpPr/>
          <p:nvPr/>
        </p:nvSpPr>
        <p:spPr>
          <a:xfrm>
            <a:off x="8787384" y="3346704"/>
            <a:ext cx="196596" cy="0"/>
          </a:xfrm>
          <a:prstGeom prst="line">
            <a:avLst/>
          </a:prstGeom>
          <a:noFill/>
          <a:ln w="12700">
            <a:solidFill>
              <a:srgbClr val="3A3A3A"/>
            </a:solidFill>
            <a:prstDash val="solid"/>
          </a:ln>
        </p:spPr>
      </p:sp>
      <p:sp>
        <p:nvSpPr>
          <p:cNvPr id="34" name="Shape 32"/>
          <p:cNvSpPr/>
          <p:nvPr/>
        </p:nvSpPr>
        <p:spPr>
          <a:xfrm>
            <a:off x="9038844" y="2688336"/>
            <a:ext cx="2487168" cy="1371600"/>
          </a:xfrm>
          <a:prstGeom prst="rect">
            <a:avLst/>
          </a:prstGeom>
          <a:solidFill>
            <a:srgbClr val="0D0D0D"/>
          </a:solidFill>
          <a:ln w="12700">
            <a:solidFill>
              <a:srgbClr val="1C1C1C"/>
            </a:solidFill>
            <a:prstDash val="solid"/>
          </a:ln>
        </p:spPr>
      </p:sp>
      <p:sp>
        <p:nvSpPr>
          <p:cNvPr id="35" name="Text 33"/>
          <p:cNvSpPr/>
          <p:nvPr/>
        </p:nvSpPr>
        <p:spPr>
          <a:xfrm>
            <a:off x="9313164" y="2889504"/>
            <a:ext cx="640080" cy="237744"/>
          </a:xfrm>
          <a:prstGeom prst="rect">
            <a:avLst/>
          </a:prstGeom>
          <a:noFill/>
          <a:ln/>
        </p:spPr>
        <p:txBody>
          <a:bodyPr wrap="square" rtlCol="0" anchor="ctr"/>
          <a:lstStyle/>
          <a:p>
            <a:pPr indent="0" marL="0">
              <a:buNone/>
            </a:pPr>
            <a:r>
              <a:rPr lang="en-US" sz="950" b="1" dirty="0">
                <a:solidFill>
                  <a:srgbClr val="00E5FF"/>
                </a:solidFill>
                <a:latin typeface="Courier New" pitchFamily="34" charset="0"/>
                <a:ea typeface="Courier New" pitchFamily="34" charset="-122"/>
                <a:cs typeface="Courier New" pitchFamily="34" charset="-120"/>
              </a:rPr>
              <a:t>04</a:t>
            </a:r>
            <a:endParaRPr lang="en-US" sz="950" dirty="0"/>
          </a:p>
        </p:txBody>
      </p:sp>
      <p:sp>
        <p:nvSpPr>
          <p:cNvPr id="36" name="Text 34"/>
          <p:cNvSpPr/>
          <p:nvPr/>
        </p:nvSpPr>
        <p:spPr>
          <a:xfrm>
            <a:off x="9313164" y="3200400"/>
            <a:ext cx="1938528" cy="274320"/>
          </a:xfrm>
          <a:prstGeom prst="rect">
            <a:avLst/>
          </a:prstGeom>
          <a:noFill/>
          <a:ln/>
        </p:spPr>
        <p:txBody>
          <a:bodyPr wrap="square" rtlCol="0" anchor="t"/>
          <a:lstStyle/>
          <a:p>
            <a:pPr algn="l" indent="0" marL="0">
              <a:lnSpc>
                <a:spcPct val="130000"/>
              </a:lnSpc>
              <a:buNone/>
            </a:pPr>
            <a:r>
              <a:rPr lang="en-US" sz="1300" b="1" dirty="0">
                <a:solidFill>
                  <a:srgbClr val="FFFFFF"/>
                </a:solidFill>
                <a:latin typeface="Arial" pitchFamily="34" charset="0"/>
                <a:ea typeface="Arial" pitchFamily="34" charset="-122"/>
                <a:cs typeface="Arial" pitchFamily="34" charset="-120"/>
              </a:rPr>
              <a:t>DENSIFY</a:t>
            </a:r>
            <a:endParaRPr lang="en-US" sz="1300" dirty="0"/>
          </a:p>
        </p:txBody>
      </p:sp>
      <p:sp>
        <p:nvSpPr>
          <p:cNvPr id="37" name="Text 35"/>
          <p:cNvSpPr/>
          <p:nvPr/>
        </p:nvSpPr>
        <p:spPr>
          <a:xfrm>
            <a:off x="9313164" y="3529584"/>
            <a:ext cx="1938528" cy="457200"/>
          </a:xfrm>
          <a:prstGeom prst="rect">
            <a:avLst/>
          </a:prstGeom>
          <a:noFill/>
          <a:ln/>
        </p:spPr>
        <p:txBody>
          <a:bodyPr wrap="square" rtlCol="0" anchor="t"/>
          <a:lstStyle/>
          <a:p>
            <a:pPr algn="l" indent="0" marL="0">
              <a:lnSpc>
                <a:spcPct val="130000"/>
              </a:lnSpc>
              <a:buNone/>
            </a:pPr>
            <a:r>
              <a:rPr lang="en-US" sz="900" dirty="0">
                <a:solidFill>
                  <a:srgbClr val="BEBEBE"/>
                </a:solidFill>
                <a:latin typeface="Arial" pitchFamily="34" charset="0"/>
                <a:ea typeface="Arial" pitchFamily="34" charset="-122"/>
                <a:cs typeface="Arial" pitchFamily="34" charset="-120"/>
              </a:rPr>
              <a:t>Better yield means more relays, in more places.</a:t>
            </a:r>
            <a:endParaRPr lang="en-US" sz="900" dirty="0"/>
          </a:p>
        </p:txBody>
      </p:sp>
      <p:sp>
        <p:nvSpPr>
          <p:cNvPr id="38" name="Shape 36"/>
          <p:cNvSpPr/>
          <p:nvPr/>
        </p:nvSpPr>
        <p:spPr>
          <a:xfrm>
            <a:off x="658368" y="4416552"/>
            <a:ext cx="118872" cy="0"/>
          </a:xfrm>
          <a:prstGeom prst="line">
            <a:avLst/>
          </a:prstGeom>
          <a:noFill/>
          <a:ln w="12700">
            <a:solidFill>
              <a:srgbClr val="3A3A3A"/>
            </a:solidFill>
            <a:prstDash val="solid"/>
          </a:ln>
        </p:spPr>
      </p:sp>
      <p:sp>
        <p:nvSpPr>
          <p:cNvPr id="39" name="Text 37"/>
          <p:cNvSpPr/>
          <p:nvPr/>
        </p:nvSpPr>
        <p:spPr>
          <a:xfrm>
            <a:off x="896112" y="4315968"/>
            <a:ext cx="10332720" cy="329184"/>
          </a:xfrm>
          <a:prstGeom prst="rect">
            <a:avLst/>
          </a:prstGeom>
          <a:noFill/>
          <a:ln/>
        </p:spPr>
        <p:txBody>
          <a:bodyPr wrap="square" rtlCol="0" anchor="t"/>
          <a:lstStyle/>
          <a:p>
            <a:pPr algn="l" indent="0" marL="0">
              <a:lnSpc>
                <a:spcPct val="130000"/>
              </a:lnSpc>
              <a:buNone/>
            </a:pPr>
            <a:r>
              <a:rPr lang="en-US" sz="980" dirty="0">
                <a:solidFill>
                  <a:srgbClr val="BEBEBE"/>
                </a:solidFill>
                <a:latin typeface="Arial" pitchFamily="34" charset="0"/>
                <a:ea typeface="Arial" pitchFamily="34" charset="-122"/>
                <a:cs typeface="Arial" pitchFamily="34" charset="-120"/>
              </a:rPr>
              <a:t>Rewards are paid by the senders who use the network, not printed by a treasury</a:t>
            </a:r>
            <a:endParaRPr lang="en-US" sz="980" dirty="0"/>
          </a:p>
        </p:txBody>
      </p:sp>
      <p:sp>
        <p:nvSpPr>
          <p:cNvPr id="40" name="Shape 38"/>
          <p:cNvSpPr/>
          <p:nvPr/>
        </p:nvSpPr>
        <p:spPr>
          <a:xfrm>
            <a:off x="658368" y="4800600"/>
            <a:ext cx="118872" cy="0"/>
          </a:xfrm>
          <a:prstGeom prst="line">
            <a:avLst/>
          </a:prstGeom>
          <a:noFill/>
          <a:ln w="12700">
            <a:solidFill>
              <a:srgbClr val="3A3A3A"/>
            </a:solidFill>
            <a:prstDash val="solid"/>
          </a:ln>
        </p:spPr>
      </p:sp>
      <p:sp>
        <p:nvSpPr>
          <p:cNvPr id="41" name="Text 39"/>
          <p:cNvSpPr/>
          <p:nvPr/>
        </p:nvSpPr>
        <p:spPr>
          <a:xfrm>
            <a:off x="896112" y="4700016"/>
            <a:ext cx="10332720" cy="329184"/>
          </a:xfrm>
          <a:prstGeom prst="rect">
            <a:avLst/>
          </a:prstGeom>
          <a:noFill/>
          <a:ln/>
        </p:spPr>
        <p:txBody>
          <a:bodyPr wrap="square" rtlCol="0" anchor="t"/>
          <a:lstStyle/>
          <a:p>
            <a:pPr algn="l" indent="0" marL="0">
              <a:lnSpc>
                <a:spcPct val="130000"/>
              </a:lnSpc>
              <a:buNone/>
            </a:pPr>
            <a:r>
              <a:rPr lang="en-US" sz="980" dirty="0">
                <a:solidFill>
                  <a:srgbClr val="BEBEBE"/>
                </a:solidFill>
                <a:latin typeface="Arial" pitchFamily="34" charset="0"/>
                <a:ea typeface="Arial" pitchFamily="34" charset="-122"/>
                <a:cs typeface="Arial" pitchFamily="34" charset="-120"/>
              </a:rPr>
              <a:t>A module is owned on-chain, so its effect can be checked rather than trusted</a:t>
            </a:r>
            <a:endParaRPr lang="en-US" sz="980" dirty="0"/>
          </a:p>
        </p:txBody>
      </p:sp>
      <p:sp>
        <p:nvSpPr>
          <p:cNvPr id="42" name="Shape 40"/>
          <p:cNvSpPr/>
          <p:nvPr/>
        </p:nvSpPr>
        <p:spPr>
          <a:xfrm>
            <a:off x="658368" y="5184648"/>
            <a:ext cx="118872" cy="0"/>
          </a:xfrm>
          <a:prstGeom prst="line">
            <a:avLst/>
          </a:prstGeom>
          <a:noFill/>
          <a:ln w="12700">
            <a:solidFill>
              <a:srgbClr val="3A3A3A"/>
            </a:solidFill>
            <a:prstDash val="solid"/>
          </a:ln>
        </p:spPr>
      </p:sp>
      <p:sp>
        <p:nvSpPr>
          <p:cNvPr id="43" name="Text 41"/>
          <p:cNvSpPr/>
          <p:nvPr/>
        </p:nvSpPr>
        <p:spPr>
          <a:xfrm>
            <a:off x="896112" y="5084064"/>
            <a:ext cx="10332720" cy="329184"/>
          </a:xfrm>
          <a:prstGeom prst="rect">
            <a:avLst/>
          </a:prstGeom>
          <a:noFill/>
          <a:ln/>
        </p:spPr>
        <p:txBody>
          <a:bodyPr wrap="square" rtlCol="0" anchor="t"/>
          <a:lstStyle/>
          <a:p>
            <a:pPr algn="l" indent="0" marL="0">
              <a:lnSpc>
                <a:spcPct val="130000"/>
              </a:lnSpc>
              <a:buNone/>
            </a:pPr>
            <a:r>
              <a:rPr lang="en-US" sz="980" dirty="0">
                <a:solidFill>
                  <a:srgbClr val="BEBEBE"/>
                </a:solidFill>
                <a:latin typeface="Arial" pitchFamily="34" charset="0"/>
                <a:ea typeface="Arial" pitchFamily="34" charset="-122"/>
                <a:cs typeface="Arial" pitchFamily="34" charset="-120"/>
              </a:rPr>
              <a:t>Marketplace listings are escrow-backed: value moves only when the item does</a:t>
            </a:r>
            <a:endParaRPr lang="en-US" sz="980" dirty="0"/>
          </a:p>
        </p:txBody>
      </p:sp>
      <p:sp>
        <p:nvSpPr>
          <p:cNvPr id="44" name="Shape 42"/>
          <p:cNvSpPr/>
          <p:nvPr/>
        </p:nvSpPr>
        <p:spPr>
          <a:xfrm>
            <a:off x="658368" y="5632704"/>
            <a:ext cx="10874959" cy="658368"/>
          </a:xfrm>
          <a:prstGeom prst="rect">
            <a:avLst/>
          </a:prstGeom>
          <a:solidFill>
            <a:srgbClr val="141414"/>
          </a:solidFill>
          <a:ln w="12700">
            <a:solidFill>
              <a:srgbClr val="2A2A2A"/>
            </a:solidFill>
            <a:prstDash val="solid"/>
          </a:ln>
        </p:spPr>
      </p:sp>
      <p:sp>
        <p:nvSpPr>
          <p:cNvPr id="45" name="Text 43"/>
          <p:cNvSpPr/>
          <p:nvPr/>
        </p:nvSpPr>
        <p:spPr>
          <a:xfrm>
            <a:off x="950976" y="5760720"/>
            <a:ext cx="10289743" cy="438912"/>
          </a:xfrm>
          <a:prstGeom prst="rect">
            <a:avLst/>
          </a:prstGeom>
          <a:noFill/>
          <a:ln/>
        </p:spPr>
        <p:txBody>
          <a:bodyPr wrap="square" rtlCol="0" anchor="t"/>
          <a:lstStyle/>
          <a:p>
            <a:pPr algn="l" indent="0" marL="0">
              <a:lnSpc>
                <a:spcPct val="130000"/>
              </a:lnSpc>
              <a:buNone/>
            </a:pPr>
            <a:r>
              <a:rPr lang="en-US" sz="980" dirty="0">
                <a:solidFill>
                  <a:srgbClr val="FFFFFF"/>
                </a:solidFill>
                <a:latin typeface="Arial" pitchFamily="34" charset="0"/>
                <a:ea typeface="Arial" pitchFamily="34" charset="-122"/>
                <a:cs typeface="Arial" pitchFamily="34" charset="-120"/>
              </a:rPr>
              <a:t>MILESTONE — a user earns from real relaying, converts it, buys an upgrade, and watches their own yield change.</a:t>
            </a:r>
            <a:endParaRPr lang="en-US" sz="9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274320" y="274320"/>
            <a:ext cx="146304" cy="0"/>
          </a:xfrm>
          <a:prstGeom prst="line">
            <a:avLst/>
          </a:prstGeom>
          <a:noFill/>
          <a:ln w="12700">
            <a:solidFill>
              <a:srgbClr val="3A3A3A"/>
            </a:solidFill>
            <a:prstDash val="solid"/>
          </a:ln>
        </p:spPr>
      </p:sp>
      <p:sp>
        <p:nvSpPr>
          <p:cNvPr id="3" name="Shape 1"/>
          <p:cNvSpPr/>
          <p:nvPr/>
        </p:nvSpPr>
        <p:spPr>
          <a:xfrm>
            <a:off x="274320" y="274320"/>
            <a:ext cx="0" cy="146304"/>
          </a:xfrm>
          <a:prstGeom prst="line">
            <a:avLst/>
          </a:prstGeom>
          <a:noFill/>
          <a:ln w="12700">
            <a:solidFill>
              <a:srgbClr val="3A3A3A"/>
            </a:solidFill>
            <a:prstDash val="solid"/>
          </a:ln>
        </p:spPr>
      </p:sp>
      <p:sp>
        <p:nvSpPr>
          <p:cNvPr id="4" name="Shape 2"/>
          <p:cNvSpPr/>
          <p:nvPr/>
        </p:nvSpPr>
        <p:spPr>
          <a:xfrm>
            <a:off x="11917375" y="274320"/>
            <a:ext cx="-146304" cy="0"/>
          </a:xfrm>
          <a:prstGeom prst="line">
            <a:avLst/>
          </a:prstGeom>
          <a:noFill/>
          <a:ln w="12700">
            <a:solidFill>
              <a:srgbClr val="3A3A3A"/>
            </a:solidFill>
            <a:prstDash val="solid"/>
          </a:ln>
        </p:spPr>
      </p:sp>
      <p:sp>
        <p:nvSpPr>
          <p:cNvPr id="5" name="Shape 3"/>
          <p:cNvSpPr/>
          <p:nvPr/>
        </p:nvSpPr>
        <p:spPr>
          <a:xfrm>
            <a:off x="11917375" y="274320"/>
            <a:ext cx="0" cy="146304"/>
          </a:xfrm>
          <a:prstGeom prst="line">
            <a:avLst/>
          </a:prstGeom>
          <a:noFill/>
          <a:ln w="12700">
            <a:solidFill>
              <a:srgbClr val="3A3A3A"/>
            </a:solidFill>
            <a:prstDash val="solid"/>
          </a:ln>
        </p:spPr>
      </p:sp>
      <p:sp>
        <p:nvSpPr>
          <p:cNvPr id="6" name="Shape 4"/>
          <p:cNvSpPr/>
          <p:nvPr/>
        </p:nvSpPr>
        <p:spPr>
          <a:xfrm>
            <a:off x="274320" y="6583680"/>
            <a:ext cx="146304" cy="0"/>
          </a:xfrm>
          <a:prstGeom prst="line">
            <a:avLst/>
          </a:prstGeom>
          <a:noFill/>
          <a:ln w="12700">
            <a:solidFill>
              <a:srgbClr val="3A3A3A"/>
            </a:solidFill>
            <a:prstDash val="solid"/>
          </a:ln>
        </p:spPr>
      </p:sp>
      <p:sp>
        <p:nvSpPr>
          <p:cNvPr id="7" name="Shape 5"/>
          <p:cNvSpPr/>
          <p:nvPr/>
        </p:nvSpPr>
        <p:spPr>
          <a:xfrm>
            <a:off x="274320" y="6583680"/>
            <a:ext cx="0" cy="-146304"/>
          </a:xfrm>
          <a:prstGeom prst="line">
            <a:avLst/>
          </a:prstGeom>
          <a:noFill/>
          <a:ln w="12700">
            <a:solidFill>
              <a:srgbClr val="3A3A3A"/>
            </a:solidFill>
            <a:prstDash val="solid"/>
          </a:ln>
        </p:spPr>
      </p:sp>
      <p:sp>
        <p:nvSpPr>
          <p:cNvPr id="8" name="Shape 6"/>
          <p:cNvSpPr/>
          <p:nvPr/>
        </p:nvSpPr>
        <p:spPr>
          <a:xfrm>
            <a:off x="11917375" y="6583680"/>
            <a:ext cx="-146304" cy="0"/>
          </a:xfrm>
          <a:prstGeom prst="line">
            <a:avLst/>
          </a:prstGeom>
          <a:noFill/>
          <a:ln w="12700">
            <a:solidFill>
              <a:srgbClr val="3A3A3A"/>
            </a:solidFill>
            <a:prstDash val="solid"/>
          </a:ln>
        </p:spPr>
      </p:sp>
      <p:sp>
        <p:nvSpPr>
          <p:cNvPr id="9" name="Shape 7"/>
          <p:cNvSpPr/>
          <p:nvPr/>
        </p:nvSpPr>
        <p:spPr>
          <a:xfrm>
            <a:off x="11917375" y="6583680"/>
            <a:ext cx="0" cy="-146304"/>
          </a:xfrm>
          <a:prstGeom prst="line">
            <a:avLst/>
          </a:prstGeom>
          <a:noFill/>
          <a:ln w="12700">
            <a:solidFill>
              <a:srgbClr val="3A3A3A"/>
            </a:solidFill>
            <a:prstDash val="solid"/>
          </a:ln>
        </p:spPr>
      </p:sp>
      <p:sp>
        <p:nvSpPr>
          <p:cNvPr id="10" name="Text 8"/>
          <p:cNvSpPr/>
          <p:nvPr/>
        </p:nvSpPr>
        <p:spPr>
          <a:xfrm>
            <a:off x="658368" y="274320"/>
            <a:ext cx="2743200" cy="219456"/>
          </a:xfrm>
          <a:prstGeom prst="rect">
            <a:avLst/>
          </a:prstGeom>
          <a:noFill/>
          <a:ln/>
        </p:spPr>
        <p:txBody>
          <a:bodyPr wrap="square" rtlCol="0" anchor="ctr"/>
          <a:lstStyle/>
          <a:p>
            <a:pPr indent="0" marL="0">
              <a:buNone/>
            </a:pPr>
            <a:r>
              <a:rPr lang="en-US" sz="800" b="1" spc="240" kern="0" dirty="0">
                <a:solidFill>
                  <a:srgbClr val="7A7A7A"/>
                </a:solidFill>
                <a:latin typeface="Arial" pitchFamily="34" charset="0"/>
                <a:ea typeface="Arial" pitchFamily="34" charset="-122"/>
                <a:cs typeface="Arial" pitchFamily="34" charset="-120"/>
              </a:rPr>
              <a:t>CABALMESH</a:t>
            </a:r>
            <a:endParaRPr lang="en-US" sz="800" dirty="0"/>
          </a:p>
        </p:txBody>
      </p:sp>
      <p:sp>
        <p:nvSpPr>
          <p:cNvPr id="11" name="Text 9"/>
          <p:cNvSpPr/>
          <p:nvPr/>
        </p:nvSpPr>
        <p:spPr>
          <a:xfrm>
            <a:off x="6583680" y="274320"/>
            <a:ext cx="4937760" cy="219456"/>
          </a:xfrm>
          <a:prstGeom prst="rect">
            <a:avLst/>
          </a:prstGeom>
          <a:noFill/>
          <a:ln/>
        </p:spPr>
        <p:txBody>
          <a:bodyPr wrap="square" rtlCol="0" anchor="ctr"/>
          <a:lstStyle/>
          <a:p>
            <a:pPr algn="r" indent="0" marL="0">
              <a:buNone/>
            </a:pPr>
            <a:r>
              <a:rPr lang="en-US" sz="800" b="1" spc="240" kern="0" dirty="0">
                <a:solidFill>
                  <a:srgbClr val="3A3A3A"/>
                </a:solidFill>
                <a:latin typeface="Arial" pitchFamily="34" charset="0"/>
                <a:ea typeface="Arial" pitchFamily="34" charset="-122"/>
                <a:cs typeface="Arial" pitchFamily="34" charset="-120"/>
              </a:rPr>
              <a:t>ROADMAP · AUG 2026 – JAN 2027</a:t>
            </a:r>
            <a:endParaRPr lang="en-US" sz="800" dirty="0"/>
          </a:p>
        </p:txBody>
      </p:sp>
      <p:sp>
        <p:nvSpPr>
          <p:cNvPr id="12" name="Shape 10"/>
          <p:cNvSpPr/>
          <p:nvPr/>
        </p:nvSpPr>
        <p:spPr>
          <a:xfrm>
            <a:off x="658368" y="566928"/>
            <a:ext cx="10874959" cy="0"/>
          </a:xfrm>
          <a:prstGeom prst="line">
            <a:avLst/>
          </a:prstGeom>
          <a:noFill/>
          <a:ln w="12700">
            <a:solidFill>
              <a:srgbClr val="1C1C1C"/>
            </a:solidFill>
            <a:prstDash val="solid"/>
          </a:ln>
        </p:spPr>
      </p:sp>
      <p:sp>
        <p:nvSpPr>
          <p:cNvPr id="13" name="Text 11"/>
          <p:cNvSpPr/>
          <p:nvPr/>
        </p:nvSpPr>
        <p:spPr>
          <a:xfrm>
            <a:off x="10881360" y="6419088"/>
            <a:ext cx="658368" cy="219456"/>
          </a:xfrm>
          <a:prstGeom prst="rect">
            <a:avLst/>
          </a:prstGeom>
          <a:noFill/>
          <a:ln/>
        </p:spPr>
        <p:txBody>
          <a:bodyPr wrap="square" rtlCol="0" anchor="ctr"/>
          <a:lstStyle/>
          <a:p>
            <a:pPr algn="r" indent="0" marL="0">
              <a:buNone/>
            </a:pPr>
            <a:r>
              <a:rPr lang="en-US" sz="800" dirty="0">
                <a:solidFill>
                  <a:srgbClr val="3A3A3A"/>
                </a:solidFill>
                <a:latin typeface="Courier New" pitchFamily="34" charset="0"/>
                <a:ea typeface="Courier New" pitchFamily="34" charset="-122"/>
                <a:cs typeface="Courier New" pitchFamily="34" charset="-120"/>
              </a:rPr>
              <a:t>09</a:t>
            </a:r>
            <a:endParaRPr lang="en-US" sz="800" dirty="0"/>
          </a:p>
        </p:txBody>
      </p:sp>
      <p:sp>
        <p:nvSpPr>
          <p:cNvPr id="14" name="Text 12"/>
          <p:cNvSpPr/>
          <p:nvPr/>
        </p:nvSpPr>
        <p:spPr>
          <a:xfrm>
            <a:off x="658368" y="786384"/>
            <a:ext cx="8229600" cy="237744"/>
          </a:xfrm>
          <a:prstGeom prst="rect">
            <a:avLst/>
          </a:prstGeom>
          <a:noFill/>
          <a:ln/>
        </p:spPr>
        <p:txBody>
          <a:bodyPr wrap="square" rtlCol="0" anchor="ctr"/>
          <a:lstStyle/>
          <a:p>
            <a:pPr indent="0" marL="0">
              <a:buNone/>
            </a:pPr>
            <a:r>
              <a:rPr lang="en-US" sz="950" b="1" spc="240" kern="0" dirty="0">
                <a:solidFill>
                  <a:srgbClr val="00E5FF"/>
                </a:solidFill>
                <a:latin typeface="Arial" pitchFamily="34" charset="0"/>
                <a:ea typeface="Arial" pitchFamily="34" charset="-122"/>
                <a:cs typeface="Arial" pitchFamily="34" charset="-120"/>
              </a:rPr>
              <a:t>PHASES 04 – 05 · THE MOAT</a:t>
            </a:r>
            <a:endParaRPr lang="en-US" sz="950" dirty="0"/>
          </a:p>
        </p:txBody>
      </p:sp>
      <p:sp>
        <p:nvSpPr>
          <p:cNvPr id="15" name="Text 13"/>
          <p:cNvSpPr/>
          <p:nvPr/>
        </p:nvSpPr>
        <p:spPr>
          <a:xfrm>
            <a:off x="658368" y="1097280"/>
            <a:ext cx="9875520" cy="914400"/>
          </a:xfrm>
          <a:prstGeom prst="rect">
            <a:avLst/>
          </a:prstGeom>
          <a:noFill/>
          <a:ln/>
        </p:spPr>
        <p:txBody>
          <a:bodyPr wrap="square" rtlCol="0" anchor="ctr"/>
          <a:lstStyle/>
          <a:p>
            <a:pPr indent="0" marL="0">
              <a:lnSpc>
                <a:spcPct val="112000"/>
              </a:lnSpc>
              <a:buNone/>
            </a:pPr>
            <a:r>
              <a:rPr lang="en-US" sz="2600" b="1" dirty="0">
                <a:solidFill>
                  <a:srgbClr val="FFFFFF"/>
                </a:solidFill>
                <a:latin typeface="Arial" pitchFamily="34" charset="0"/>
                <a:ea typeface="Arial" pitchFamily="34" charset="-122"/>
                <a:cs typeface="Arial" pitchFamily="34" charset="-120"/>
              </a:rPr>
              <a:t>Once the loop runs, deepen what cannot be copied quickly.</a:t>
            </a:r>
            <a:endParaRPr lang="en-US" sz="2600" dirty="0"/>
          </a:p>
        </p:txBody>
      </p:sp>
      <p:sp>
        <p:nvSpPr>
          <p:cNvPr id="16" name="Shape 14"/>
          <p:cNvSpPr/>
          <p:nvPr/>
        </p:nvSpPr>
        <p:spPr>
          <a:xfrm>
            <a:off x="658368" y="2468880"/>
            <a:ext cx="5276088" cy="2834640"/>
          </a:xfrm>
          <a:prstGeom prst="rect">
            <a:avLst/>
          </a:prstGeom>
          <a:solidFill>
            <a:srgbClr val="0D0D0D"/>
          </a:solidFill>
          <a:ln w="12700">
            <a:solidFill>
              <a:srgbClr val="1C1C1C"/>
            </a:solidFill>
            <a:prstDash val="solid"/>
          </a:ln>
        </p:spPr>
      </p:sp>
      <p:sp>
        <p:nvSpPr>
          <p:cNvPr id="17" name="Text 15"/>
          <p:cNvSpPr/>
          <p:nvPr/>
        </p:nvSpPr>
        <p:spPr>
          <a:xfrm>
            <a:off x="987552" y="2743200"/>
            <a:ext cx="731520" cy="457200"/>
          </a:xfrm>
          <a:prstGeom prst="rect">
            <a:avLst/>
          </a:prstGeom>
          <a:noFill/>
          <a:ln/>
        </p:spPr>
        <p:txBody>
          <a:bodyPr wrap="square" rtlCol="0" anchor="ctr"/>
          <a:lstStyle/>
          <a:p>
            <a:pPr indent="0" marL="0">
              <a:buNone/>
            </a:pPr>
            <a:r>
              <a:rPr lang="en-US" sz="1800" b="1" dirty="0">
                <a:solidFill>
                  <a:srgbClr val="3A3A3A"/>
                </a:solidFill>
                <a:latin typeface="Courier New" pitchFamily="34" charset="0"/>
                <a:ea typeface="Courier New" pitchFamily="34" charset="-122"/>
                <a:cs typeface="Courier New" pitchFamily="34" charset="-120"/>
              </a:rPr>
              <a:t>04</a:t>
            </a:r>
            <a:endParaRPr lang="en-US" sz="1800" dirty="0"/>
          </a:p>
        </p:txBody>
      </p:sp>
      <p:sp>
        <p:nvSpPr>
          <p:cNvPr id="18" name="Text 16"/>
          <p:cNvSpPr/>
          <p:nvPr/>
        </p:nvSpPr>
        <p:spPr>
          <a:xfrm>
            <a:off x="3831336" y="2798064"/>
            <a:ext cx="1828800" cy="219456"/>
          </a:xfrm>
          <a:prstGeom prst="rect">
            <a:avLst/>
          </a:prstGeom>
          <a:noFill/>
          <a:ln/>
        </p:spPr>
        <p:txBody>
          <a:bodyPr wrap="square" rtlCol="0" anchor="ctr"/>
          <a:lstStyle/>
          <a:p>
            <a:pPr algn="r" indent="0" marL="0">
              <a:buNone/>
            </a:pPr>
            <a:r>
              <a:rPr lang="en-US" sz="800" b="1" spc="200" kern="0" dirty="0">
                <a:solidFill>
                  <a:srgbClr val="7A7A7A"/>
                </a:solidFill>
                <a:latin typeface="Arial" pitchFamily="34" charset="0"/>
                <a:ea typeface="Arial" pitchFamily="34" charset="-122"/>
                <a:cs typeface="Arial" pitchFamily="34" charset="-120"/>
              </a:rPr>
              <a:t>NOV – DEC 2026</a:t>
            </a:r>
            <a:endParaRPr lang="en-US" sz="800" dirty="0"/>
          </a:p>
        </p:txBody>
      </p:sp>
      <p:sp>
        <p:nvSpPr>
          <p:cNvPr id="19" name="Text 17"/>
          <p:cNvSpPr/>
          <p:nvPr/>
        </p:nvSpPr>
        <p:spPr>
          <a:xfrm>
            <a:off x="987552" y="3291840"/>
            <a:ext cx="4617720" cy="548640"/>
          </a:xfrm>
          <a:prstGeom prst="rect">
            <a:avLst/>
          </a:prstGeom>
          <a:noFill/>
          <a:ln/>
        </p:spPr>
        <p:txBody>
          <a:bodyPr wrap="square" rtlCol="0" anchor="t"/>
          <a:lstStyle/>
          <a:p>
            <a:pPr algn="l" indent="0" marL="0">
              <a:lnSpc>
                <a:spcPct val="130000"/>
              </a:lnSpc>
              <a:buNone/>
            </a:pPr>
            <a:r>
              <a:rPr lang="en-US" sz="1400" b="1" dirty="0">
                <a:solidFill>
                  <a:srgbClr val="FFFFFF"/>
                </a:solidFill>
                <a:latin typeface="Arial" pitchFamily="34" charset="0"/>
                <a:ea typeface="Arial" pitchFamily="34" charset="-122"/>
                <a:cs typeface="Arial" pitchFamily="34" charset="-120"/>
              </a:rPr>
              <a:t>PRIVACY THAT SURVIVES SCRUTINY</a:t>
            </a:r>
            <a:endParaRPr lang="en-US" sz="1400" dirty="0"/>
          </a:p>
        </p:txBody>
      </p:sp>
      <p:sp>
        <p:nvSpPr>
          <p:cNvPr id="20" name="Text 18"/>
          <p:cNvSpPr/>
          <p:nvPr/>
        </p:nvSpPr>
        <p:spPr>
          <a:xfrm>
            <a:off x="987552" y="3931920"/>
            <a:ext cx="4617720" cy="1188720"/>
          </a:xfrm>
          <a:prstGeom prst="rect">
            <a:avLst/>
          </a:prstGeom>
          <a:noFill/>
          <a:ln/>
        </p:spPr>
        <p:txBody>
          <a:bodyPr wrap="square" rtlCol="0" anchor="t"/>
          <a:lstStyle/>
          <a:p>
            <a:pPr algn="l" indent="0" marL="0">
              <a:lnSpc>
                <a:spcPct val="130000"/>
              </a:lnSpc>
              <a:buNone/>
            </a:pPr>
            <a:r>
              <a:rPr lang="en-US" sz="980" dirty="0">
                <a:solidFill>
                  <a:srgbClr val="BEBEBE"/>
                </a:solidFill>
                <a:latin typeface="Arial" pitchFamily="34" charset="0"/>
                <a:ea typeface="Arial" pitchFamily="34" charset="-122"/>
                <a:cs typeface="Arial" pitchFamily="34" charset="-120"/>
              </a:rPr>
              <a:t>Proofs verified against a real circuit, and agents that negotiate under limits enforced by the app rather than trusted to a model. The privacy claim becomes auditable instead of aspirational.</a:t>
            </a:r>
            <a:endParaRPr lang="en-US" sz="980" dirty="0"/>
          </a:p>
        </p:txBody>
      </p:sp>
      <p:sp>
        <p:nvSpPr>
          <p:cNvPr id="21" name="Shape 19"/>
          <p:cNvSpPr/>
          <p:nvPr/>
        </p:nvSpPr>
        <p:spPr>
          <a:xfrm>
            <a:off x="6245352" y="2468880"/>
            <a:ext cx="5276088" cy="2834640"/>
          </a:xfrm>
          <a:prstGeom prst="rect">
            <a:avLst/>
          </a:prstGeom>
          <a:solidFill>
            <a:srgbClr val="0D0D0D"/>
          </a:solidFill>
          <a:ln w="12700">
            <a:solidFill>
              <a:srgbClr val="1C1C1C"/>
            </a:solidFill>
            <a:prstDash val="solid"/>
          </a:ln>
        </p:spPr>
      </p:sp>
      <p:sp>
        <p:nvSpPr>
          <p:cNvPr id="22" name="Text 20"/>
          <p:cNvSpPr/>
          <p:nvPr/>
        </p:nvSpPr>
        <p:spPr>
          <a:xfrm>
            <a:off x="6574536" y="2743200"/>
            <a:ext cx="731520" cy="457200"/>
          </a:xfrm>
          <a:prstGeom prst="rect">
            <a:avLst/>
          </a:prstGeom>
          <a:noFill/>
          <a:ln/>
        </p:spPr>
        <p:txBody>
          <a:bodyPr wrap="square" rtlCol="0" anchor="ctr"/>
          <a:lstStyle/>
          <a:p>
            <a:pPr indent="0" marL="0">
              <a:buNone/>
            </a:pPr>
            <a:r>
              <a:rPr lang="en-US" sz="1800" b="1" dirty="0">
                <a:solidFill>
                  <a:srgbClr val="3A3A3A"/>
                </a:solidFill>
                <a:latin typeface="Courier New" pitchFamily="34" charset="0"/>
                <a:ea typeface="Courier New" pitchFamily="34" charset="-122"/>
                <a:cs typeface="Courier New" pitchFamily="34" charset="-120"/>
              </a:rPr>
              <a:t>05</a:t>
            </a:r>
            <a:endParaRPr lang="en-US" sz="1800" dirty="0"/>
          </a:p>
        </p:txBody>
      </p:sp>
      <p:sp>
        <p:nvSpPr>
          <p:cNvPr id="23" name="Text 21"/>
          <p:cNvSpPr/>
          <p:nvPr/>
        </p:nvSpPr>
        <p:spPr>
          <a:xfrm>
            <a:off x="9418320" y="2798064"/>
            <a:ext cx="1828800" cy="219456"/>
          </a:xfrm>
          <a:prstGeom prst="rect">
            <a:avLst/>
          </a:prstGeom>
          <a:noFill/>
          <a:ln/>
        </p:spPr>
        <p:txBody>
          <a:bodyPr wrap="square" rtlCol="0" anchor="ctr"/>
          <a:lstStyle/>
          <a:p>
            <a:pPr algn="r" indent="0" marL="0">
              <a:buNone/>
            </a:pPr>
            <a:r>
              <a:rPr lang="en-US" sz="800" b="1" spc="200" kern="0" dirty="0">
                <a:solidFill>
                  <a:srgbClr val="7A7A7A"/>
                </a:solidFill>
                <a:latin typeface="Arial" pitchFamily="34" charset="0"/>
                <a:ea typeface="Arial" pitchFamily="34" charset="-122"/>
                <a:cs typeface="Arial" pitchFamily="34" charset="-120"/>
              </a:rPr>
              <a:t>DEC 2026 – JAN 2027</a:t>
            </a:r>
            <a:endParaRPr lang="en-US" sz="800" dirty="0"/>
          </a:p>
        </p:txBody>
      </p:sp>
      <p:sp>
        <p:nvSpPr>
          <p:cNvPr id="24" name="Text 22"/>
          <p:cNvSpPr/>
          <p:nvPr/>
        </p:nvSpPr>
        <p:spPr>
          <a:xfrm>
            <a:off x="6574536" y="3291840"/>
            <a:ext cx="4617720" cy="548640"/>
          </a:xfrm>
          <a:prstGeom prst="rect">
            <a:avLst/>
          </a:prstGeom>
          <a:noFill/>
          <a:ln/>
        </p:spPr>
        <p:txBody>
          <a:bodyPr wrap="square" rtlCol="0" anchor="t"/>
          <a:lstStyle/>
          <a:p>
            <a:pPr algn="l" indent="0" marL="0">
              <a:lnSpc>
                <a:spcPct val="130000"/>
              </a:lnSpc>
              <a:buNone/>
            </a:pPr>
            <a:r>
              <a:rPr lang="en-US" sz="1400" b="1" dirty="0">
                <a:solidFill>
                  <a:srgbClr val="FFFFFF"/>
                </a:solidFill>
                <a:latin typeface="Arial" pitchFamily="34" charset="0"/>
                <a:ea typeface="Arial" pitchFamily="34" charset="-122"/>
                <a:cs typeface="Arial" pitchFamily="34" charset="-120"/>
              </a:rPr>
              <a:t>REACH ON EVERY PLATFORM</a:t>
            </a:r>
            <a:endParaRPr lang="en-US" sz="1400" dirty="0"/>
          </a:p>
        </p:txBody>
      </p:sp>
      <p:sp>
        <p:nvSpPr>
          <p:cNvPr id="25" name="Text 23"/>
          <p:cNvSpPr/>
          <p:nvPr/>
        </p:nvSpPr>
        <p:spPr>
          <a:xfrm>
            <a:off x="6574536" y="3931920"/>
            <a:ext cx="4617720" cy="1188720"/>
          </a:xfrm>
          <a:prstGeom prst="rect">
            <a:avLst/>
          </a:prstGeom>
          <a:noFill/>
          <a:ln/>
        </p:spPr>
        <p:txBody>
          <a:bodyPr wrap="square" rtlCol="0" anchor="t"/>
          <a:lstStyle/>
          <a:p>
            <a:pPr algn="l" indent="0" marL="0">
              <a:lnSpc>
                <a:spcPct val="130000"/>
              </a:lnSpc>
              <a:buNone/>
            </a:pPr>
            <a:r>
              <a:rPr lang="en-US" sz="980" dirty="0">
                <a:solidFill>
                  <a:srgbClr val="BEBEBE"/>
                </a:solidFill>
                <a:latin typeface="Arial" pitchFamily="34" charset="0"/>
                <a:ea typeface="Arial" pitchFamily="34" charset="-122"/>
                <a:cs typeface="Arial" pitchFamily="34" charset="-120"/>
              </a:rPr>
              <a:t>Hardware-backed key storage everywhere, and a decided answer for the desktop platforms where the offline radio plane does not run today. Research on keeping negotiation content private even from the nodes carrying it.</a:t>
            </a:r>
            <a:endParaRPr lang="en-US" sz="980" dirty="0"/>
          </a:p>
        </p:txBody>
      </p:sp>
      <p:sp>
        <p:nvSpPr>
          <p:cNvPr id="26" name="Shape 24"/>
          <p:cNvSpPr/>
          <p:nvPr/>
        </p:nvSpPr>
        <p:spPr>
          <a:xfrm>
            <a:off x="658368" y="5577840"/>
            <a:ext cx="10874959" cy="0"/>
          </a:xfrm>
          <a:prstGeom prst="line">
            <a:avLst/>
          </a:prstGeom>
          <a:noFill/>
          <a:ln w="12700">
            <a:solidFill>
              <a:srgbClr val="1C1C1C"/>
            </a:solidFill>
            <a:prstDash val="solid"/>
          </a:ln>
        </p:spPr>
      </p:sp>
      <p:sp>
        <p:nvSpPr>
          <p:cNvPr id="27" name="Text 25"/>
          <p:cNvSpPr/>
          <p:nvPr/>
        </p:nvSpPr>
        <p:spPr>
          <a:xfrm>
            <a:off x="658368" y="5742432"/>
            <a:ext cx="10515600" cy="274320"/>
          </a:xfrm>
          <a:prstGeom prst="rect">
            <a:avLst/>
          </a:prstGeom>
          <a:noFill/>
          <a:ln/>
        </p:spPr>
        <p:txBody>
          <a:bodyPr wrap="square" rtlCol="0" anchor="t"/>
          <a:lstStyle/>
          <a:p>
            <a:pPr algn="l" indent="0" marL="0">
              <a:lnSpc>
                <a:spcPct val="130000"/>
              </a:lnSpc>
              <a:buNone/>
            </a:pPr>
            <a:r>
              <a:rPr lang="en-US" sz="1000" dirty="0">
                <a:solidFill>
                  <a:srgbClr val="00E5FF"/>
                </a:solidFill>
                <a:latin typeface="Arial" pitchFamily="34" charset="0"/>
                <a:ea typeface="Arial" pitchFamily="34" charset="-122"/>
                <a:cs typeface="Arial" pitchFamily="34" charset="-120"/>
              </a:rPr>
              <a:t>These two phases are deliberately last: they make the product harder to copy, but they do not make it easier to adopt.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274320" y="274320"/>
            <a:ext cx="146304" cy="0"/>
          </a:xfrm>
          <a:prstGeom prst="line">
            <a:avLst/>
          </a:prstGeom>
          <a:noFill/>
          <a:ln w="12700">
            <a:solidFill>
              <a:srgbClr val="3A3A3A"/>
            </a:solidFill>
            <a:prstDash val="solid"/>
          </a:ln>
        </p:spPr>
      </p:sp>
      <p:sp>
        <p:nvSpPr>
          <p:cNvPr id="3" name="Shape 1"/>
          <p:cNvSpPr/>
          <p:nvPr/>
        </p:nvSpPr>
        <p:spPr>
          <a:xfrm>
            <a:off x="274320" y="274320"/>
            <a:ext cx="0" cy="146304"/>
          </a:xfrm>
          <a:prstGeom prst="line">
            <a:avLst/>
          </a:prstGeom>
          <a:noFill/>
          <a:ln w="12700">
            <a:solidFill>
              <a:srgbClr val="3A3A3A"/>
            </a:solidFill>
            <a:prstDash val="solid"/>
          </a:ln>
        </p:spPr>
      </p:sp>
      <p:sp>
        <p:nvSpPr>
          <p:cNvPr id="4" name="Shape 2"/>
          <p:cNvSpPr/>
          <p:nvPr/>
        </p:nvSpPr>
        <p:spPr>
          <a:xfrm>
            <a:off x="11917375" y="274320"/>
            <a:ext cx="-146304" cy="0"/>
          </a:xfrm>
          <a:prstGeom prst="line">
            <a:avLst/>
          </a:prstGeom>
          <a:noFill/>
          <a:ln w="12700">
            <a:solidFill>
              <a:srgbClr val="3A3A3A"/>
            </a:solidFill>
            <a:prstDash val="solid"/>
          </a:ln>
        </p:spPr>
      </p:sp>
      <p:sp>
        <p:nvSpPr>
          <p:cNvPr id="5" name="Shape 3"/>
          <p:cNvSpPr/>
          <p:nvPr/>
        </p:nvSpPr>
        <p:spPr>
          <a:xfrm>
            <a:off x="11917375" y="274320"/>
            <a:ext cx="0" cy="146304"/>
          </a:xfrm>
          <a:prstGeom prst="line">
            <a:avLst/>
          </a:prstGeom>
          <a:noFill/>
          <a:ln w="12700">
            <a:solidFill>
              <a:srgbClr val="3A3A3A"/>
            </a:solidFill>
            <a:prstDash val="solid"/>
          </a:ln>
        </p:spPr>
      </p:sp>
      <p:sp>
        <p:nvSpPr>
          <p:cNvPr id="6" name="Shape 4"/>
          <p:cNvSpPr/>
          <p:nvPr/>
        </p:nvSpPr>
        <p:spPr>
          <a:xfrm>
            <a:off x="274320" y="6583680"/>
            <a:ext cx="146304" cy="0"/>
          </a:xfrm>
          <a:prstGeom prst="line">
            <a:avLst/>
          </a:prstGeom>
          <a:noFill/>
          <a:ln w="12700">
            <a:solidFill>
              <a:srgbClr val="3A3A3A"/>
            </a:solidFill>
            <a:prstDash val="solid"/>
          </a:ln>
        </p:spPr>
      </p:sp>
      <p:sp>
        <p:nvSpPr>
          <p:cNvPr id="7" name="Shape 5"/>
          <p:cNvSpPr/>
          <p:nvPr/>
        </p:nvSpPr>
        <p:spPr>
          <a:xfrm>
            <a:off x="274320" y="6583680"/>
            <a:ext cx="0" cy="-146304"/>
          </a:xfrm>
          <a:prstGeom prst="line">
            <a:avLst/>
          </a:prstGeom>
          <a:noFill/>
          <a:ln w="12700">
            <a:solidFill>
              <a:srgbClr val="3A3A3A"/>
            </a:solidFill>
            <a:prstDash val="solid"/>
          </a:ln>
        </p:spPr>
      </p:sp>
      <p:sp>
        <p:nvSpPr>
          <p:cNvPr id="8" name="Shape 6"/>
          <p:cNvSpPr/>
          <p:nvPr/>
        </p:nvSpPr>
        <p:spPr>
          <a:xfrm>
            <a:off x="11917375" y="6583680"/>
            <a:ext cx="-146304" cy="0"/>
          </a:xfrm>
          <a:prstGeom prst="line">
            <a:avLst/>
          </a:prstGeom>
          <a:noFill/>
          <a:ln w="12700">
            <a:solidFill>
              <a:srgbClr val="3A3A3A"/>
            </a:solidFill>
            <a:prstDash val="solid"/>
          </a:ln>
        </p:spPr>
      </p:sp>
      <p:sp>
        <p:nvSpPr>
          <p:cNvPr id="9" name="Shape 7"/>
          <p:cNvSpPr/>
          <p:nvPr/>
        </p:nvSpPr>
        <p:spPr>
          <a:xfrm>
            <a:off x="11917375" y="6583680"/>
            <a:ext cx="0" cy="-146304"/>
          </a:xfrm>
          <a:prstGeom prst="line">
            <a:avLst/>
          </a:prstGeom>
          <a:noFill/>
          <a:ln w="12700">
            <a:solidFill>
              <a:srgbClr val="3A3A3A"/>
            </a:solidFill>
            <a:prstDash val="solid"/>
          </a:ln>
        </p:spPr>
      </p:sp>
      <p:sp>
        <p:nvSpPr>
          <p:cNvPr id="10" name="Text 8"/>
          <p:cNvSpPr/>
          <p:nvPr/>
        </p:nvSpPr>
        <p:spPr>
          <a:xfrm>
            <a:off x="658368" y="274320"/>
            <a:ext cx="2743200" cy="219456"/>
          </a:xfrm>
          <a:prstGeom prst="rect">
            <a:avLst/>
          </a:prstGeom>
          <a:noFill/>
          <a:ln/>
        </p:spPr>
        <p:txBody>
          <a:bodyPr wrap="square" rtlCol="0" anchor="ctr"/>
          <a:lstStyle/>
          <a:p>
            <a:pPr indent="0" marL="0">
              <a:buNone/>
            </a:pPr>
            <a:r>
              <a:rPr lang="en-US" sz="800" b="1" spc="240" kern="0" dirty="0">
                <a:solidFill>
                  <a:srgbClr val="7A7A7A"/>
                </a:solidFill>
                <a:latin typeface="Arial" pitchFamily="34" charset="0"/>
                <a:ea typeface="Arial" pitchFamily="34" charset="-122"/>
                <a:cs typeface="Arial" pitchFamily="34" charset="-120"/>
              </a:rPr>
              <a:t>CABALMESH</a:t>
            </a:r>
            <a:endParaRPr lang="en-US" sz="800" dirty="0"/>
          </a:p>
        </p:txBody>
      </p:sp>
      <p:sp>
        <p:nvSpPr>
          <p:cNvPr id="11" name="Text 9"/>
          <p:cNvSpPr/>
          <p:nvPr/>
        </p:nvSpPr>
        <p:spPr>
          <a:xfrm>
            <a:off x="6583680" y="274320"/>
            <a:ext cx="4937760" cy="219456"/>
          </a:xfrm>
          <a:prstGeom prst="rect">
            <a:avLst/>
          </a:prstGeom>
          <a:noFill/>
          <a:ln/>
        </p:spPr>
        <p:txBody>
          <a:bodyPr wrap="square" rtlCol="0" anchor="ctr"/>
          <a:lstStyle/>
          <a:p>
            <a:pPr algn="r" indent="0" marL="0">
              <a:buNone/>
            </a:pPr>
            <a:r>
              <a:rPr lang="en-US" sz="800" b="1" spc="240" kern="0" dirty="0">
                <a:solidFill>
                  <a:srgbClr val="3A3A3A"/>
                </a:solidFill>
                <a:latin typeface="Arial" pitchFamily="34" charset="0"/>
                <a:ea typeface="Arial" pitchFamily="34" charset="-122"/>
                <a:cs typeface="Arial" pitchFamily="34" charset="-120"/>
              </a:rPr>
              <a:t>ROADMAP · AUG 2026 – JAN 2027</a:t>
            </a:r>
            <a:endParaRPr lang="en-US" sz="800" dirty="0"/>
          </a:p>
        </p:txBody>
      </p:sp>
      <p:sp>
        <p:nvSpPr>
          <p:cNvPr id="12" name="Shape 10"/>
          <p:cNvSpPr/>
          <p:nvPr/>
        </p:nvSpPr>
        <p:spPr>
          <a:xfrm>
            <a:off x="658368" y="566928"/>
            <a:ext cx="10874959" cy="0"/>
          </a:xfrm>
          <a:prstGeom prst="line">
            <a:avLst/>
          </a:prstGeom>
          <a:noFill/>
          <a:ln w="12700">
            <a:solidFill>
              <a:srgbClr val="1C1C1C"/>
            </a:solidFill>
            <a:prstDash val="solid"/>
          </a:ln>
        </p:spPr>
      </p:sp>
      <p:sp>
        <p:nvSpPr>
          <p:cNvPr id="13" name="Text 11"/>
          <p:cNvSpPr/>
          <p:nvPr/>
        </p:nvSpPr>
        <p:spPr>
          <a:xfrm>
            <a:off x="10881360" y="6419088"/>
            <a:ext cx="658368" cy="219456"/>
          </a:xfrm>
          <a:prstGeom prst="rect">
            <a:avLst/>
          </a:prstGeom>
          <a:noFill/>
          <a:ln/>
        </p:spPr>
        <p:txBody>
          <a:bodyPr wrap="square" rtlCol="0" anchor="ctr"/>
          <a:lstStyle/>
          <a:p>
            <a:pPr algn="r" indent="0" marL="0">
              <a:buNone/>
            </a:pPr>
            <a:r>
              <a:rPr lang="en-US" sz="800" dirty="0">
                <a:solidFill>
                  <a:srgbClr val="3A3A3A"/>
                </a:solidFill>
                <a:latin typeface="Courier New" pitchFamily="34" charset="0"/>
                <a:ea typeface="Courier New" pitchFamily="34" charset="-122"/>
                <a:cs typeface="Courier New" pitchFamily="34" charset="-120"/>
              </a:rPr>
              <a:t>10</a:t>
            </a:r>
            <a:endParaRPr lang="en-US" sz="800" dirty="0"/>
          </a:p>
        </p:txBody>
      </p:sp>
      <p:sp>
        <p:nvSpPr>
          <p:cNvPr id="14" name="Text 12"/>
          <p:cNvSpPr/>
          <p:nvPr/>
        </p:nvSpPr>
        <p:spPr>
          <a:xfrm>
            <a:off x="658368" y="786384"/>
            <a:ext cx="8229600" cy="237744"/>
          </a:xfrm>
          <a:prstGeom prst="rect">
            <a:avLst/>
          </a:prstGeom>
          <a:noFill/>
          <a:ln/>
        </p:spPr>
        <p:txBody>
          <a:bodyPr wrap="square" rtlCol="0" anchor="ctr"/>
          <a:lstStyle/>
          <a:p>
            <a:pPr indent="0" marL="0">
              <a:buNone/>
            </a:pPr>
            <a:r>
              <a:rPr lang="en-US" sz="950" b="1" spc="240" kern="0" dirty="0">
                <a:solidFill>
                  <a:srgbClr val="00E5FF"/>
                </a:solidFill>
                <a:latin typeface="Arial" pitchFamily="34" charset="0"/>
                <a:ea typeface="Arial" pitchFamily="34" charset="-122"/>
                <a:cs typeface="Arial" pitchFamily="34" charset="-120"/>
              </a:rPr>
              <a:t>WHAT WE MEASURE</a:t>
            </a:r>
            <a:endParaRPr lang="en-US" sz="950" dirty="0"/>
          </a:p>
        </p:txBody>
      </p:sp>
      <p:sp>
        <p:nvSpPr>
          <p:cNvPr id="15" name="Text 13"/>
          <p:cNvSpPr/>
          <p:nvPr/>
        </p:nvSpPr>
        <p:spPr>
          <a:xfrm>
            <a:off x="658368" y="1097280"/>
            <a:ext cx="9875520" cy="914400"/>
          </a:xfrm>
          <a:prstGeom prst="rect">
            <a:avLst/>
          </a:prstGeom>
          <a:noFill/>
          <a:ln/>
        </p:spPr>
        <p:txBody>
          <a:bodyPr wrap="square" rtlCol="0" anchor="ctr"/>
          <a:lstStyle/>
          <a:p>
            <a:pPr indent="0" marL="0">
              <a:lnSpc>
                <a:spcPct val="112000"/>
              </a:lnSpc>
              <a:buNone/>
            </a:pPr>
            <a:r>
              <a:rPr lang="en-US" sz="2600" b="1" dirty="0">
                <a:solidFill>
                  <a:srgbClr val="FFFFFF"/>
                </a:solidFill>
                <a:latin typeface="Arial" pitchFamily="34" charset="0"/>
                <a:ea typeface="Arial" pitchFamily="34" charset="-122"/>
                <a:cs typeface="Arial" pitchFamily="34" charset="-120"/>
              </a:rPr>
              <a:t>Five numbers decide whether a phase actually landed.</a:t>
            </a:r>
            <a:endParaRPr lang="en-US" sz="2600" dirty="0"/>
          </a:p>
        </p:txBody>
      </p:sp>
      <p:sp>
        <p:nvSpPr>
          <p:cNvPr id="16" name="Text 14"/>
          <p:cNvSpPr/>
          <p:nvPr/>
        </p:nvSpPr>
        <p:spPr>
          <a:xfrm>
            <a:off x="804672" y="2286000"/>
            <a:ext cx="4572000" cy="219456"/>
          </a:xfrm>
          <a:prstGeom prst="rect">
            <a:avLst/>
          </a:prstGeom>
          <a:noFill/>
          <a:ln/>
        </p:spPr>
        <p:txBody>
          <a:bodyPr wrap="square" rtlCol="0" anchor="ctr"/>
          <a:lstStyle/>
          <a:p>
            <a:pPr algn="l" indent="0" marL="0">
              <a:buNone/>
            </a:pPr>
            <a:r>
              <a:rPr lang="en-US" sz="800" b="1" spc="200" kern="0" dirty="0">
                <a:solidFill>
                  <a:srgbClr val="3A3A3A"/>
                </a:solidFill>
                <a:latin typeface="Arial" pitchFamily="34" charset="0"/>
                <a:ea typeface="Arial" pitchFamily="34" charset="-122"/>
                <a:cs typeface="Arial" pitchFamily="34" charset="-120"/>
              </a:rPr>
              <a:t>METRIC</a:t>
            </a:r>
            <a:endParaRPr lang="en-US" sz="800" dirty="0"/>
          </a:p>
        </p:txBody>
      </p:sp>
      <p:sp>
        <p:nvSpPr>
          <p:cNvPr id="17" name="Text 15"/>
          <p:cNvSpPr/>
          <p:nvPr/>
        </p:nvSpPr>
        <p:spPr>
          <a:xfrm>
            <a:off x="5029200" y="2286000"/>
            <a:ext cx="731520" cy="219456"/>
          </a:xfrm>
          <a:prstGeom prst="rect">
            <a:avLst/>
          </a:prstGeom>
          <a:noFill/>
          <a:ln/>
        </p:spPr>
        <p:txBody>
          <a:bodyPr wrap="square" rtlCol="0" anchor="ctr"/>
          <a:lstStyle/>
          <a:p>
            <a:pPr algn="l" indent="0" marL="0">
              <a:buNone/>
            </a:pPr>
            <a:r>
              <a:rPr lang="en-US" sz="800" b="1" spc="200" kern="0" dirty="0">
                <a:solidFill>
                  <a:srgbClr val="3A3A3A"/>
                </a:solidFill>
                <a:latin typeface="Arial" pitchFamily="34" charset="0"/>
                <a:ea typeface="Arial" pitchFamily="34" charset="-122"/>
                <a:cs typeface="Arial" pitchFamily="34" charset="-120"/>
              </a:rPr>
              <a:t>PHASE</a:t>
            </a:r>
            <a:endParaRPr lang="en-US" sz="800" dirty="0"/>
          </a:p>
        </p:txBody>
      </p:sp>
      <p:sp>
        <p:nvSpPr>
          <p:cNvPr id="18" name="Text 16"/>
          <p:cNvSpPr/>
          <p:nvPr/>
        </p:nvSpPr>
        <p:spPr>
          <a:xfrm>
            <a:off x="5943600" y="2286000"/>
            <a:ext cx="5394960" cy="219456"/>
          </a:xfrm>
          <a:prstGeom prst="rect">
            <a:avLst/>
          </a:prstGeom>
          <a:noFill/>
          <a:ln/>
        </p:spPr>
        <p:txBody>
          <a:bodyPr wrap="square" rtlCol="0" anchor="ctr"/>
          <a:lstStyle/>
          <a:p>
            <a:pPr algn="l" indent="0" marL="0">
              <a:buNone/>
            </a:pPr>
            <a:r>
              <a:rPr lang="en-US" sz="800" b="1" spc="200" kern="0" dirty="0">
                <a:solidFill>
                  <a:srgbClr val="3A3A3A"/>
                </a:solidFill>
                <a:latin typeface="Arial" pitchFamily="34" charset="0"/>
                <a:ea typeface="Arial" pitchFamily="34" charset="-122"/>
                <a:cs typeface="Arial" pitchFamily="34" charset="-120"/>
              </a:rPr>
              <a:t>THE DECISION IT DRIVES</a:t>
            </a:r>
            <a:endParaRPr lang="en-US" sz="800" dirty="0"/>
          </a:p>
        </p:txBody>
      </p:sp>
      <p:sp>
        <p:nvSpPr>
          <p:cNvPr id="19" name="Shape 17"/>
          <p:cNvSpPr/>
          <p:nvPr/>
        </p:nvSpPr>
        <p:spPr>
          <a:xfrm>
            <a:off x="658368" y="2505456"/>
            <a:ext cx="10874959" cy="0"/>
          </a:xfrm>
          <a:prstGeom prst="line">
            <a:avLst/>
          </a:prstGeom>
          <a:noFill/>
          <a:ln w="12700">
            <a:solidFill>
              <a:srgbClr val="2A2A2A"/>
            </a:solidFill>
            <a:prstDash val="solid"/>
          </a:ln>
        </p:spPr>
      </p:sp>
      <p:sp>
        <p:nvSpPr>
          <p:cNvPr id="20" name="Text 18"/>
          <p:cNvSpPr/>
          <p:nvPr/>
        </p:nvSpPr>
        <p:spPr>
          <a:xfrm>
            <a:off x="804672" y="2724912"/>
            <a:ext cx="4572000" cy="310896"/>
          </a:xfrm>
          <a:prstGeom prst="rect">
            <a:avLst/>
          </a:prstGeom>
          <a:noFill/>
          <a:ln/>
        </p:spPr>
        <p:txBody>
          <a:bodyPr wrap="square" rtlCol="0" anchor="t"/>
          <a:lstStyle/>
          <a:p>
            <a:pPr algn="l" indent="0" marL="0">
              <a:lnSpc>
                <a:spcPct val="130000"/>
              </a:lnSpc>
              <a:buNone/>
            </a:pPr>
            <a:r>
              <a:rPr lang="en-US" sz="1050" b="1" dirty="0">
                <a:solidFill>
                  <a:srgbClr val="FFFFFF"/>
                </a:solidFill>
                <a:latin typeface="Arial" pitchFamily="34" charset="0"/>
                <a:ea typeface="Arial" pitchFamily="34" charset="-122"/>
                <a:cs typeface="Arial" pitchFamily="34" charset="-120"/>
              </a:rPr>
              <a:t>Recoveries completed by real users</a:t>
            </a:r>
            <a:endParaRPr lang="en-US" sz="1050" dirty="0"/>
          </a:p>
        </p:txBody>
      </p:sp>
      <p:sp>
        <p:nvSpPr>
          <p:cNvPr id="21" name="Text 19"/>
          <p:cNvSpPr/>
          <p:nvPr/>
        </p:nvSpPr>
        <p:spPr>
          <a:xfrm>
            <a:off x="5029200" y="2752344"/>
            <a:ext cx="731520" cy="219456"/>
          </a:xfrm>
          <a:prstGeom prst="rect">
            <a:avLst/>
          </a:prstGeom>
          <a:noFill/>
          <a:ln/>
        </p:spPr>
        <p:txBody>
          <a:bodyPr wrap="square" rtlCol="0" anchor="ctr"/>
          <a:lstStyle/>
          <a:p>
            <a:pPr algn="l" indent="0" marL="0">
              <a:buNone/>
            </a:pPr>
            <a:r>
              <a:rPr lang="en-US" sz="900" dirty="0">
                <a:solidFill>
                  <a:srgbClr val="00E5FF"/>
                </a:solidFill>
                <a:latin typeface="Courier New" pitchFamily="34" charset="0"/>
                <a:ea typeface="Courier New" pitchFamily="34" charset="-122"/>
                <a:cs typeface="Courier New" pitchFamily="34" charset="-120"/>
              </a:rPr>
              <a:t>P1</a:t>
            </a:r>
            <a:endParaRPr lang="en-US" sz="900" dirty="0"/>
          </a:p>
        </p:txBody>
      </p:sp>
      <p:sp>
        <p:nvSpPr>
          <p:cNvPr id="22" name="Text 20"/>
          <p:cNvSpPr/>
          <p:nvPr/>
        </p:nvSpPr>
        <p:spPr>
          <a:xfrm>
            <a:off x="5943600" y="2724912"/>
            <a:ext cx="5394960" cy="310896"/>
          </a:xfrm>
          <a:prstGeom prst="rect">
            <a:avLst/>
          </a:prstGeom>
          <a:noFill/>
          <a:ln/>
        </p:spPr>
        <p:txBody>
          <a:bodyPr wrap="square" rtlCol="0" anchor="t"/>
          <a:lstStyle/>
          <a:p>
            <a:pPr algn="l" indent="0" marL="0">
              <a:lnSpc>
                <a:spcPct val="130000"/>
              </a:lnSpc>
              <a:buNone/>
            </a:pPr>
            <a:r>
              <a:rPr lang="en-US" sz="980" dirty="0">
                <a:solidFill>
                  <a:srgbClr val="BEBEBE"/>
                </a:solidFill>
                <a:latin typeface="Arial" pitchFamily="34" charset="0"/>
                <a:ea typeface="Arial" pitchFamily="34" charset="-122"/>
                <a:cs typeface="Arial" pitchFamily="34" charset="-120"/>
              </a:rPr>
              <a:t>Whether the wallet is safe enough to market publicly</a:t>
            </a:r>
            <a:endParaRPr lang="en-US" sz="980" dirty="0"/>
          </a:p>
        </p:txBody>
      </p:sp>
      <p:sp>
        <p:nvSpPr>
          <p:cNvPr id="23" name="Shape 21"/>
          <p:cNvSpPr/>
          <p:nvPr/>
        </p:nvSpPr>
        <p:spPr>
          <a:xfrm>
            <a:off x="658368" y="3127248"/>
            <a:ext cx="10874959" cy="530352"/>
          </a:xfrm>
          <a:prstGeom prst="rect">
            <a:avLst/>
          </a:prstGeom>
          <a:solidFill>
            <a:srgbClr val="0D0D0D"/>
          </a:solidFill>
          <a:ln/>
        </p:spPr>
      </p:sp>
      <p:sp>
        <p:nvSpPr>
          <p:cNvPr id="24" name="Text 22"/>
          <p:cNvSpPr/>
          <p:nvPr/>
        </p:nvSpPr>
        <p:spPr>
          <a:xfrm>
            <a:off x="804672" y="3291840"/>
            <a:ext cx="4572000" cy="310896"/>
          </a:xfrm>
          <a:prstGeom prst="rect">
            <a:avLst/>
          </a:prstGeom>
          <a:noFill/>
          <a:ln/>
        </p:spPr>
        <p:txBody>
          <a:bodyPr wrap="square" rtlCol="0" anchor="t"/>
          <a:lstStyle/>
          <a:p>
            <a:pPr algn="l" indent="0" marL="0">
              <a:lnSpc>
                <a:spcPct val="130000"/>
              </a:lnSpc>
              <a:buNone/>
            </a:pPr>
            <a:r>
              <a:rPr lang="en-US" sz="1050" b="1" dirty="0">
                <a:solidFill>
                  <a:srgbClr val="FFFFFF"/>
                </a:solidFill>
                <a:latin typeface="Arial" pitchFamily="34" charset="0"/>
                <a:ea typeface="Arial" pitchFamily="34" charset="-122"/>
                <a:cs typeface="Arial" pitchFamily="34" charset="-120"/>
              </a:rPr>
              <a:t>Waitlist signups</a:t>
            </a:r>
            <a:endParaRPr lang="en-US" sz="1050" dirty="0"/>
          </a:p>
        </p:txBody>
      </p:sp>
      <p:sp>
        <p:nvSpPr>
          <p:cNvPr id="25" name="Text 23"/>
          <p:cNvSpPr/>
          <p:nvPr/>
        </p:nvSpPr>
        <p:spPr>
          <a:xfrm>
            <a:off x="5029200" y="3319272"/>
            <a:ext cx="731520" cy="219456"/>
          </a:xfrm>
          <a:prstGeom prst="rect">
            <a:avLst/>
          </a:prstGeom>
          <a:noFill/>
          <a:ln/>
        </p:spPr>
        <p:txBody>
          <a:bodyPr wrap="square" rtlCol="0" anchor="ctr"/>
          <a:lstStyle/>
          <a:p>
            <a:pPr algn="l" indent="0" marL="0">
              <a:buNone/>
            </a:pPr>
            <a:r>
              <a:rPr lang="en-US" sz="900" dirty="0">
                <a:solidFill>
                  <a:srgbClr val="00E5FF"/>
                </a:solidFill>
                <a:latin typeface="Courier New" pitchFamily="34" charset="0"/>
                <a:ea typeface="Courier New" pitchFamily="34" charset="-122"/>
                <a:cs typeface="Courier New" pitchFamily="34" charset="-120"/>
              </a:rPr>
              <a:t>P2</a:t>
            </a:r>
            <a:endParaRPr lang="en-US" sz="900" dirty="0"/>
          </a:p>
        </p:txBody>
      </p:sp>
      <p:sp>
        <p:nvSpPr>
          <p:cNvPr id="26" name="Text 24"/>
          <p:cNvSpPr/>
          <p:nvPr/>
        </p:nvSpPr>
        <p:spPr>
          <a:xfrm>
            <a:off x="5943600" y="3291840"/>
            <a:ext cx="5394960" cy="310896"/>
          </a:xfrm>
          <a:prstGeom prst="rect">
            <a:avLst/>
          </a:prstGeom>
          <a:noFill/>
          <a:ln/>
        </p:spPr>
        <p:txBody>
          <a:bodyPr wrap="square" rtlCol="0" anchor="t"/>
          <a:lstStyle/>
          <a:p>
            <a:pPr algn="l" indent="0" marL="0">
              <a:lnSpc>
                <a:spcPct val="130000"/>
              </a:lnSpc>
              <a:buNone/>
            </a:pPr>
            <a:r>
              <a:rPr lang="en-US" sz="980" dirty="0">
                <a:solidFill>
                  <a:srgbClr val="BEBEBE"/>
                </a:solidFill>
                <a:latin typeface="Arial" pitchFamily="34" charset="0"/>
                <a:ea typeface="Arial" pitchFamily="34" charset="-122"/>
                <a:cs typeface="Arial" pitchFamily="34" charset="-120"/>
              </a:rPr>
              <a:t>Whether a hardware batch is worth producing, and how large</a:t>
            </a:r>
            <a:endParaRPr lang="en-US" sz="980" dirty="0"/>
          </a:p>
        </p:txBody>
      </p:sp>
      <p:sp>
        <p:nvSpPr>
          <p:cNvPr id="27" name="Text 25"/>
          <p:cNvSpPr/>
          <p:nvPr/>
        </p:nvSpPr>
        <p:spPr>
          <a:xfrm>
            <a:off x="804672" y="3858768"/>
            <a:ext cx="4572000" cy="310896"/>
          </a:xfrm>
          <a:prstGeom prst="rect">
            <a:avLst/>
          </a:prstGeom>
          <a:noFill/>
          <a:ln/>
        </p:spPr>
        <p:txBody>
          <a:bodyPr wrap="square" rtlCol="0" anchor="t"/>
          <a:lstStyle/>
          <a:p>
            <a:pPr algn="l" indent="0" marL="0">
              <a:lnSpc>
                <a:spcPct val="130000"/>
              </a:lnSpc>
              <a:buNone/>
            </a:pPr>
            <a:r>
              <a:rPr lang="en-US" sz="1050" b="1" dirty="0">
                <a:solidFill>
                  <a:srgbClr val="FFFFFF"/>
                </a:solidFill>
                <a:latin typeface="Arial" pitchFamily="34" charset="0"/>
                <a:ea typeface="Arial" pitchFamily="34" charset="-122"/>
                <a:cs typeface="Arial" pitchFamily="34" charset="-120"/>
              </a:rPr>
              <a:t>Reach beyond our own channels</a:t>
            </a:r>
            <a:endParaRPr lang="en-US" sz="1050" dirty="0"/>
          </a:p>
        </p:txBody>
      </p:sp>
      <p:sp>
        <p:nvSpPr>
          <p:cNvPr id="28" name="Text 26"/>
          <p:cNvSpPr/>
          <p:nvPr/>
        </p:nvSpPr>
        <p:spPr>
          <a:xfrm>
            <a:off x="5029200" y="3886200"/>
            <a:ext cx="731520" cy="219456"/>
          </a:xfrm>
          <a:prstGeom prst="rect">
            <a:avLst/>
          </a:prstGeom>
          <a:noFill/>
          <a:ln/>
        </p:spPr>
        <p:txBody>
          <a:bodyPr wrap="square" rtlCol="0" anchor="ctr"/>
          <a:lstStyle/>
          <a:p>
            <a:pPr algn="l" indent="0" marL="0">
              <a:buNone/>
            </a:pPr>
            <a:r>
              <a:rPr lang="en-US" sz="900" dirty="0">
                <a:solidFill>
                  <a:srgbClr val="00E5FF"/>
                </a:solidFill>
                <a:latin typeface="Courier New" pitchFamily="34" charset="0"/>
                <a:ea typeface="Courier New" pitchFamily="34" charset="-122"/>
                <a:cs typeface="Courier New" pitchFamily="34" charset="-120"/>
              </a:rPr>
              <a:t>P2</a:t>
            </a:r>
            <a:endParaRPr lang="en-US" sz="900" dirty="0"/>
          </a:p>
        </p:txBody>
      </p:sp>
      <p:sp>
        <p:nvSpPr>
          <p:cNvPr id="29" name="Text 27"/>
          <p:cNvSpPr/>
          <p:nvPr/>
        </p:nvSpPr>
        <p:spPr>
          <a:xfrm>
            <a:off x="5943600" y="3858768"/>
            <a:ext cx="5394960" cy="310896"/>
          </a:xfrm>
          <a:prstGeom prst="rect">
            <a:avLst/>
          </a:prstGeom>
          <a:noFill/>
          <a:ln/>
        </p:spPr>
        <p:txBody>
          <a:bodyPr wrap="square" rtlCol="0" anchor="t"/>
          <a:lstStyle/>
          <a:p>
            <a:pPr algn="l" indent="0" marL="0">
              <a:lnSpc>
                <a:spcPct val="130000"/>
              </a:lnSpc>
              <a:buNone/>
            </a:pPr>
            <a:r>
              <a:rPr lang="en-US" sz="980" dirty="0">
                <a:solidFill>
                  <a:srgbClr val="BEBEBE"/>
                </a:solidFill>
                <a:latin typeface="Arial" pitchFamily="34" charset="0"/>
                <a:ea typeface="Arial" pitchFamily="34" charset="-122"/>
                <a:cs typeface="Arial" pitchFamily="34" charset="-120"/>
              </a:rPr>
              <a:t>Whether the positioning lands, or the message needs rewriting</a:t>
            </a:r>
            <a:endParaRPr lang="en-US" sz="980" dirty="0"/>
          </a:p>
        </p:txBody>
      </p:sp>
      <p:sp>
        <p:nvSpPr>
          <p:cNvPr id="30" name="Shape 28"/>
          <p:cNvSpPr/>
          <p:nvPr/>
        </p:nvSpPr>
        <p:spPr>
          <a:xfrm>
            <a:off x="658368" y="4261104"/>
            <a:ext cx="10874959" cy="530352"/>
          </a:xfrm>
          <a:prstGeom prst="rect">
            <a:avLst/>
          </a:prstGeom>
          <a:solidFill>
            <a:srgbClr val="0D0D0D"/>
          </a:solidFill>
          <a:ln/>
        </p:spPr>
      </p:sp>
      <p:sp>
        <p:nvSpPr>
          <p:cNvPr id="31" name="Text 29"/>
          <p:cNvSpPr/>
          <p:nvPr/>
        </p:nvSpPr>
        <p:spPr>
          <a:xfrm>
            <a:off x="804672" y="4425696"/>
            <a:ext cx="4572000" cy="310896"/>
          </a:xfrm>
          <a:prstGeom prst="rect">
            <a:avLst/>
          </a:prstGeom>
          <a:noFill/>
          <a:ln/>
        </p:spPr>
        <p:txBody>
          <a:bodyPr wrap="square" rtlCol="0" anchor="t"/>
          <a:lstStyle/>
          <a:p>
            <a:pPr algn="l" indent="0" marL="0">
              <a:lnSpc>
                <a:spcPct val="130000"/>
              </a:lnSpc>
              <a:buNone/>
            </a:pPr>
            <a:r>
              <a:rPr lang="en-US" sz="1050" b="1" dirty="0">
                <a:solidFill>
                  <a:srgbClr val="FFFFFF"/>
                </a:solidFill>
                <a:latin typeface="Arial" pitchFamily="34" charset="0"/>
                <a:ea typeface="Arial" pitchFamily="34" charset="-122"/>
                <a:cs typeface="Arial" pitchFamily="34" charset="-120"/>
              </a:rPr>
              <a:t>Active relays per area</a:t>
            </a:r>
            <a:endParaRPr lang="en-US" sz="1050" dirty="0"/>
          </a:p>
        </p:txBody>
      </p:sp>
      <p:sp>
        <p:nvSpPr>
          <p:cNvPr id="32" name="Text 30"/>
          <p:cNvSpPr/>
          <p:nvPr/>
        </p:nvSpPr>
        <p:spPr>
          <a:xfrm>
            <a:off x="5029200" y="4453128"/>
            <a:ext cx="731520" cy="219456"/>
          </a:xfrm>
          <a:prstGeom prst="rect">
            <a:avLst/>
          </a:prstGeom>
          <a:noFill/>
          <a:ln/>
        </p:spPr>
        <p:txBody>
          <a:bodyPr wrap="square" rtlCol="0" anchor="ctr"/>
          <a:lstStyle/>
          <a:p>
            <a:pPr algn="l" indent="0" marL="0">
              <a:buNone/>
            </a:pPr>
            <a:r>
              <a:rPr lang="en-US" sz="900" dirty="0">
                <a:solidFill>
                  <a:srgbClr val="00E5FF"/>
                </a:solidFill>
                <a:latin typeface="Courier New" pitchFamily="34" charset="0"/>
                <a:ea typeface="Courier New" pitchFamily="34" charset="-122"/>
                <a:cs typeface="Courier New" pitchFamily="34" charset="-120"/>
              </a:rPr>
              <a:t>P3</a:t>
            </a:r>
            <a:endParaRPr lang="en-US" sz="900" dirty="0"/>
          </a:p>
        </p:txBody>
      </p:sp>
      <p:sp>
        <p:nvSpPr>
          <p:cNvPr id="33" name="Text 31"/>
          <p:cNvSpPr/>
          <p:nvPr/>
        </p:nvSpPr>
        <p:spPr>
          <a:xfrm>
            <a:off x="5943600" y="4425696"/>
            <a:ext cx="5394960" cy="310896"/>
          </a:xfrm>
          <a:prstGeom prst="rect">
            <a:avLst/>
          </a:prstGeom>
          <a:noFill/>
          <a:ln/>
        </p:spPr>
        <p:txBody>
          <a:bodyPr wrap="square" rtlCol="0" anchor="t"/>
          <a:lstStyle/>
          <a:p>
            <a:pPr algn="l" indent="0" marL="0">
              <a:lnSpc>
                <a:spcPct val="130000"/>
              </a:lnSpc>
              <a:buNone/>
            </a:pPr>
            <a:r>
              <a:rPr lang="en-US" sz="980" dirty="0">
                <a:solidFill>
                  <a:srgbClr val="BEBEBE"/>
                </a:solidFill>
                <a:latin typeface="Arial" pitchFamily="34" charset="0"/>
                <a:ea typeface="Arial" pitchFamily="34" charset="-122"/>
                <a:cs typeface="Arial" pitchFamily="34" charset="-120"/>
              </a:rPr>
              <a:t>Whether growth is producing nodes or only accounts</a:t>
            </a:r>
            <a:endParaRPr lang="en-US" sz="980" dirty="0"/>
          </a:p>
        </p:txBody>
      </p:sp>
      <p:sp>
        <p:nvSpPr>
          <p:cNvPr id="34" name="Text 32"/>
          <p:cNvSpPr/>
          <p:nvPr/>
        </p:nvSpPr>
        <p:spPr>
          <a:xfrm>
            <a:off x="804672" y="4992624"/>
            <a:ext cx="4572000" cy="310896"/>
          </a:xfrm>
          <a:prstGeom prst="rect">
            <a:avLst/>
          </a:prstGeom>
          <a:noFill/>
          <a:ln/>
        </p:spPr>
        <p:txBody>
          <a:bodyPr wrap="square" rtlCol="0" anchor="t"/>
          <a:lstStyle/>
          <a:p>
            <a:pPr algn="l" indent="0" marL="0">
              <a:lnSpc>
                <a:spcPct val="130000"/>
              </a:lnSpc>
              <a:buNone/>
            </a:pPr>
            <a:r>
              <a:rPr lang="en-US" sz="1050" b="1" dirty="0">
                <a:solidFill>
                  <a:srgbClr val="FFFFFF"/>
                </a:solidFill>
                <a:latin typeface="Arial" pitchFamily="34" charset="0"/>
                <a:ea typeface="Arial" pitchFamily="34" charset="-122"/>
                <a:cs typeface="Arial" pitchFamily="34" charset="-120"/>
              </a:rPr>
              <a:t>Repeat settled intents per user</a:t>
            </a:r>
            <a:endParaRPr lang="en-US" sz="1050" dirty="0"/>
          </a:p>
        </p:txBody>
      </p:sp>
      <p:sp>
        <p:nvSpPr>
          <p:cNvPr id="35" name="Text 33"/>
          <p:cNvSpPr/>
          <p:nvPr/>
        </p:nvSpPr>
        <p:spPr>
          <a:xfrm>
            <a:off x="5029200" y="5020056"/>
            <a:ext cx="731520" cy="219456"/>
          </a:xfrm>
          <a:prstGeom prst="rect">
            <a:avLst/>
          </a:prstGeom>
          <a:noFill/>
          <a:ln/>
        </p:spPr>
        <p:txBody>
          <a:bodyPr wrap="square" rtlCol="0" anchor="ctr"/>
          <a:lstStyle/>
          <a:p>
            <a:pPr algn="l" indent="0" marL="0">
              <a:buNone/>
            </a:pPr>
            <a:r>
              <a:rPr lang="en-US" sz="900" dirty="0">
                <a:solidFill>
                  <a:srgbClr val="00E5FF"/>
                </a:solidFill>
                <a:latin typeface="Courier New" pitchFamily="34" charset="0"/>
                <a:ea typeface="Courier New" pitchFamily="34" charset="-122"/>
                <a:cs typeface="Courier New" pitchFamily="34" charset="-120"/>
              </a:rPr>
              <a:t>P3</a:t>
            </a:r>
            <a:endParaRPr lang="en-US" sz="900" dirty="0"/>
          </a:p>
        </p:txBody>
      </p:sp>
      <p:sp>
        <p:nvSpPr>
          <p:cNvPr id="36" name="Text 34"/>
          <p:cNvSpPr/>
          <p:nvPr/>
        </p:nvSpPr>
        <p:spPr>
          <a:xfrm>
            <a:off x="5943600" y="4992624"/>
            <a:ext cx="5394960" cy="310896"/>
          </a:xfrm>
          <a:prstGeom prst="rect">
            <a:avLst/>
          </a:prstGeom>
          <a:noFill/>
          <a:ln/>
        </p:spPr>
        <p:txBody>
          <a:bodyPr wrap="square" rtlCol="0" anchor="t"/>
          <a:lstStyle/>
          <a:p>
            <a:pPr algn="l" indent="0" marL="0">
              <a:lnSpc>
                <a:spcPct val="130000"/>
              </a:lnSpc>
              <a:buNone/>
            </a:pPr>
            <a:r>
              <a:rPr lang="en-US" sz="980" dirty="0">
                <a:solidFill>
                  <a:srgbClr val="BEBEBE"/>
                </a:solidFill>
                <a:latin typeface="Arial" pitchFamily="34" charset="0"/>
                <a:ea typeface="Arial" pitchFamily="34" charset="-122"/>
                <a:cs typeface="Arial" pitchFamily="34" charset="-120"/>
              </a:rPr>
              <a:t>Whether the product is used, or only tried once</a:t>
            </a:r>
            <a:endParaRPr lang="en-US" sz="980" dirty="0"/>
          </a:p>
        </p:txBody>
      </p:sp>
      <p:sp>
        <p:nvSpPr>
          <p:cNvPr id="37" name="Shape 35"/>
          <p:cNvSpPr/>
          <p:nvPr/>
        </p:nvSpPr>
        <p:spPr>
          <a:xfrm>
            <a:off x="658368" y="5413248"/>
            <a:ext cx="10874959" cy="0"/>
          </a:xfrm>
          <a:prstGeom prst="line">
            <a:avLst/>
          </a:prstGeom>
          <a:noFill/>
          <a:ln w="12700">
            <a:solidFill>
              <a:srgbClr val="2A2A2A"/>
            </a:solidFill>
            <a:prstDash val="solid"/>
          </a:ln>
        </p:spPr>
      </p:sp>
      <p:sp>
        <p:nvSpPr>
          <p:cNvPr id="38" name="Text 36"/>
          <p:cNvSpPr/>
          <p:nvPr/>
        </p:nvSpPr>
        <p:spPr>
          <a:xfrm>
            <a:off x="658368" y="5596128"/>
            <a:ext cx="10607040" cy="457200"/>
          </a:xfrm>
          <a:prstGeom prst="rect">
            <a:avLst/>
          </a:prstGeom>
          <a:noFill/>
          <a:ln/>
        </p:spPr>
        <p:txBody>
          <a:bodyPr wrap="square" rtlCol="0" anchor="t"/>
          <a:lstStyle/>
          <a:p>
            <a:pPr algn="l" indent="0" marL="0">
              <a:lnSpc>
                <a:spcPct val="130000"/>
              </a:lnSpc>
              <a:buNone/>
            </a:pPr>
            <a:r>
              <a:rPr lang="en-US" sz="940" dirty="0">
                <a:solidFill>
                  <a:srgbClr val="7A7A7A"/>
                </a:solidFill>
                <a:latin typeface="Arial" pitchFamily="34" charset="0"/>
                <a:ea typeface="Arial" pitchFamily="34" charset="-122"/>
                <a:cs typeface="Arial" pitchFamily="34" charset="-120"/>
              </a:rPr>
              <a:t>WATCHING — no manufacturing partner yet (Phase 2 runs on renders and pre-orders until demand is proven) · device-level testing needed before Phase 1 is called done · the in-app economy launches on testnet first.</a:t>
            </a:r>
            <a:endParaRPr lang="en-US" sz="9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274320" y="274320"/>
            <a:ext cx="146304" cy="0"/>
          </a:xfrm>
          <a:prstGeom prst="line">
            <a:avLst/>
          </a:prstGeom>
          <a:noFill/>
          <a:ln w="12700">
            <a:solidFill>
              <a:srgbClr val="3A3A3A"/>
            </a:solidFill>
            <a:prstDash val="solid"/>
          </a:ln>
        </p:spPr>
      </p:sp>
      <p:sp>
        <p:nvSpPr>
          <p:cNvPr id="3" name="Shape 1"/>
          <p:cNvSpPr/>
          <p:nvPr/>
        </p:nvSpPr>
        <p:spPr>
          <a:xfrm>
            <a:off x="274320" y="274320"/>
            <a:ext cx="0" cy="146304"/>
          </a:xfrm>
          <a:prstGeom prst="line">
            <a:avLst/>
          </a:prstGeom>
          <a:noFill/>
          <a:ln w="12700">
            <a:solidFill>
              <a:srgbClr val="3A3A3A"/>
            </a:solidFill>
            <a:prstDash val="solid"/>
          </a:ln>
        </p:spPr>
      </p:sp>
      <p:sp>
        <p:nvSpPr>
          <p:cNvPr id="4" name="Shape 2"/>
          <p:cNvSpPr/>
          <p:nvPr/>
        </p:nvSpPr>
        <p:spPr>
          <a:xfrm>
            <a:off x="11917375" y="274320"/>
            <a:ext cx="-146304" cy="0"/>
          </a:xfrm>
          <a:prstGeom prst="line">
            <a:avLst/>
          </a:prstGeom>
          <a:noFill/>
          <a:ln w="12700">
            <a:solidFill>
              <a:srgbClr val="3A3A3A"/>
            </a:solidFill>
            <a:prstDash val="solid"/>
          </a:ln>
        </p:spPr>
      </p:sp>
      <p:sp>
        <p:nvSpPr>
          <p:cNvPr id="5" name="Shape 3"/>
          <p:cNvSpPr/>
          <p:nvPr/>
        </p:nvSpPr>
        <p:spPr>
          <a:xfrm>
            <a:off x="11917375" y="274320"/>
            <a:ext cx="0" cy="146304"/>
          </a:xfrm>
          <a:prstGeom prst="line">
            <a:avLst/>
          </a:prstGeom>
          <a:noFill/>
          <a:ln w="12700">
            <a:solidFill>
              <a:srgbClr val="3A3A3A"/>
            </a:solidFill>
            <a:prstDash val="solid"/>
          </a:ln>
        </p:spPr>
      </p:sp>
      <p:sp>
        <p:nvSpPr>
          <p:cNvPr id="6" name="Shape 4"/>
          <p:cNvSpPr/>
          <p:nvPr/>
        </p:nvSpPr>
        <p:spPr>
          <a:xfrm>
            <a:off x="274320" y="6583680"/>
            <a:ext cx="146304" cy="0"/>
          </a:xfrm>
          <a:prstGeom prst="line">
            <a:avLst/>
          </a:prstGeom>
          <a:noFill/>
          <a:ln w="12700">
            <a:solidFill>
              <a:srgbClr val="3A3A3A"/>
            </a:solidFill>
            <a:prstDash val="solid"/>
          </a:ln>
        </p:spPr>
      </p:sp>
      <p:sp>
        <p:nvSpPr>
          <p:cNvPr id="7" name="Shape 5"/>
          <p:cNvSpPr/>
          <p:nvPr/>
        </p:nvSpPr>
        <p:spPr>
          <a:xfrm>
            <a:off x="274320" y="6583680"/>
            <a:ext cx="0" cy="-146304"/>
          </a:xfrm>
          <a:prstGeom prst="line">
            <a:avLst/>
          </a:prstGeom>
          <a:noFill/>
          <a:ln w="12700">
            <a:solidFill>
              <a:srgbClr val="3A3A3A"/>
            </a:solidFill>
            <a:prstDash val="solid"/>
          </a:ln>
        </p:spPr>
      </p:sp>
      <p:sp>
        <p:nvSpPr>
          <p:cNvPr id="8" name="Shape 6"/>
          <p:cNvSpPr/>
          <p:nvPr/>
        </p:nvSpPr>
        <p:spPr>
          <a:xfrm>
            <a:off x="11917375" y="6583680"/>
            <a:ext cx="-146304" cy="0"/>
          </a:xfrm>
          <a:prstGeom prst="line">
            <a:avLst/>
          </a:prstGeom>
          <a:noFill/>
          <a:ln w="12700">
            <a:solidFill>
              <a:srgbClr val="3A3A3A"/>
            </a:solidFill>
            <a:prstDash val="solid"/>
          </a:ln>
        </p:spPr>
      </p:sp>
      <p:sp>
        <p:nvSpPr>
          <p:cNvPr id="9" name="Shape 7"/>
          <p:cNvSpPr/>
          <p:nvPr/>
        </p:nvSpPr>
        <p:spPr>
          <a:xfrm>
            <a:off x="11917375" y="6583680"/>
            <a:ext cx="0" cy="-146304"/>
          </a:xfrm>
          <a:prstGeom prst="line">
            <a:avLst/>
          </a:prstGeom>
          <a:noFill/>
          <a:ln w="12700">
            <a:solidFill>
              <a:srgbClr val="3A3A3A"/>
            </a:solidFill>
            <a:prstDash val="solid"/>
          </a:ln>
        </p:spPr>
      </p:sp>
      <p:sp>
        <p:nvSpPr>
          <p:cNvPr id="10" name="Shape 8"/>
          <p:cNvSpPr/>
          <p:nvPr/>
        </p:nvSpPr>
        <p:spPr>
          <a:xfrm>
            <a:off x="274320" y="274320"/>
            <a:ext cx="146304" cy="0"/>
          </a:xfrm>
          <a:prstGeom prst="line">
            <a:avLst/>
          </a:prstGeom>
          <a:noFill/>
          <a:ln w="12700">
            <a:solidFill>
              <a:srgbClr val="3A3A3A"/>
            </a:solidFill>
            <a:prstDash val="solid"/>
          </a:ln>
        </p:spPr>
      </p:sp>
      <p:sp>
        <p:nvSpPr>
          <p:cNvPr id="11" name="Shape 9"/>
          <p:cNvSpPr/>
          <p:nvPr/>
        </p:nvSpPr>
        <p:spPr>
          <a:xfrm>
            <a:off x="274320" y="274320"/>
            <a:ext cx="0" cy="146304"/>
          </a:xfrm>
          <a:prstGeom prst="line">
            <a:avLst/>
          </a:prstGeom>
          <a:noFill/>
          <a:ln w="12700">
            <a:solidFill>
              <a:srgbClr val="3A3A3A"/>
            </a:solidFill>
            <a:prstDash val="solid"/>
          </a:ln>
        </p:spPr>
      </p:sp>
      <p:sp>
        <p:nvSpPr>
          <p:cNvPr id="12" name="Shape 10"/>
          <p:cNvSpPr/>
          <p:nvPr/>
        </p:nvSpPr>
        <p:spPr>
          <a:xfrm>
            <a:off x="11917375" y="274320"/>
            <a:ext cx="-146304" cy="0"/>
          </a:xfrm>
          <a:prstGeom prst="line">
            <a:avLst/>
          </a:prstGeom>
          <a:noFill/>
          <a:ln w="12700">
            <a:solidFill>
              <a:srgbClr val="3A3A3A"/>
            </a:solidFill>
            <a:prstDash val="solid"/>
          </a:ln>
        </p:spPr>
      </p:sp>
      <p:sp>
        <p:nvSpPr>
          <p:cNvPr id="13" name="Shape 11"/>
          <p:cNvSpPr/>
          <p:nvPr/>
        </p:nvSpPr>
        <p:spPr>
          <a:xfrm>
            <a:off x="11917375" y="274320"/>
            <a:ext cx="0" cy="146304"/>
          </a:xfrm>
          <a:prstGeom prst="line">
            <a:avLst/>
          </a:prstGeom>
          <a:noFill/>
          <a:ln w="12700">
            <a:solidFill>
              <a:srgbClr val="3A3A3A"/>
            </a:solidFill>
            <a:prstDash val="solid"/>
          </a:ln>
        </p:spPr>
      </p:sp>
      <p:sp>
        <p:nvSpPr>
          <p:cNvPr id="14" name="Shape 12"/>
          <p:cNvSpPr/>
          <p:nvPr/>
        </p:nvSpPr>
        <p:spPr>
          <a:xfrm>
            <a:off x="274320" y="6583680"/>
            <a:ext cx="146304" cy="0"/>
          </a:xfrm>
          <a:prstGeom prst="line">
            <a:avLst/>
          </a:prstGeom>
          <a:noFill/>
          <a:ln w="12700">
            <a:solidFill>
              <a:srgbClr val="3A3A3A"/>
            </a:solidFill>
            <a:prstDash val="solid"/>
          </a:ln>
        </p:spPr>
      </p:sp>
      <p:sp>
        <p:nvSpPr>
          <p:cNvPr id="15" name="Shape 13"/>
          <p:cNvSpPr/>
          <p:nvPr/>
        </p:nvSpPr>
        <p:spPr>
          <a:xfrm>
            <a:off x="274320" y="6583680"/>
            <a:ext cx="0" cy="-146304"/>
          </a:xfrm>
          <a:prstGeom prst="line">
            <a:avLst/>
          </a:prstGeom>
          <a:noFill/>
          <a:ln w="12700">
            <a:solidFill>
              <a:srgbClr val="3A3A3A"/>
            </a:solidFill>
            <a:prstDash val="solid"/>
          </a:ln>
        </p:spPr>
      </p:sp>
      <p:sp>
        <p:nvSpPr>
          <p:cNvPr id="16" name="Shape 14"/>
          <p:cNvSpPr/>
          <p:nvPr/>
        </p:nvSpPr>
        <p:spPr>
          <a:xfrm>
            <a:off x="11917375" y="6583680"/>
            <a:ext cx="-146304" cy="0"/>
          </a:xfrm>
          <a:prstGeom prst="line">
            <a:avLst/>
          </a:prstGeom>
          <a:noFill/>
          <a:ln w="12700">
            <a:solidFill>
              <a:srgbClr val="3A3A3A"/>
            </a:solidFill>
            <a:prstDash val="solid"/>
          </a:ln>
        </p:spPr>
      </p:sp>
      <p:sp>
        <p:nvSpPr>
          <p:cNvPr id="17" name="Shape 15"/>
          <p:cNvSpPr/>
          <p:nvPr/>
        </p:nvSpPr>
        <p:spPr>
          <a:xfrm>
            <a:off x="11917375" y="6583680"/>
            <a:ext cx="0" cy="-146304"/>
          </a:xfrm>
          <a:prstGeom prst="line">
            <a:avLst/>
          </a:prstGeom>
          <a:noFill/>
          <a:ln w="12700">
            <a:solidFill>
              <a:srgbClr val="3A3A3A"/>
            </a:solidFill>
            <a:prstDash val="solid"/>
          </a:ln>
        </p:spPr>
      </p:sp>
      <p:sp>
        <p:nvSpPr>
          <p:cNvPr id="18" name="Shape 16"/>
          <p:cNvSpPr/>
          <p:nvPr/>
        </p:nvSpPr>
        <p:spPr>
          <a:xfrm>
            <a:off x="8229600" y="1737360"/>
            <a:ext cx="1280160" cy="731520"/>
          </a:xfrm>
          <a:prstGeom prst="line">
            <a:avLst/>
          </a:prstGeom>
          <a:noFill/>
          <a:ln w="12700">
            <a:solidFill>
              <a:srgbClr val="3A3A3A"/>
            </a:solidFill>
            <a:prstDash val="solid"/>
          </a:ln>
        </p:spPr>
      </p:sp>
      <p:sp>
        <p:nvSpPr>
          <p:cNvPr id="19" name="Shape 17"/>
          <p:cNvSpPr/>
          <p:nvPr/>
        </p:nvSpPr>
        <p:spPr>
          <a:xfrm>
            <a:off x="9509760" y="2468880"/>
            <a:ext cx="1280160" cy="-548640"/>
          </a:xfrm>
          <a:prstGeom prst="line">
            <a:avLst/>
          </a:prstGeom>
          <a:noFill/>
          <a:ln w="12700">
            <a:solidFill>
              <a:srgbClr val="3A3A3A"/>
            </a:solidFill>
            <a:prstDash val="solid"/>
          </a:ln>
        </p:spPr>
      </p:sp>
      <p:sp>
        <p:nvSpPr>
          <p:cNvPr id="20" name="Shape 18"/>
          <p:cNvSpPr/>
          <p:nvPr/>
        </p:nvSpPr>
        <p:spPr>
          <a:xfrm>
            <a:off x="8229600" y="1737360"/>
            <a:ext cx="-365760" cy="1280160"/>
          </a:xfrm>
          <a:prstGeom prst="line">
            <a:avLst/>
          </a:prstGeom>
          <a:noFill/>
          <a:ln w="12700">
            <a:solidFill>
              <a:srgbClr val="3A3A3A"/>
            </a:solidFill>
            <a:prstDash val="solid"/>
          </a:ln>
        </p:spPr>
      </p:sp>
      <p:sp>
        <p:nvSpPr>
          <p:cNvPr id="21" name="Shape 19"/>
          <p:cNvSpPr/>
          <p:nvPr/>
        </p:nvSpPr>
        <p:spPr>
          <a:xfrm>
            <a:off x="7863840" y="3017520"/>
            <a:ext cx="1645920" cy="-548640"/>
          </a:xfrm>
          <a:prstGeom prst="line">
            <a:avLst/>
          </a:prstGeom>
          <a:noFill/>
          <a:ln w="12700">
            <a:solidFill>
              <a:srgbClr val="3A3A3A"/>
            </a:solidFill>
            <a:prstDash val="solid"/>
          </a:ln>
        </p:spPr>
      </p:sp>
      <p:sp>
        <p:nvSpPr>
          <p:cNvPr id="22" name="Shape 20"/>
          <p:cNvSpPr/>
          <p:nvPr/>
        </p:nvSpPr>
        <p:spPr>
          <a:xfrm>
            <a:off x="7863840" y="3017520"/>
            <a:ext cx="548640" cy="1463040"/>
          </a:xfrm>
          <a:prstGeom prst="line">
            <a:avLst/>
          </a:prstGeom>
          <a:noFill/>
          <a:ln w="12700">
            <a:solidFill>
              <a:srgbClr val="3A3A3A"/>
            </a:solidFill>
            <a:prstDash val="solid"/>
          </a:ln>
        </p:spPr>
      </p:sp>
      <p:sp>
        <p:nvSpPr>
          <p:cNvPr id="23" name="Shape 21"/>
          <p:cNvSpPr/>
          <p:nvPr/>
        </p:nvSpPr>
        <p:spPr>
          <a:xfrm>
            <a:off x="8412480" y="4480560"/>
            <a:ext cx="1737360" cy="457200"/>
          </a:xfrm>
          <a:prstGeom prst="line">
            <a:avLst/>
          </a:prstGeom>
          <a:noFill/>
          <a:ln w="12700">
            <a:solidFill>
              <a:srgbClr val="3A3A3A"/>
            </a:solidFill>
            <a:prstDash val="solid"/>
          </a:ln>
        </p:spPr>
      </p:sp>
      <p:sp>
        <p:nvSpPr>
          <p:cNvPr id="24" name="Shape 22"/>
          <p:cNvSpPr/>
          <p:nvPr/>
        </p:nvSpPr>
        <p:spPr>
          <a:xfrm>
            <a:off x="9509760" y="2468880"/>
            <a:ext cx="1097280" cy="1188720"/>
          </a:xfrm>
          <a:prstGeom prst="line">
            <a:avLst/>
          </a:prstGeom>
          <a:noFill/>
          <a:ln w="12700">
            <a:solidFill>
              <a:srgbClr val="3A3A3A"/>
            </a:solidFill>
            <a:prstDash val="solid"/>
          </a:ln>
        </p:spPr>
      </p:sp>
      <p:sp>
        <p:nvSpPr>
          <p:cNvPr id="25" name="Shape 23"/>
          <p:cNvSpPr/>
          <p:nvPr/>
        </p:nvSpPr>
        <p:spPr>
          <a:xfrm>
            <a:off x="8197596" y="1705356"/>
            <a:ext cx="64008" cy="64008"/>
          </a:xfrm>
          <a:prstGeom prst="ellipse">
            <a:avLst/>
          </a:prstGeom>
          <a:solidFill>
            <a:srgbClr val="7A7A7A"/>
          </a:solidFill>
          <a:ln/>
        </p:spPr>
      </p:sp>
      <p:sp>
        <p:nvSpPr>
          <p:cNvPr id="26" name="Shape 24"/>
          <p:cNvSpPr/>
          <p:nvPr/>
        </p:nvSpPr>
        <p:spPr>
          <a:xfrm>
            <a:off x="9477756" y="2436876"/>
            <a:ext cx="64008" cy="64008"/>
          </a:xfrm>
          <a:prstGeom prst="ellipse">
            <a:avLst/>
          </a:prstGeom>
          <a:solidFill>
            <a:srgbClr val="7A7A7A"/>
          </a:solidFill>
          <a:ln/>
        </p:spPr>
      </p:sp>
      <p:sp>
        <p:nvSpPr>
          <p:cNvPr id="27" name="Shape 25"/>
          <p:cNvSpPr/>
          <p:nvPr/>
        </p:nvSpPr>
        <p:spPr>
          <a:xfrm>
            <a:off x="10757916" y="1888236"/>
            <a:ext cx="64008" cy="64008"/>
          </a:xfrm>
          <a:prstGeom prst="ellipse">
            <a:avLst/>
          </a:prstGeom>
          <a:solidFill>
            <a:srgbClr val="7A7A7A"/>
          </a:solidFill>
          <a:ln/>
        </p:spPr>
      </p:sp>
      <p:sp>
        <p:nvSpPr>
          <p:cNvPr id="28" name="Shape 26"/>
          <p:cNvSpPr/>
          <p:nvPr/>
        </p:nvSpPr>
        <p:spPr>
          <a:xfrm>
            <a:off x="7831836" y="2985516"/>
            <a:ext cx="64008" cy="64008"/>
          </a:xfrm>
          <a:prstGeom prst="ellipse">
            <a:avLst/>
          </a:prstGeom>
          <a:solidFill>
            <a:srgbClr val="7A7A7A"/>
          </a:solidFill>
          <a:ln/>
        </p:spPr>
      </p:sp>
      <p:sp>
        <p:nvSpPr>
          <p:cNvPr id="29" name="Shape 27"/>
          <p:cNvSpPr/>
          <p:nvPr/>
        </p:nvSpPr>
        <p:spPr>
          <a:xfrm>
            <a:off x="8380476" y="4448556"/>
            <a:ext cx="64008" cy="64008"/>
          </a:xfrm>
          <a:prstGeom prst="ellipse">
            <a:avLst/>
          </a:prstGeom>
          <a:solidFill>
            <a:srgbClr val="7A7A7A"/>
          </a:solidFill>
          <a:ln/>
        </p:spPr>
      </p:sp>
      <p:sp>
        <p:nvSpPr>
          <p:cNvPr id="30" name="Shape 28"/>
          <p:cNvSpPr/>
          <p:nvPr/>
        </p:nvSpPr>
        <p:spPr>
          <a:xfrm>
            <a:off x="10117836" y="4905756"/>
            <a:ext cx="64008" cy="64008"/>
          </a:xfrm>
          <a:prstGeom prst="ellipse">
            <a:avLst/>
          </a:prstGeom>
          <a:solidFill>
            <a:srgbClr val="7A7A7A"/>
          </a:solidFill>
          <a:ln/>
        </p:spPr>
      </p:sp>
      <p:sp>
        <p:nvSpPr>
          <p:cNvPr id="31" name="Shape 29"/>
          <p:cNvSpPr/>
          <p:nvPr/>
        </p:nvSpPr>
        <p:spPr>
          <a:xfrm>
            <a:off x="10575036" y="3625596"/>
            <a:ext cx="64008" cy="64008"/>
          </a:xfrm>
          <a:prstGeom prst="ellipse">
            <a:avLst/>
          </a:prstGeom>
          <a:solidFill>
            <a:srgbClr val="7A7A7A"/>
          </a:solidFill>
          <a:ln/>
        </p:spPr>
      </p:sp>
      <p:sp>
        <p:nvSpPr>
          <p:cNvPr id="32" name="Text 30"/>
          <p:cNvSpPr/>
          <p:nvPr/>
        </p:nvSpPr>
        <p:spPr>
          <a:xfrm>
            <a:off x="658368" y="274320"/>
            <a:ext cx="3657600" cy="237744"/>
          </a:xfrm>
          <a:prstGeom prst="rect">
            <a:avLst/>
          </a:prstGeom>
          <a:noFill/>
          <a:ln/>
        </p:spPr>
        <p:txBody>
          <a:bodyPr wrap="square" rtlCol="0" anchor="ctr"/>
          <a:lstStyle/>
          <a:p>
            <a:pPr indent="0" marL="0">
              <a:buNone/>
            </a:pPr>
            <a:r>
              <a:rPr lang="en-US" sz="900" b="1" spc="300" kern="0" dirty="0">
                <a:solidFill>
                  <a:srgbClr val="FFFFFF"/>
                </a:solidFill>
                <a:latin typeface="Arial" pitchFamily="34" charset="0"/>
                <a:ea typeface="Arial" pitchFamily="34" charset="-122"/>
                <a:cs typeface="Arial" pitchFamily="34" charset="-120"/>
              </a:rPr>
              <a:t>CABALMESH</a:t>
            </a:r>
            <a:endParaRPr lang="en-US" sz="900" dirty="0"/>
          </a:p>
        </p:txBody>
      </p:sp>
      <p:sp>
        <p:nvSpPr>
          <p:cNvPr id="33" name="Text 31"/>
          <p:cNvSpPr/>
          <p:nvPr/>
        </p:nvSpPr>
        <p:spPr>
          <a:xfrm>
            <a:off x="6583680" y="274320"/>
            <a:ext cx="4937760" cy="237744"/>
          </a:xfrm>
          <a:prstGeom prst="rect">
            <a:avLst/>
          </a:prstGeom>
          <a:noFill/>
          <a:ln/>
        </p:spPr>
        <p:txBody>
          <a:bodyPr wrap="square" rtlCol="0" anchor="ctr"/>
          <a:lstStyle/>
          <a:p>
            <a:pPr algn="r" indent="0" marL="0">
              <a:buNone/>
            </a:pPr>
            <a:r>
              <a:rPr lang="en-US" sz="900" b="1" spc="300" kern="0" dirty="0">
                <a:solidFill>
                  <a:srgbClr val="7A7A7A"/>
                </a:solidFill>
                <a:latin typeface="Arial" pitchFamily="34" charset="0"/>
                <a:ea typeface="Arial" pitchFamily="34" charset="-122"/>
                <a:cs typeface="Arial" pitchFamily="34" charset="-120"/>
              </a:rPr>
              <a:t>ROADMAP</a:t>
            </a:r>
            <a:endParaRPr lang="en-US" sz="900" dirty="0"/>
          </a:p>
        </p:txBody>
      </p:sp>
      <p:sp>
        <p:nvSpPr>
          <p:cNvPr id="34" name="Shape 32"/>
          <p:cNvSpPr/>
          <p:nvPr/>
        </p:nvSpPr>
        <p:spPr>
          <a:xfrm>
            <a:off x="658368" y="566928"/>
            <a:ext cx="10874959" cy="0"/>
          </a:xfrm>
          <a:prstGeom prst="line">
            <a:avLst/>
          </a:prstGeom>
          <a:noFill/>
          <a:ln w="12700">
            <a:solidFill>
              <a:srgbClr val="2A2A2A"/>
            </a:solidFill>
            <a:prstDash val="solid"/>
          </a:ln>
        </p:spPr>
      </p:sp>
      <p:sp>
        <p:nvSpPr>
          <p:cNvPr id="35" name="Text 33"/>
          <p:cNvSpPr/>
          <p:nvPr/>
        </p:nvSpPr>
        <p:spPr>
          <a:xfrm>
            <a:off x="621792" y="1920240"/>
            <a:ext cx="7498080" cy="2194560"/>
          </a:xfrm>
          <a:prstGeom prst="rect">
            <a:avLst/>
          </a:prstGeom>
          <a:noFill/>
          <a:ln/>
        </p:spPr>
        <p:txBody>
          <a:bodyPr wrap="square" rtlCol="0" anchor="ctr"/>
          <a:lstStyle/>
          <a:p>
            <a:pPr indent="0" marL="0">
              <a:lnSpc>
                <a:spcPct val="108000"/>
              </a:lnSpc>
              <a:buNone/>
            </a:pPr>
            <a:r>
              <a:rPr lang="en-US" sz="3800" b="1" dirty="0">
                <a:solidFill>
                  <a:srgbClr val="FFFFFF"/>
                </a:solidFill>
                <a:latin typeface="Arial" pitchFamily="34" charset="0"/>
                <a:ea typeface="Arial" pitchFamily="34" charset="-122"/>
                <a:cs typeface="Arial" pitchFamily="34" charset="-120"/>
              </a:rPr>
              <a:t>Trust, then demand,</a:t>
            </a:r>
            <a:endParaRPr lang="en-US" sz="3800" dirty="0"/>
          </a:p>
          <a:p>
            <a:pPr indent="0" marL="0">
              <a:lnSpc>
                <a:spcPct val="108000"/>
              </a:lnSpc>
              <a:buNone/>
            </a:pPr>
            <a:r>
              <a:rPr lang="en-US" sz="3800" b="1" dirty="0">
                <a:solidFill>
                  <a:srgbClr val="FFFFFF"/>
                </a:solidFill>
                <a:latin typeface="Arial" pitchFamily="34" charset="0"/>
                <a:ea typeface="Arial" pitchFamily="34" charset="-122"/>
                <a:cs typeface="Arial" pitchFamily="34" charset="-120"/>
              </a:rPr>
              <a:t>then an economy.</a:t>
            </a:r>
            <a:endParaRPr lang="en-US" sz="3800" dirty="0"/>
          </a:p>
          <a:p>
            <a:pPr indent="0" marL="0">
              <a:lnSpc>
                <a:spcPct val="108000"/>
              </a:lnSpc>
              <a:buNone/>
            </a:pPr>
            <a:r>
              <a:rPr lang="en-US" sz="3800" b="1" dirty="0">
                <a:solidFill>
                  <a:srgbClr val="FFFFFF"/>
                </a:solidFill>
                <a:latin typeface="Arial" pitchFamily="34" charset="0"/>
                <a:ea typeface="Arial" pitchFamily="34" charset="-122"/>
                <a:cs typeface="Arial" pitchFamily="34" charset="-120"/>
              </a:rPr>
              <a:t>In that order.</a:t>
            </a:r>
            <a:endParaRPr lang="en-US" sz="3800" dirty="0"/>
          </a:p>
        </p:txBody>
      </p:sp>
      <p:sp>
        <p:nvSpPr>
          <p:cNvPr id="36" name="Shape 34"/>
          <p:cNvSpPr/>
          <p:nvPr/>
        </p:nvSpPr>
        <p:spPr>
          <a:xfrm>
            <a:off x="658368" y="4443984"/>
            <a:ext cx="1188720" cy="32004"/>
          </a:xfrm>
          <a:prstGeom prst="rect">
            <a:avLst/>
          </a:prstGeom>
          <a:solidFill>
            <a:srgbClr val="00E5FF"/>
          </a:solidFill>
          <a:ln/>
        </p:spPr>
      </p:sp>
      <p:sp>
        <p:nvSpPr>
          <p:cNvPr id="37" name="Text 35"/>
          <p:cNvSpPr/>
          <p:nvPr/>
        </p:nvSpPr>
        <p:spPr>
          <a:xfrm>
            <a:off x="658368" y="4727448"/>
            <a:ext cx="1280160" cy="219456"/>
          </a:xfrm>
          <a:prstGeom prst="rect">
            <a:avLst/>
          </a:prstGeom>
          <a:noFill/>
          <a:ln/>
        </p:spPr>
        <p:txBody>
          <a:bodyPr wrap="square" rtlCol="0" anchor="ctr"/>
          <a:lstStyle/>
          <a:p>
            <a:pPr algn="l" indent="0" marL="0">
              <a:buNone/>
            </a:pPr>
            <a:r>
              <a:rPr lang="en-US" sz="800" b="1" spc="200" kern="0" dirty="0">
                <a:solidFill>
                  <a:srgbClr val="3A3A3A"/>
                </a:solidFill>
                <a:latin typeface="Arial" pitchFamily="34" charset="0"/>
                <a:ea typeface="Arial" pitchFamily="34" charset="-122"/>
                <a:cs typeface="Arial" pitchFamily="34" charset="-120"/>
              </a:rPr>
              <a:t>NOW</a:t>
            </a:r>
            <a:endParaRPr lang="en-US" sz="800" dirty="0"/>
          </a:p>
        </p:txBody>
      </p:sp>
      <p:sp>
        <p:nvSpPr>
          <p:cNvPr id="38" name="Text 36"/>
          <p:cNvSpPr/>
          <p:nvPr/>
        </p:nvSpPr>
        <p:spPr>
          <a:xfrm>
            <a:off x="2029968" y="4700016"/>
            <a:ext cx="6035040" cy="274320"/>
          </a:xfrm>
          <a:prstGeom prst="rect">
            <a:avLst/>
          </a:prstGeom>
          <a:noFill/>
          <a:ln/>
        </p:spPr>
        <p:txBody>
          <a:bodyPr wrap="square" rtlCol="0" anchor="t"/>
          <a:lstStyle/>
          <a:p>
            <a:pPr algn="l" indent="0" marL="0">
              <a:lnSpc>
                <a:spcPct val="130000"/>
              </a:lnSpc>
              <a:buNone/>
            </a:pPr>
            <a:r>
              <a:rPr lang="en-US" sz="1050" dirty="0">
                <a:solidFill>
                  <a:srgbClr val="BEBEBE"/>
                </a:solidFill>
                <a:latin typeface="Arial" pitchFamily="34" charset="0"/>
                <a:ea typeface="Arial" pitchFamily="34" charset="-122"/>
                <a:cs typeface="Arial" pitchFamily="34" charset="-120"/>
              </a:rPr>
              <a:t>Phase 1 — make the wallet survivable</a:t>
            </a:r>
            <a:endParaRPr lang="en-US" sz="1050" dirty="0"/>
          </a:p>
        </p:txBody>
      </p:sp>
      <p:sp>
        <p:nvSpPr>
          <p:cNvPr id="39" name="Text 37"/>
          <p:cNvSpPr/>
          <p:nvPr/>
        </p:nvSpPr>
        <p:spPr>
          <a:xfrm>
            <a:off x="658368" y="5093208"/>
            <a:ext cx="1280160" cy="219456"/>
          </a:xfrm>
          <a:prstGeom prst="rect">
            <a:avLst/>
          </a:prstGeom>
          <a:noFill/>
          <a:ln/>
        </p:spPr>
        <p:txBody>
          <a:bodyPr wrap="square" rtlCol="0" anchor="ctr"/>
          <a:lstStyle/>
          <a:p>
            <a:pPr algn="l" indent="0" marL="0">
              <a:buNone/>
            </a:pPr>
            <a:r>
              <a:rPr lang="en-US" sz="800" b="1" spc="200" kern="0" dirty="0">
                <a:solidFill>
                  <a:srgbClr val="3A3A3A"/>
                </a:solidFill>
                <a:latin typeface="Arial" pitchFamily="34" charset="0"/>
                <a:ea typeface="Arial" pitchFamily="34" charset="-122"/>
                <a:cs typeface="Arial" pitchFamily="34" charset="-120"/>
              </a:rPr>
              <a:t>NEXT</a:t>
            </a:r>
            <a:endParaRPr lang="en-US" sz="800" dirty="0"/>
          </a:p>
        </p:txBody>
      </p:sp>
      <p:sp>
        <p:nvSpPr>
          <p:cNvPr id="40" name="Text 38"/>
          <p:cNvSpPr/>
          <p:nvPr/>
        </p:nvSpPr>
        <p:spPr>
          <a:xfrm>
            <a:off x="2029968" y="5065776"/>
            <a:ext cx="6035040" cy="274320"/>
          </a:xfrm>
          <a:prstGeom prst="rect">
            <a:avLst/>
          </a:prstGeom>
          <a:noFill/>
          <a:ln/>
        </p:spPr>
        <p:txBody>
          <a:bodyPr wrap="square" rtlCol="0" anchor="t"/>
          <a:lstStyle/>
          <a:p>
            <a:pPr algn="l" indent="0" marL="0">
              <a:lnSpc>
                <a:spcPct val="130000"/>
              </a:lnSpc>
              <a:buNone/>
            </a:pPr>
            <a:r>
              <a:rPr lang="en-US" sz="1050" dirty="0">
                <a:solidFill>
                  <a:srgbClr val="BEBEBE"/>
                </a:solidFill>
                <a:latin typeface="Arial" pitchFamily="34" charset="0"/>
                <a:ea typeface="Arial" pitchFamily="34" charset="-122"/>
                <a:cs typeface="Arial" pitchFamily="34" charset="-120"/>
              </a:rPr>
              <a:t>Phase 2 — devices, waitlist, first campaign</a:t>
            </a:r>
            <a:endParaRPr lang="en-US" sz="1050" dirty="0"/>
          </a:p>
        </p:txBody>
      </p:sp>
      <p:sp>
        <p:nvSpPr>
          <p:cNvPr id="41" name="Text 39"/>
          <p:cNvSpPr/>
          <p:nvPr/>
        </p:nvSpPr>
        <p:spPr>
          <a:xfrm>
            <a:off x="658368" y="5458968"/>
            <a:ext cx="1280160" cy="219456"/>
          </a:xfrm>
          <a:prstGeom prst="rect">
            <a:avLst/>
          </a:prstGeom>
          <a:noFill/>
          <a:ln/>
        </p:spPr>
        <p:txBody>
          <a:bodyPr wrap="square" rtlCol="0" anchor="ctr"/>
          <a:lstStyle/>
          <a:p>
            <a:pPr algn="l" indent="0" marL="0">
              <a:buNone/>
            </a:pPr>
            <a:r>
              <a:rPr lang="en-US" sz="800" b="1" spc="200" kern="0" dirty="0">
                <a:solidFill>
                  <a:srgbClr val="3A3A3A"/>
                </a:solidFill>
                <a:latin typeface="Arial" pitchFamily="34" charset="0"/>
                <a:ea typeface="Arial" pitchFamily="34" charset="-122"/>
                <a:cs typeface="Arial" pitchFamily="34" charset="-120"/>
              </a:rPr>
              <a:t>THEN</a:t>
            </a:r>
            <a:endParaRPr lang="en-US" sz="800" dirty="0"/>
          </a:p>
        </p:txBody>
      </p:sp>
      <p:sp>
        <p:nvSpPr>
          <p:cNvPr id="42" name="Text 40"/>
          <p:cNvSpPr/>
          <p:nvPr/>
        </p:nvSpPr>
        <p:spPr>
          <a:xfrm>
            <a:off x="2029968" y="5431536"/>
            <a:ext cx="6035040" cy="274320"/>
          </a:xfrm>
          <a:prstGeom prst="rect">
            <a:avLst/>
          </a:prstGeom>
          <a:noFill/>
          <a:ln/>
        </p:spPr>
        <p:txBody>
          <a:bodyPr wrap="square" rtlCol="0" anchor="t"/>
          <a:lstStyle/>
          <a:p>
            <a:pPr algn="l" indent="0" marL="0">
              <a:lnSpc>
                <a:spcPct val="130000"/>
              </a:lnSpc>
              <a:buNone/>
            </a:pPr>
            <a:r>
              <a:rPr lang="en-US" sz="1050" dirty="0">
                <a:solidFill>
                  <a:srgbClr val="BEBEBE"/>
                </a:solidFill>
                <a:latin typeface="Arial" pitchFamily="34" charset="0"/>
                <a:ea typeface="Arial" pitchFamily="34" charset="-122"/>
                <a:cs typeface="Arial" pitchFamily="34" charset="-120"/>
              </a:rPr>
              <a:t>Phase 3 — relaying that pays for itself</a:t>
            </a:r>
            <a:endParaRPr lang="en-US" sz="1050" dirty="0"/>
          </a:p>
        </p:txBody>
      </p:sp>
      <p:sp>
        <p:nvSpPr>
          <p:cNvPr id="43" name="Text 41"/>
          <p:cNvSpPr/>
          <p:nvPr/>
        </p:nvSpPr>
        <p:spPr>
          <a:xfrm>
            <a:off x="658368" y="5824728"/>
            <a:ext cx="1280160" cy="219456"/>
          </a:xfrm>
          <a:prstGeom prst="rect">
            <a:avLst/>
          </a:prstGeom>
          <a:noFill/>
          <a:ln/>
        </p:spPr>
        <p:txBody>
          <a:bodyPr wrap="square" rtlCol="0" anchor="ctr"/>
          <a:lstStyle/>
          <a:p>
            <a:pPr algn="l" indent="0" marL="0">
              <a:buNone/>
            </a:pPr>
            <a:r>
              <a:rPr lang="en-US" sz="800" b="1" spc="200" kern="0" dirty="0">
                <a:solidFill>
                  <a:srgbClr val="3A3A3A"/>
                </a:solidFill>
                <a:latin typeface="Arial" pitchFamily="34" charset="0"/>
                <a:ea typeface="Arial" pitchFamily="34" charset="-122"/>
                <a:cs typeface="Arial" pitchFamily="34" charset="-120"/>
              </a:rPr>
              <a:t>DETAIL</a:t>
            </a:r>
            <a:endParaRPr lang="en-US" sz="800" dirty="0"/>
          </a:p>
        </p:txBody>
      </p:sp>
      <p:sp>
        <p:nvSpPr>
          <p:cNvPr id="44" name="Text 42"/>
          <p:cNvSpPr/>
          <p:nvPr/>
        </p:nvSpPr>
        <p:spPr>
          <a:xfrm>
            <a:off x="2029968" y="5797296"/>
            <a:ext cx="6035040" cy="274320"/>
          </a:xfrm>
          <a:prstGeom prst="rect">
            <a:avLst/>
          </a:prstGeom>
          <a:noFill/>
          <a:ln/>
        </p:spPr>
        <p:txBody>
          <a:bodyPr wrap="square" rtlCol="0" anchor="t"/>
          <a:lstStyle/>
          <a:p>
            <a:pPr algn="l" indent="0" marL="0">
              <a:lnSpc>
                <a:spcPct val="130000"/>
              </a:lnSpc>
              <a:buNone/>
            </a:pPr>
            <a:r>
              <a:rPr lang="en-US" sz="1050" dirty="0">
                <a:solidFill>
                  <a:srgbClr val="BEBEBE"/>
                </a:solidFill>
                <a:latin typeface="Arial" pitchFamily="34" charset="0"/>
                <a:ea typeface="Arial" pitchFamily="34" charset="-122"/>
                <a:cs typeface="Arial" pitchFamily="34" charset="-120"/>
              </a:rPr>
              <a:t>Full execution plan available on request</a:t>
            </a:r>
            <a:endParaRPr lang="en-US" sz="1050" dirty="0"/>
          </a:p>
        </p:txBody>
      </p:sp>
      <p:sp>
        <p:nvSpPr>
          <p:cNvPr id="45" name="Text 43"/>
          <p:cNvSpPr/>
          <p:nvPr/>
        </p:nvSpPr>
        <p:spPr>
          <a:xfrm>
            <a:off x="4937760" y="6263640"/>
            <a:ext cx="6583680" cy="237744"/>
          </a:xfrm>
          <a:prstGeom prst="rect">
            <a:avLst/>
          </a:prstGeom>
          <a:noFill/>
          <a:ln/>
        </p:spPr>
        <p:txBody>
          <a:bodyPr wrap="square" rtlCol="0" anchor="ctr"/>
          <a:lstStyle/>
          <a:p>
            <a:pPr algn="r" indent="0" marL="0">
              <a:buNone/>
            </a:pPr>
            <a:r>
              <a:rPr lang="en-US" sz="800" b="1" spc="160" kern="0" dirty="0">
                <a:solidFill>
                  <a:srgbClr val="3A3A3A"/>
                </a:solidFill>
                <a:latin typeface="Arial" pitchFamily="34" charset="0"/>
                <a:ea typeface="Arial" pitchFamily="34" charset="-122"/>
                <a:cs typeface="Arial" pitchFamily="34" charset="-120"/>
              </a:rPr>
              <a:t>A LIVING PLAN. WHAT SHIPS IS DECIDED BY WHAT THE LAST PHASE PROVED.</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CabalMesh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CabalMesh — Product &amp; Growth Roadmap</dc:title>
  <dc:subject>PptxGenJS Presentation</dc:subject>
  <dc:creator>CabalMesh</dc:creator>
  <cp:lastModifiedBy>CabalMesh</cp:lastModifiedBy>
  <cp:revision>1</cp:revision>
  <dcterms:created xsi:type="dcterms:W3CDTF">2026-08-27T10:17:41Z</dcterms:created>
  <dcterms:modified xsi:type="dcterms:W3CDTF">2026-08-27T10:17:41Z</dcterms:modified>
</cp:coreProperties>
</file>
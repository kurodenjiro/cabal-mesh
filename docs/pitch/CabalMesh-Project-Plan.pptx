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14400"/>
            <a:ext cx="1188720" cy="77724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1691640"/>
            <a:ext cx="822960" cy="-64008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914400"/>
            <a:ext cx="-548640" cy="109728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011680"/>
            <a:ext cx="1737360" cy="-32004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2011680"/>
            <a:ext cx="274320" cy="155448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3566160"/>
            <a:ext cx="1280160" cy="54864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82328" y="88696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9" name="Shape 7"/>
          <p:cNvSpPr/>
          <p:nvPr/>
        </p:nvSpPr>
        <p:spPr>
          <a:xfrm>
            <a:off x="10671048" y="166420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0" name="Shape 8"/>
          <p:cNvSpPr/>
          <p:nvPr/>
        </p:nvSpPr>
        <p:spPr>
          <a:xfrm>
            <a:off x="9482328" y="88696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1" name="Shape 9"/>
          <p:cNvSpPr/>
          <p:nvPr/>
        </p:nvSpPr>
        <p:spPr>
          <a:xfrm>
            <a:off x="8933688" y="198424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2" name="Shape 10"/>
          <p:cNvSpPr/>
          <p:nvPr/>
        </p:nvSpPr>
        <p:spPr>
          <a:xfrm>
            <a:off x="8933688" y="198424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9208008" y="353872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DEVELOPMENT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19202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CabalMesh</a:t>
            </a:r>
            <a:endParaRPr lang="en-US" sz="6200" dirty="0"/>
          </a:p>
        </p:txBody>
      </p:sp>
      <p:sp>
        <p:nvSpPr>
          <p:cNvPr id="16" name="Text 14"/>
          <p:cNvSpPr/>
          <p:nvPr/>
        </p:nvSpPr>
        <p:spPr>
          <a:xfrm>
            <a:off x="566928" y="30632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C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milestones &amp; execution plan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66928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  →  JAN 2027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434840"/>
            <a:ext cx="1280160" cy="0"/>
          </a:xfrm>
          <a:prstGeom prst="line">
            <a:avLst/>
          </a:prstGeom>
          <a:noFill/>
          <a:ln w="25400">
            <a:solidFill>
              <a:srgbClr val="E854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709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7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against a code-level status audit rather than the pitch. Five phases, each with a stated constraint and an falsifiable exit condition.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kurodenjiro  ·  Baseline: docs/product-status.md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 2026 → Jan 2027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92680" y="160020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92680" y="1783080"/>
            <a:ext cx="0" cy="402336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6720" y="160020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36720" y="1783080"/>
            <a:ext cx="0" cy="402336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60020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783080"/>
            <a:ext cx="0" cy="402336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4800" y="160020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24800" y="1783080"/>
            <a:ext cx="0" cy="402336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68840" y="1600200"/>
            <a:ext cx="1844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768840" y="1783080"/>
            <a:ext cx="0" cy="402336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1783080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179222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60120" y="177393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intent parsing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103120"/>
            <a:ext cx="3614928" cy="329184"/>
          </a:xfrm>
          <a:prstGeom prst="roundRect">
            <a:avLst>
              <a:gd name="adj" fmla="val 16667"/>
            </a:avLst>
          </a:prstGeom>
          <a:solidFill>
            <a:srgbClr val="E8541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5420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52374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concepts &amp; demand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92680" y="2852928"/>
            <a:ext cx="3614928" cy="329184"/>
          </a:xfrm>
          <a:prstGeom prst="roundRect">
            <a:avLst>
              <a:gd name="adj" fmla="val 16667"/>
            </a:avLst>
          </a:prstGeom>
          <a:solidFill>
            <a:srgbClr val="EC703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91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0120" y="32735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goes live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36720" y="3602736"/>
            <a:ext cx="3614928" cy="329184"/>
          </a:xfrm>
          <a:prstGeom prst="roundRect">
            <a:avLst>
              <a:gd name="adj" fmla="val 16667"/>
            </a:avLst>
          </a:prstGeom>
          <a:solidFill>
            <a:srgbClr val="F08C6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416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40233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negotiation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4352544"/>
            <a:ext cx="3614928" cy="329184"/>
          </a:xfrm>
          <a:prstGeom prst="roundRect">
            <a:avLst>
              <a:gd name="adj" fmla="val 16667"/>
            </a:avLst>
          </a:prstGeom>
          <a:solidFill>
            <a:srgbClr val="F3A88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7914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60120" y="4773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compute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24800" y="5102352"/>
            <a:ext cx="3614928" cy="329184"/>
          </a:xfrm>
          <a:prstGeom prst="roundRect">
            <a:avLst>
              <a:gd name="adj" fmla="val 16667"/>
            </a:avLst>
          </a:prstGeom>
          <a:solidFill>
            <a:srgbClr val="F6C4A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overlap deliberately. Bars are execution windows, not commitments — each phase exits on its condition, not its date.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guarantees &amp; intent parsing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25880" y="207568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unrecoverable key loss; restore NL intent parsing over the existing validated draft pipeline.</a:t>
            </a:r>
            <a:endParaRPr lang="en-US" sz="1030" dirty="0"/>
          </a:p>
        </p:txBody>
      </p:sp>
      <p:sp>
        <p:nvSpPr>
          <p:cNvPr id="9" name="Text 7"/>
          <p:cNvSpPr/>
          <p:nvPr/>
        </p:nvSpPr>
        <p:spPr>
          <a:xfrm>
            <a:off x="877824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5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– Sep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23744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060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concepts &amp; demand signal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25880" y="294436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 designs, published as concepts. Waitlist volume decides whether tooling is worth funding.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8778240" y="2697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5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Oct 2026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92424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25880" y="34747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goes live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25880" y="38130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verified relay work into on-chain rewards and open a market for node modules.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8778240" y="3566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5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Nov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61104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43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25880" y="4343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bounded negotiation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25880" y="468172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gap between claimed and enforced: real circuit verification, guardrails in Rust.</a:t>
            </a:r>
            <a:endParaRPr lang="en-US" sz="1030" dirty="0"/>
          </a:p>
        </p:txBody>
      </p:sp>
      <p:sp>
        <p:nvSpPr>
          <p:cNvPr id="24" name="Text 22"/>
          <p:cNvSpPr/>
          <p:nvPr/>
        </p:nvSpPr>
        <p:spPr>
          <a:xfrm>
            <a:off x="877824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5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Dec 2026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129784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212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325880" y="52120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Confidential compute &amp; platform parity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325880" y="555040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FHE/MPC for negotiation privacy; close the desktop keystore and BLE-plane gaps.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8778240" y="5303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5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2026 – Jan 2027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778240" y="228600"/>
            <a:ext cx="2834640" cy="1828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r" indent="0" marL="0">
              <a:buNone/>
            </a:pPr>
            <a:r>
              <a:rPr lang="en-US" sz="10800" b="1" dirty="0">
                <a:solidFill>
                  <a:srgbClr val="F2E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AUG – SEP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guarantees &amp; intent parsing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 wiped device means permanently lost funds. Guardian recovery and passphrase unlock already ship; this phase closes the remaining gaps and reconnects the intent parser.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24–48h delay on guardian recovery with a veto notification, so a compromised device can be countermanded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548640" y="358444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unlock, gated on the platform keystore's hardware-enforced retry counter (ticket 21)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548640" y="42428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enrollment and share-distribution UI, matching the shipped protocol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548640" y="49011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storage inherits the SECURITY passphrase setting rather than staying file-key-protected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897880" y="2560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PARSING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2926080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chip UI, so a mis-parse is corrected in place instead of falling back to the form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897880" y="3584448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parse_intent_chat QA — the parser already emits the validated fields New.tsx consumes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5897880" y="4242816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recovery assistant for the device-loss path, where static UI branches badly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897880" y="4901184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held: the model emits IntentFields only; Rust validates, previews and signs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CE7D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6235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condition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562356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wiped device reconstructs its key from 3-of-5 guardians with the veto window verified on physical hardware, and a natural-language intent reaches broadcast without widening what Rust will sign.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778240" y="228600"/>
            <a:ext cx="2834640" cy="1828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r" indent="0" marL="0">
              <a:buNone/>
            </a:pPr>
            <a:r>
              <a:rPr lang="en-US" sz="10800" b="1" dirty="0">
                <a:solidFill>
                  <a:srgbClr val="F2E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SEP – OCT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concepts &amp; demand signal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 designs that make the protocol legible — and a demand test before committing capital to tooling.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166360" cy="3429000"/>
          </a:xfrm>
          <a:prstGeom prst="roundRect">
            <a:avLst>
              <a:gd name="adj" fmla="val 2667"/>
            </a:avLst>
          </a:prstGeom>
          <a:solidFill>
            <a:srgbClr val="141210"/>
          </a:solidFill>
          <a:ln/>
        </p:spPr>
      </p:sp>
      <p:pic>
        <p:nvPicPr>
          <p:cNvPr id="9" name="Image 0" descr="/Users/mac/dev/Cabal-Mesh/docs/pitch/src/deck-shadowbox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240280"/>
            <a:ext cx="4892040" cy="2057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442569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· MODEL · PROVER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46451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ShadowBox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49926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C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instead of three: mesh relay, local model and prover in a single fanless slab, with RADIO / CRYPTO / POWER bays mirroring the in-app module system.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5989320" y="2103120"/>
            <a:ext cx="5166360" cy="3429000"/>
          </a:xfrm>
          <a:prstGeom prst="roundRect">
            <a:avLst>
              <a:gd name="adj" fmla="val 2667"/>
            </a:avLst>
          </a:prstGeom>
          <a:solidFill>
            <a:srgbClr val="141210"/>
          </a:solidFill>
          <a:ln/>
        </p:spPr>
      </p:sp>
      <p:pic>
        <p:nvPicPr>
          <p:cNvPr id="14" name="Image 1" descr="/Users/mac/dev/Cabal-Mesh/docs/pitch/src/deck-nobod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2240280"/>
            <a:ext cx="4892040" cy="2057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263640" y="4425696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ESCROW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263640" y="46451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Nobody Box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263640" y="4992624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C9C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parcel locker whose bolt turns on the on-chain release. A load cell reports that something went in and something left — never what it was.</a:t>
            </a:r>
            <a:endParaRPr lang="en-US" sz="930" dirty="0"/>
          </a:p>
        </p:txBody>
      </p:sp>
      <p:sp>
        <p:nvSpPr>
          <p:cNvPr id="18" name="Text 14"/>
          <p:cNvSpPr/>
          <p:nvPr/>
        </p:nvSpPr>
        <p:spPr>
          <a:xfrm>
            <a:off x="548640" y="56692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is industrial design and a demand signal, not units. No manufacturer is engaged; tooling spend is gated on waitlist conversion.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48640" y="60350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condition: both designs rendered, waitlist live, and signup volume sufficient to justify — or kill — the hardware track.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is continuous, sequenced behind shipped capability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447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push is anchored to a milestone that gives the audience something verifiable. No campaign runs ahead of the artifact it describes.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– SEP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PUBLIC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7523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 Recovery ships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updates on the offline settlement path — the one differentiated capability that already works end to end. Zero cost, compounding audience.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growth, update engagement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90088" y="2148840"/>
            <a:ext cx="0" cy="292608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148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2404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REVEAL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154680" y="27523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 Renders complete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3063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both reference designs. Waitlist is instrumented as a demand test — no pre-orders taken, no delivery implied.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conversion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50992" y="2039112"/>
            <a:ext cx="2587752" cy="3246120"/>
          </a:xfrm>
          <a:prstGeom prst="roundRect">
            <a:avLst>
              <a:gd name="adj" fmla="val 2827"/>
            </a:avLst>
          </a:prstGeom>
          <a:solidFill>
            <a:srgbClr val="FCE7DB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148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NOV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60720" y="2404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LAUNCH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60720" y="27523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 Marketplace live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0" y="3063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substantive launch, once relay rewards and modules are transactable. Kaito mindshare campaign and mesh missions activate here.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relaying nodes, missions completed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214884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– JAN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366760" y="2404872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PROOF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66760" y="275234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⌁ Verification real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66760" y="30632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content once circuit verification is genuinely running. Targets developer and press audiences, not retail.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66760" y="4544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pickups, developer signups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7150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Avalanche ecosystem builders · privacy and secure-hardware communities · off-grid and censorship-resistant trade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548640" y="60350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acquisition until organic conversion is demonstrated at the Oct–Nov launch. Hardware remains concept-only pending a manufacturing partner.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· CHANNELS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Mesh missions &amp; the Kaito mindshare campaign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deliberately asymmetric: product missions settle on-chain, social missions are scored off it. Rewards weight toward verifiable usage.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MISSIONS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404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against on-chain state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7066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an intent over the mesh with no network path available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2688" y="332841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a threshold volume of gateway traffic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2688" y="39502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guardians and complete a recovery dry run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2688" y="45720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or equip a module NFT once the Marketplace ships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97880" y="2148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MISSIONS · KAITO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404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Kaito's mindshare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27249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270662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CabalMesh as a Kaito Genesis/Yapper project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3346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81928" y="332841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about the protocol — Kaito scores and ranks the post publicly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97880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81928" y="39502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that converts to a completed product mission, not a bare signup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CE7D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59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MECHANIC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296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completion mints a soulbound Genesis Node badge via the existing CabalMeshVoucher contract — reusing the non-transferable primitive already backing the in-app Standing Badge. Kaito determines rank; on-chain state determines eligibility. Nothing is gated on a metric Kaito cannot verify.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778240" y="228600"/>
            <a:ext cx="2834640" cy="1828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r" indent="0" marL="0">
              <a:buNone/>
            </a:pPr>
            <a:r>
              <a:rPr lang="en-US" sz="10800" b="1" dirty="0">
                <a:solidFill>
                  <a:srgbClr val="F2E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OCT – NOV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goes live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Marketplace.sol and CabalMeshVoucher.sol are deployed to Fuji but unreachable from the app. This phase makes relay work economically real.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CE7D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traffic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297180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24328" y="26060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CE7DB"/>
          </a:solidFill>
          <a:ln/>
        </p:spPr>
      </p:sp>
      <p:sp>
        <p:nvSpPr>
          <p:cNvPr id="12" name="Text 9"/>
          <p:cNvSpPr/>
          <p:nvPr/>
        </p:nvSpPr>
        <p:spPr>
          <a:xfrm>
            <a:off x="2715768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MB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97180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00016" y="26060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CE7DB"/>
          </a:solidFill>
          <a:ln/>
        </p:spPr>
      </p:sp>
      <p:sp>
        <p:nvSpPr>
          <p:cNvPr id="15" name="Text 11"/>
          <p:cNvSpPr/>
          <p:nvPr/>
        </p:nvSpPr>
        <p:spPr>
          <a:xfrm>
            <a:off x="4791456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AVAX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74320" cy="274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75704" y="26060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CE7DB"/>
          </a:solidFill>
          <a:ln/>
        </p:spPr>
      </p:sp>
      <p:sp>
        <p:nvSpPr>
          <p:cNvPr id="18" name="Text 13"/>
          <p:cNvSpPr/>
          <p:nvPr/>
        </p:nvSpPr>
        <p:spPr>
          <a:xfrm>
            <a:off x="6867144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module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512" y="2971800"/>
            <a:ext cx="274320" cy="27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851392" y="260604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E8541A"/>
          </a:solidFill>
          <a:ln/>
        </p:spPr>
      </p:sp>
      <p:sp>
        <p:nvSpPr>
          <p:cNvPr id="21" name="Text 15"/>
          <p:cNvSpPr/>
          <p:nvPr/>
        </p:nvSpPr>
        <p:spPr>
          <a:xfrm>
            <a:off x="8942832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yield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37947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reflexive loop: utilisation raises module value, which raises the incentive to relay.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4297680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48640" y="44622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7914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Redeploy CabalMeshVoucher with mint authority bound to RelayRewards — closing the current unrestricted-mint path</a:t>
            </a:r>
            <a:endParaRPr lang="en-US" sz="1080" dirty="0"/>
          </a:p>
        </p:txBody>
      </p:sp>
      <p:sp>
        <p:nvSpPr>
          <p:cNvPr id="26" name="Text 20"/>
          <p:cNvSpPr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Wire gateway relay to RelayRewards.recordGatewayRelay, paid atomically from the settlement it carries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548640" y="563270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Ship MARKET and VAULT → MODULES against the redeployed contracts; compute yield from verified ownership, not local state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548640" y="6172200"/>
            <a:ext cx="11064240" cy="0"/>
          </a:xfrm>
          <a:prstGeom prst="line">
            <a:avLst/>
          </a:prstGeom>
          <a:noFill/>
          <a:ln w="12700">
            <a:solidFill>
              <a:srgbClr val="E7E1D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48640" y="626364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condition: MB earned from attributable gateway relay converts to AVAX and buys a module whose yield effect is verifiable on-chain.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778240" y="228600"/>
            <a:ext cx="2834640" cy="18288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r" indent="0" marL="0">
              <a:buNone/>
            </a:pPr>
            <a:r>
              <a:rPr lang="en-US" sz="10800" b="1" dirty="0">
                <a:solidFill>
                  <a:srgbClr val="F2EE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NOV – DEC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bounded negotiation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currently claims verified proofs and negotiating agents. Neither is enforced today. This phase makes the claims true or removes them.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ZK proving code at all — the unused Noir stub was deleted rather than left to imply a capability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9300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agent-to-agent negotiation — matching resolves against a fixed listing price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4281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No structural bound preventing an unsafe negotiation implementation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2194560"/>
            <a:ext cx="5349240" cy="2834640"/>
          </a:xfrm>
          <a:prstGeom prst="roundRect">
            <a:avLst>
              <a:gd name="adj" fmla="val 3226"/>
            </a:avLst>
          </a:prstGeom>
          <a:solidFill>
            <a:srgbClr val="FCE7DB"/>
          </a:solidFill>
          <a:ln/>
        </p:spPr>
      </p:sp>
      <p:sp>
        <p:nvSpPr>
          <p:cNvPr id="13" name="Text 11"/>
          <p:cNvSpPr/>
          <p:nvPr/>
        </p:nvSpPr>
        <p:spPr>
          <a:xfrm>
            <a:off x="589788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STATE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27432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Proof verification runs against a real Noir circuit in CI, not a non-empty-input 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349300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Bounded offer / counter-offer / accept protocol with a hard round limit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97880" y="4242816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91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Price guardrails enforced in Rust — the model proposes, it never sets the bound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2EEE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394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no nargo in the current CI image. Negotiation is sequenced behind single-shot matching reliability — llama2 JSON adherence is already marginal, and multi-turn compounds it.</a:t>
            </a:r>
            <a:endParaRPr lang="en-US" sz="10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247120" y="6537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· DEC 2026 – JAN 2027 · EXPLORATORY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91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ZK proves the outcome.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hide the negotiation.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3337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open research. The deliverable is a scoped feasibility assessment, not shipped code.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880360" y="4279392"/>
            <a:ext cx="82296" cy="82296"/>
          </a:xfrm>
          <a:prstGeom prst="ellipse">
            <a:avLst/>
          </a:prstGeom>
          <a:solidFill>
            <a:srgbClr val="E8541A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413308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FHE and MPC for negotiation-content privacy — no prior art exists in this codebase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4846320"/>
            <a:ext cx="82296" cy="82296"/>
          </a:xfrm>
          <a:prstGeom prst="ellipse">
            <a:avLst/>
          </a:prstGeom>
          <a:solidFill>
            <a:srgbClr val="E8541A"/>
          </a:solidFill>
          <a:ln/>
        </p:spPr>
      </p:sp>
      <p:sp>
        <p:nvSpPr>
          <p:cNvPr id="11" name="Text 9"/>
          <p:cNvSpPr/>
          <p:nvPr/>
        </p:nvSpPr>
        <p:spPr>
          <a:xfrm>
            <a:off x="3154680" y="470001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the desktop vault key to Secure Enclave / TPM instead of the current 0o600 file provider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80360" y="5413248"/>
            <a:ext cx="82296" cy="82296"/>
          </a:xfrm>
          <a:prstGeom prst="ellipse">
            <a:avLst/>
          </a:prstGeom>
          <a:solidFill>
            <a:srgbClr val="E8541A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526694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BLE plane on Windows and Linux, where backend::choose returns None and the app degrades silently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05840"/>
            <a:ext cx="1097280" cy="54864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1554480"/>
            <a:ext cx="-548640" cy="82296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005840"/>
            <a:ext cx="-365760" cy="109728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4572000"/>
            <a:ext cx="1097280" cy="54864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789920" y="5120640"/>
            <a:ext cx="-548640" cy="91440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4572000"/>
            <a:ext cx="1463040" cy="-64008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97840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9" name="Shape 7"/>
          <p:cNvSpPr/>
          <p:nvPr/>
        </p:nvSpPr>
        <p:spPr>
          <a:xfrm>
            <a:off x="1984248" y="152704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" y="97840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1" name="Shape 9"/>
          <p:cNvSpPr/>
          <p:nvPr/>
        </p:nvSpPr>
        <p:spPr>
          <a:xfrm>
            <a:off x="9665208" y="454456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62488" y="509320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65208" y="4544568"/>
            <a:ext cx="54864" cy="54864"/>
          </a:xfrm>
          <a:prstGeom prst="ellipse">
            <a:avLst/>
          </a:prstGeom>
          <a:solidFill>
            <a:srgbClr val="3A322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Revised against the code, not the narrative.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96596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B7A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traceable to a file in the repository. When the status audit changes, this plan changes with it.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37360" y="4023360"/>
            <a:ext cx="2423160" cy="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416052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737360" y="44531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intent parsing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4023360"/>
            <a:ext cx="2423160" cy="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16052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docs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46320" y="44531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 — CabalMesh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55280" y="4023360"/>
            <a:ext cx="2423160" cy="0"/>
          </a:xfrm>
          <a:prstGeom prst="line">
            <a:avLst/>
          </a:prstGeom>
          <a:noFill/>
          <a:ln w="12700">
            <a:solidFill>
              <a:srgbClr val="3A3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416052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55280" y="445312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Fuji Testnet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5C5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CABALMESH  ·  PROJECT DEVELOPMENT PLAN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CabalMesh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CabalMesh — Development Plan</dc:title>
  <dc:subject>PptxGenJS Presentation</dc:subject>
  <dc:creator>CabalMesh</dc:creator>
  <cp:lastModifiedBy>CabalMesh</cp:lastModifiedBy>
  <cp:revision>1</cp:revision>
  <dcterms:created xsi:type="dcterms:W3CDTF">2026-08-27T10:41:20Z</dcterms:created>
  <dcterms:modified xsi:type="dcterms:W3CDTF">2026-08-27T10:41:20Z</dcterms:modified>
</cp:coreProperties>
</file>
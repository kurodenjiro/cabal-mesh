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17375" y="27432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17375" y="658368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7432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917375" y="27432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917375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658368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917375" y="658368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17375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7432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CABALMESH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0" y="274320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PITCH · 2026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" y="566928"/>
            <a:ext cx="10874959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pic>
        <p:nvPicPr>
          <p:cNvPr id="21" name="Image 0" descr="/Users/mac/dev/Cabal-Mesh/src/ds/assets/logo/hero-lock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1097280"/>
            <a:ext cx="3657600" cy="45720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58368" y="17373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NOBODY NETWORK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03504" y="214884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CabalMesh</a:t>
            </a:r>
            <a:endParaRPr lang="en-US" sz="6200" dirty="0"/>
          </a:p>
        </p:txBody>
      </p:sp>
      <p:sp>
        <p:nvSpPr>
          <p:cNvPr id="24" name="Shape 21"/>
          <p:cNvSpPr/>
          <p:nvPr/>
        </p:nvSpPr>
        <p:spPr>
          <a:xfrm>
            <a:off x="658368" y="3529584"/>
            <a:ext cx="1188720" cy="3200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5" name="Text 22"/>
          <p:cNvSpPr/>
          <p:nvPr/>
        </p:nvSpPr>
        <p:spPr>
          <a:xfrm>
            <a:off x="658368" y="3840480"/>
            <a:ext cx="6675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wallet whose payments survive with no internet — sign an intent on your phone, relay it through the phones around you, settle it on Avalanche the moment any of them finds a signal.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658368" y="626364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CABALMESH · AVALANCHE FUJI · github.com/kurodenjiro/Cabal-Mesh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17375" y="27432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17375" y="658368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7432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CABALMESH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4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· 2026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58368" y="566928"/>
            <a:ext cx="10874959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0" y="6419088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" y="7863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109728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payment rail on earth assumes a live connection — so when the network drops, value stops moving.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658368" y="2743200"/>
            <a:ext cx="3405226" cy="2432304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743200"/>
            <a:ext cx="3405226" cy="25603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18" name="Text 16"/>
          <p:cNvSpPr/>
          <p:nvPr/>
        </p:nvSpPr>
        <p:spPr>
          <a:xfrm>
            <a:off x="969264" y="3054096"/>
            <a:ext cx="278343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2.2B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69264" y="3877056"/>
            <a:ext cx="27834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69264" y="4169664"/>
            <a:ext cx="278343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still offline in 2025 — 96% of them in low- and middle-income countries.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9264" y="4846320"/>
            <a:ext cx="27834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4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ITU, Facts and Figures 2025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4392778" y="2743200"/>
            <a:ext cx="3405226" cy="2432304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92778" y="2743200"/>
            <a:ext cx="3405226" cy="25603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4" name="Text 22"/>
          <p:cNvSpPr/>
          <p:nvPr/>
        </p:nvSpPr>
        <p:spPr>
          <a:xfrm>
            <a:off x="4703674" y="3054096"/>
            <a:ext cx="278343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3.1B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4703674" y="3877056"/>
            <a:ext cx="27834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USAGE GAP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03674" y="4169664"/>
            <a:ext cx="278343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under mobile coverage they do not use — 38% of the world’s population.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3674" y="4846320"/>
            <a:ext cx="27834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4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GSMA, State of Mobile Internet Connectivity 2025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8127187" y="2743200"/>
            <a:ext cx="3405226" cy="2432304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27187" y="2743200"/>
            <a:ext cx="3405226" cy="25603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0" name="Text 28"/>
          <p:cNvSpPr/>
          <p:nvPr/>
        </p:nvSpPr>
        <p:spPr>
          <a:xfrm>
            <a:off x="8438083" y="3054096"/>
            <a:ext cx="278343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300M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8438083" y="3877056"/>
            <a:ext cx="27834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COVERAGE GAP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438083" y="4169664"/>
            <a:ext cx="278343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no mobile internet coverage available to them at all.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38083" y="4846320"/>
            <a:ext cx="278343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4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GSMA, State of Mobile Internet Connectivity 2025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658368" y="5504688"/>
            <a:ext cx="10874959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56875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coverage is not availability: outages, disasters, borders, crowds and dead zones take the network away from everyone else, exactly when local coordination matters most.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17375" y="27432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17375" y="658368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7432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CABALMESH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4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· 2026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58368" y="566928"/>
            <a:ext cx="10874959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0" y="6419088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" y="7863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109728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CabalMesh is a zero-identity wallet that settles offline transactions through the people around you.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658368" y="2395728"/>
            <a:ext cx="2487168" cy="1572768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261518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50" dirty="0"/>
          </a:p>
        </p:txBody>
      </p:sp>
      <p:pic>
        <p:nvPicPr>
          <p:cNvPr id="18" name="Image 0" descr="/Users/mac/dev/Cabal-Mesh/docs/pitch/src/icons2/bo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7168" y="2596896"/>
            <a:ext cx="310896" cy="31089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32688" y="2944368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932688" y="3255264"/>
            <a:ext cx="193852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 and sign on-device. No account, no server, no session.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3200400" y="3182112"/>
            <a:ext cx="196596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51860" y="2395728"/>
            <a:ext cx="2487168" cy="1572768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726180" y="261518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50" dirty="0"/>
          </a:p>
        </p:txBody>
      </p:sp>
      <p:pic>
        <p:nvPicPr>
          <p:cNvPr id="24" name="Image 1" descr="/Users/mac/dev/Cabal-Mesh/docs/pitch/src/icons2/netwo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660" y="2596896"/>
            <a:ext cx="310896" cy="31089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726180" y="2944368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3726180" y="3255264"/>
            <a:ext cx="193852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Nearby phones carry the encrypted payload over Bluetooth and mesh.</a:t>
            </a:r>
            <a:endParaRPr lang="en-US" sz="880" dirty="0"/>
          </a:p>
        </p:txBody>
      </p:sp>
      <p:sp>
        <p:nvSpPr>
          <p:cNvPr id="27" name="Shape 23"/>
          <p:cNvSpPr/>
          <p:nvPr/>
        </p:nvSpPr>
        <p:spPr>
          <a:xfrm>
            <a:off x="5993892" y="3182112"/>
            <a:ext cx="196596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245352" y="2395728"/>
            <a:ext cx="2487168" cy="1572768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519672" y="261518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50" dirty="0"/>
          </a:p>
        </p:txBody>
      </p:sp>
      <p:pic>
        <p:nvPicPr>
          <p:cNvPr id="30" name="Image 2" descr="/Users/mac/dev/Cabal-Mesh/docs/pitch/src/icons2/rout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2596896"/>
            <a:ext cx="310896" cy="31089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519672" y="2944368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6519672" y="3255264"/>
            <a:ext cx="193852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peer with internet drains the queue toward the chain.</a:t>
            </a:r>
            <a:endParaRPr lang="en-US" sz="880" dirty="0"/>
          </a:p>
        </p:txBody>
      </p:sp>
      <p:sp>
        <p:nvSpPr>
          <p:cNvPr id="33" name="Shape 28"/>
          <p:cNvSpPr/>
          <p:nvPr/>
        </p:nvSpPr>
        <p:spPr>
          <a:xfrm>
            <a:off x="8787384" y="3182112"/>
            <a:ext cx="196596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9038844" y="2395728"/>
            <a:ext cx="2487168" cy="1572768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9313164" y="261518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50" dirty="0"/>
          </a:p>
        </p:txBody>
      </p:sp>
      <p:pic>
        <p:nvPicPr>
          <p:cNvPr id="36" name="Image 3" descr="/Users/mac/dev/Cabal-Mesh/docs/pitch/src/icons2/cub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7644" y="2596896"/>
            <a:ext cx="310896" cy="310896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313164" y="2944368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</a:t>
            </a:r>
            <a:endParaRPr lang="en-US" sz="1250" dirty="0"/>
          </a:p>
        </p:txBody>
      </p:sp>
      <p:sp>
        <p:nvSpPr>
          <p:cNvPr id="38" name="Text 32"/>
          <p:cNvSpPr/>
          <p:nvPr/>
        </p:nvSpPr>
        <p:spPr>
          <a:xfrm>
            <a:off x="9313164" y="3255264"/>
            <a:ext cx="193852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confirms on Avalanche. The proof lands; the identity never does.</a:t>
            </a:r>
            <a:endParaRPr lang="en-US" sz="880" dirty="0"/>
          </a:p>
        </p:txBody>
      </p:sp>
      <p:sp>
        <p:nvSpPr>
          <p:cNvPr id="39" name="Shape 33"/>
          <p:cNvSpPr/>
          <p:nvPr/>
        </p:nvSpPr>
        <p:spPr>
          <a:xfrm>
            <a:off x="658368" y="4443984"/>
            <a:ext cx="548640" cy="20117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0" name="Text 34"/>
          <p:cNvSpPr/>
          <p:nvPr/>
        </p:nvSpPr>
        <p:spPr>
          <a:xfrm>
            <a:off x="658368" y="4590288"/>
            <a:ext cx="340522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ALREADY WORKS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658368" y="4919472"/>
            <a:ext cx="322234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6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offline path is built and demonstrated end to end — 470 automated tests, escrow live on Fuji, verified with the radio off.</a:t>
            </a:r>
            <a:endParaRPr lang="en-US" sz="960" dirty="0"/>
          </a:p>
        </p:txBody>
      </p:sp>
      <p:sp>
        <p:nvSpPr>
          <p:cNvPr id="42" name="Shape 36"/>
          <p:cNvSpPr/>
          <p:nvPr/>
        </p:nvSpPr>
        <p:spPr>
          <a:xfrm>
            <a:off x="4392778" y="4443984"/>
            <a:ext cx="548640" cy="20117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3" name="Text 37"/>
          <p:cNvSpPr/>
          <p:nvPr/>
        </p:nvSpPr>
        <p:spPr>
          <a:xfrm>
            <a:off x="4392778" y="4590288"/>
            <a:ext cx="340522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BY SUBTRACTION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4392778" y="4919472"/>
            <a:ext cx="322234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6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account, no server, no stored history. There is nothing to leak because nothing is kept — only a proof settles on-chain.</a:t>
            </a:r>
            <a:endParaRPr lang="en-US" sz="960" dirty="0"/>
          </a:p>
        </p:txBody>
      </p:sp>
      <p:sp>
        <p:nvSpPr>
          <p:cNvPr id="45" name="Shape 39"/>
          <p:cNvSpPr/>
          <p:nvPr/>
        </p:nvSpPr>
        <p:spPr>
          <a:xfrm>
            <a:off x="8127187" y="4443984"/>
            <a:ext cx="548640" cy="20117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6" name="Text 40"/>
          <p:cNvSpPr/>
          <p:nvPr/>
        </p:nvSpPr>
        <p:spPr>
          <a:xfrm>
            <a:off x="8127187" y="4590288"/>
            <a:ext cx="340522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 IS THE MOAT</a:t>
            </a:r>
            <a:endParaRPr lang="en-US" sz="1200" dirty="0"/>
          </a:p>
        </p:txBody>
      </p:sp>
      <p:sp>
        <p:nvSpPr>
          <p:cNvPr id="47" name="Text 41"/>
          <p:cNvSpPr/>
          <p:nvPr/>
        </p:nvSpPr>
        <p:spPr>
          <a:xfrm>
            <a:off x="8127187" y="4919472"/>
            <a:ext cx="322234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6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user is a relay, and relaying earns. Density is the product: the more users in a place, the better it works there.</a:t>
            </a:r>
            <a:endParaRPr lang="en-US" sz="960" dirty="0"/>
          </a:p>
        </p:txBody>
      </p:sp>
      <p:sp>
        <p:nvSpPr>
          <p:cNvPr id="48" name="Shape 42"/>
          <p:cNvSpPr/>
          <p:nvPr/>
        </p:nvSpPr>
        <p:spPr>
          <a:xfrm>
            <a:off x="658368" y="5943600"/>
            <a:ext cx="10874959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658368" y="610819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this loop is a roadmap item — it runs today on iOS, Android and macOS, and the demo is the app, not a mock.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17375" y="27432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17375" y="658368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7432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CABALMESH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4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· 2026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58368" y="566928"/>
            <a:ext cx="10874959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0" y="6419088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" y="7863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109728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large, structural need — and two compounding markets already paying for pieces of it.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658368" y="2267712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NEEDS IT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58368" y="2468880"/>
            <a:ext cx="10874959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57860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2.2B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04088" y="299923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today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704088" y="322783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ITU 2025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2807208" y="257860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3.1B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852928" y="299923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usage gap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2852928" y="322783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GSMA 2025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4956048" y="257860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300M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001768" y="299923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no coverage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5001768" y="322783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GSMA 2025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7150608" y="2542032"/>
            <a:ext cx="0" cy="859536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16368" y="257860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NEED IS URGENT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516368" y="2798064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keeps growing while use does not — the gap is behaviour, price and trust, not towers. An offline-first rail does not wait for either curve.</a:t>
            </a:r>
            <a:endParaRPr lang="en-US" sz="940" dirty="0"/>
          </a:p>
        </p:txBody>
      </p:sp>
      <p:sp>
        <p:nvSpPr>
          <p:cNvPr id="30" name="Text 28"/>
          <p:cNvSpPr/>
          <p:nvPr/>
        </p:nvSpPr>
        <p:spPr>
          <a:xfrm>
            <a:off x="658368" y="371246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 ALREADY BEING PAID FOR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58368" y="3913632"/>
            <a:ext cx="10874959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409651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WIRELESS MESH NETWORKING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8368" y="433425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Mordor Intelligence, 2025 → 2030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4224528" y="4187952"/>
            <a:ext cx="1258214" cy="182880"/>
          </a:xfrm>
          <a:prstGeom prst="rect">
            <a:avLst/>
          </a:prstGeom>
          <a:solidFill>
            <a:srgbClr val="00B8CE"/>
          </a:solidFill>
          <a:ln/>
        </p:spPr>
      </p:sp>
      <p:sp>
        <p:nvSpPr>
          <p:cNvPr id="35" name="Shape 33"/>
          <p:cNvSpPr/>
          <p:nvPr/>
        </p:nvSpPr>
        <p:spPr>
          <a:xfrm>
            <a:off x="4224528" y="4187952"/>
            <a:ext cx="2437790" cy="182880"/>
          </a:xfrm>
          <a:prstGeom prst="rect">
            <a:avLst/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24528" y="442569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$10.4B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565038" y="442569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EBE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$15.8B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394192" y="416966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8.8% CAGR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58368" y="488289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HARDWARE WALLETS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58368" y="512064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Grand View / Mordor, 2025 → 2030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4224528" y="4974336"/>
            <a:ext cx="235915" cy="182880"/>
          </a:xfrm>
          <a:prstGeom prst="rect">
            <a:avLst/>
          </a:prstGeom>
          <a:solidFill>
            <a:srgbClr val="2E8494"/>
          </a:solidFill>
          <a:ln/>
        </p:spPr>
      </p:sp>
      <p:sp>
        <p:nvSpPr>
          <p:cNvPr id="42" name="Shape 40"/>
          <p:cNvSpPr/>
          <p:nvPr/>
        </p:nvSpPr>
        <p:spPr>
          <a:xfrm>
            <a:off x="4224528" y="4974336"/>
            <a:ext cx="1100938" cy="182880"/>
          </a:xfrm>
          <a:prstGeom prst="rect">
            <a:avLst/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24528" y="521208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$0.6B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228186" y="521208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EBE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$1.5B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394192" y="495604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~26% CAGR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784080" y="4096512"/>
            <a:ext cx="1737360" cy="1572768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948672" y="4261104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BEACHHEAD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9948672" y="4480560"/>
            <a:ext cx="142646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6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Avalanche builders, privacy-hardware buyers, and off-grid trade communities. We size it with the Phase 2 pre-order waitlist rather than asserting a number here — the waitlist is the KPI.</a:t>
            </a:r>
            <a:endParaRPr lang="en-US" sz="760" dirty="0"/>
          </a:p>
        </p:txBody>
      </p:sp>
      <p:sp>
        <p:nvSpPr>
          <p:cNvPr id="49" name="Shape 47"/>
          <p:cNvSpPr/>
          <p:nvPr/>
        </p:nvSpPr>
        <p:spPr>
          <a:xfrm>
            <a:off x="658368" y="5797296"/>
            <a:ext cx="10874959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" y="596188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 — ITU Measuring Digital Development: Facts and Figures 2025 · GSMA State of Mobile Internet Connectivity 2025 · Mordor Intelligence · Grand View Research.</a:t>
            </a:r>
            <a:endParaRPr lang="en-US" sz="7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17375" y="27432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17375" y="658368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7432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CABALMESH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4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· 2026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58368" y="566928"/>
            <a:ext cx="10874959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0" y="6419088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" y="7863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MARKET · WHAT WE BUILT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109728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where the mesh is already dense, then sell the hardware that makes it denser.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658368" y="2377440"/>
            <a:ext cx="4023360" cy="320040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377440"/>
            <a:ext cx="4023360" cy="25603"/>
          </a:xfrm>
          <a:prstGeom prst="rect">
            <a:avLst/>
          </a:prstGeom>
          <a:solidFill>
            <a:srgbClr val="9BFF00"/>
          </a:solidFill>
          <a:ln/>
        </p:spPr>
      </p:sp>
      <p:sp>
        <p:nvSpPr>
          <p:cNvPr id="18" name="Text 16"/>
          <p:cNvSpPr/>
          <p:nvPr/>
        </p:nvSpPr>
        <p:spPr>
          <a:xfrm>
            <a:off x="969264" y="2670048"/>
            <a:ext cx="3401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9B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RUNNING TODAY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69264" y="3172968"/>
            <a:ext cx="128016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07008" y="307238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6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signing, relay queue, auto-confirm on reconnect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969264" y="3648456"/>
            <a:ext cx="128016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07008" y="3547872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6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 offline plane on iOS and Android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969264" y="4123944"/>
            <a:ext cx="128016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4023360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6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live on Avalanche Fuji — real deployed address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969264" y="4599432"/>
            <a:ext cx="128016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07008" y="4498848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6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 (AES-256-GCM) + guardian social recovery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969264" y="5074920"/>
            <a:ext cx="128016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07008" y="4974336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6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470 automated tests · desktop and mobile app shipping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4992624" y="2432304"/>
            <a:ext cx="6537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USES IT FIRST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992624" y="27980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68112" y="2779776"/>
            <a:ext cx="60624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Avalanche builders &amp; grant circles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68112" y="3090672"/>
            <a:ext cx="5989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already see the demo and read the code. Cheapest audience to reach, hardest to fool.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4992624" y="3639312"/>
            <a:ext cx="6537960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92624" y="37673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68112" y="3749040"/>
            <a:ext cx="60624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&amp; crypto-hardware buyers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68112" y="4059936"/>
            <a:ext cx="5989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category that already buys a physical security device — ShadowBox and the Nobody Box are pre-order units.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4992624" y="4608576"/>
            <a:ext cx="6537960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92624" y="4736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68112" y="4718304"/>
            <a:ext cx="60624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Off-grid, disaster &amp; local trade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68112" y="5029200"/>
            <a:ext cx="5989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people the offline path was written for. Slowest to reach, highest retention once it works.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658368" y="5760720"/>
            <a:ext cx="10874959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" y="592531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— mesh missions verified on-chain (not just posts) → Kaito mindshare campaign → waitlist → pre-order. Every user is a relay, so growth densifies the network instead of only adding accounts.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17375" y="27432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17375" y="658368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7432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CABALMESH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4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· 2026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58368" y="566928"/>
            <a:ext cx="10874959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0" y="6419088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" y="7863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BUILT · WHAT EACH PIECE IS FOR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109728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pieces are built. Each removes one reason people cannot transact.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58368" y="1883664"/>
            <a:ext cx="3405226" cy="3968496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pic>
        <p:nvPicPr>
          <p:cNvPr id="17" name="Image 0" descr="/Users/mac/dev/Cabal-Mesh/docs/pitch/decks/assets/confirm-offline-dialo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67437" y="1901952"/>
            <a:ext cx="1587087" cy="1883664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914400" y="3877056"/>
            <a:ext cx="731520" cy="201168"/>
          </a:xfrm>
          <a:prstGeom prst="rect">
            <a:avLst/>
          </a:prstGeom>
          <a:ln w="12700">
            <a:solidFill>
              <a:srgbClr val="9BFF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387248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9B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914400" y="4224528"/>
            <a:ext cx="289316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INTENT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14400" y="4590288"/>
            <a:ext cx="289316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9B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 FOR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914400" y="4791456"/>
            <a:ext cx="289316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payment that survives the moment the network does not: signed and queued with the radio off, then broadcast and settled after reconnection — no identity attached.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4392778" y="1883664"/>
            <a:ext cx="3405226" cy="3968496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58538" y="2103120"/>
            <a:ext cx="0" cy="146304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08246" y="2052828"/>
            <a:ext cx="100584" cy="100584"/>
          </a:xfrm>
          <a:prstGeom prst="ellipse">
            <a:avLst/>
          </a:prstGeom>
          <a:solidFill>
            <a:srgbClr val="9BFF00"/>
          </a:solidFill>
          <a:ln/>
        </p:spPr>
      </p:sp>
      <p:sp>
        <p:nvSpPr>
          <p:cNvPr id="26" name="Text 23"/>
          <p:cNvSpPr/>
          <p:nvPr/>
        </p:nvSpPr>
        <p:spPr>
          <a:xfrm>
            <a:off x="4977994" y="2020824"/>
            <a:ext cx="267370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6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 — 5 shares, none a key</a:t>
            </a:r>
            <a:endParaRPr lang="en-US" sz="860" dirty="0"/>
          </a:p>
        </p:txBody>
      </p:sp>
      <p:sp>
        <p:nvSpPr>
          <p:cNvPr id="27" name="Shape 24"/>
          <p:cNvSpPr/>
          <p:nvPr/>
        </p:nvSpPr>
        <p:spPr>
          <a:xfrm>
            <a:off x="4708246" y="2418588"/>
            <a:ext cx="100584" cy="100584"/>
          </a:xfrm>
          <a:prstGeom prst="ellipse">
            <a:avLst/>
          </a:prstGeom>
          <a:solidFill>
            <a:srgbClr val="9BFF00"/>
          </a:solidFill>
          <a:ln/>
        </p:spPr>
      </p:sp>
      <p:sp>
        <p:nvSpPr>
          <p:cNvPr id="28" name="Text 25"/>
          <p:cNvSpPr/>
          <p:nvPr/>
        </p:nvSpPr>
        <p:spPr>
          <a:xfrm>
            <a:off x="4977994" y="2386584"/>
            <a:ext cx="267370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6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— over BLE, unlinkable</a:t>
            </a:r>
            <a:endParaRPr lang="en-US" sz="860" dirty="0"/>
          </a:p>
        </p:txBody>
      </p:sp>
      <p:sp>
        <p:nvSpPr>
          <p:cNvPr id="29" name="Shape 26"/>
          <p:cNvSpPr/>
          <p:nvPr/>
        </p:nvSpPr>
        <p:spPr>
          <a:xfrm>
            <a:off x="4708246" y="2784348"/>
            <a:ext cx="100584" cy="100584"/>
          </a:xfrm>
          <a:prstGeom prst="ellipse">
            <a:avLst/>
          </a:prstGeom>
          <a:solidFill>
            <a:srgbClr val="9BFF00"/>
          </a:solidFill>
          <a:ln/>
        </p:spPr>
      </p:sp>
      <p:sp>
        <p:nvSpPr>
          <p:cNvPr id="30" name="Text 27"/>
          <p:cNvSpPr/>
          <p:nvPr/>
        </p:nvSpPr>
        <p:spPr>
          <a:xfrm>
            <a:off x="4977994" y="2752344"/>
            <a:ext cx="267370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6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— a human, every time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4708246" y="3150108"/>
            <a:ext cx="100584" cy="100584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32" name="Text 29"/>
          <p:cNvSpPr/>
          <p:nvPr/>
        </p:nvSpPr>
        <p:spPr>
          <a:xfrm>
            <a:off x="4977994" y="3118104"/>
            <a:ext cx="267370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6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VETO — 24h window to block</a:t>
            </a:r>
            <a:endParaRPr lang="en-US" sz="860" dirty="0"/>
          </a:p>
        </p:txBody>
      </p:sp>
      <p:sp>
        <p:nvSpPr>
          <p:cNvPr id="33" name="Shape 30"/>
          <p:cNvSpPr/>
          <p:nvPr/>
        </p:nvSpPr>
        <p:spPr>
          <a:xfrm>
            <a:off x="4708246" y="3515868"/>
            <a:ext cx="100584" cy="100584"/>
          </a:xfrm>
          <a:prstGeom prst="ellipse">
            <a:avLst/>
          </a:prstGeom>
          <a:solidFill>
            <a:srgbClr val="9BFF00"/>
          </a:solidFill>
          <a:ln/>
        </p:spPr>
      </p:sp>
      <p:sp>
        <p:nvSpPr>
          <p:cNvPr id="34" name="Text 31"/>
          <p:cNvSpPr/>
          <p:nvPr/>
        </p:nvSpPr>
        <p:spPr>
          <a:xfrm>
            <a:off x="4977994" y="3483864"/>
            <a:ext cx="267370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6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— 3 of 5 rebuild it</a:t>
            </a:r>
            <a:endParaRPr lang="en-US" sz="860" dirty="0"/>
          </a:p>
        </p:txBody>
      </p:sp>
      <p:sp>
        <p:nvSpPr>
          <p:cNvPr id="35" name="Shape 32"/>
          <p:cNvSpPr/>
          <p:nvPr/>
        </p:nvSpPr>
        <p:spPr>
          <a:xfrm>
            <a:off x="4648810" y="3877056"/>
            <a:ext cx="731520" cy="201168"/>
          </a:xfrm>
          <a:prstGeom prst="rect">
            <a:avLst/>
          </a:prstGeom>
          <a:ln w="12700">
            <a:solidFill>
              <a:srgbClr val="9BFF0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648810" y="387248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9B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4648810" y="4224528"/>
            <a:ext cx="289316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GUARDIAN RECOVERY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4648810" y="4590288"/>
            <a:ext cx="289316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9B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 FOR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4648810" y="4791456"/>
            <a:ext cx="289316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Losing the phone stops being fatal. Three of five guardians rebuild the vault over Bluetooth, each approving by hand — and no server ever holds a key.</a:t>
            </a:r>
            <a:endParaRPr lang="en-US" sz="920" dirty="0"/>
          </a:p>
        </p:txBody>
      </p:sp>
      <p:sp>
        <p:nvSpPr>
          <p:cNvPr id="40" name="Shape 37"/>
          <p:cNvSpPr/>
          <p:nvPr/>
        </p:nvSpPr>
        <p:spPr>
          <a:xfrm>
            <a:off x="8127187" y="1883664"/>
            <a:ext cx="3405226" cy="3968496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pic>
        <p:nvPicPr>
          <p:cNvPr id="41" name="Image 1" descr="/Users/mac/dev/Cabal-Mesh/docs/pitch/src/deck-two-box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31540" y="1901952"/>
            <a:ext cx="3196521" cy="1883664"/>
          </a:xfrm>
          <a:prstGeom prst="rect">
            <a:avLst/>
          </a:prstGeom>
        </p:spPr>
      </p:pic>
      <p:sp>
        <p:nvSpPr>
          <p:cNvPr id="42" name="Shape 38"/>
          <p:cNvSpPr/>
          <p:nvPr/>
        </p:nvSpPr>
        <p:spPr>
          <a:xfrm>
            <a:off x="8383219" y="3877056"/>
            <a:ext cx="1645920" cy="201168"/>
          </a:xfrm>
          <a:prstGeom prst="rect">
            <a:avLst/>
          </a:prstGeom>
          <a:ln w="12700">
            <a:solidFill>
              <a:srgbClr val="00E5FF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8383219" y="387248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· PHASE 2</a:t>
            </a:r>
            <a:endParaRPr lang="en-US" sz="750" dirty="0"/>
          </a:p>
        </p:txBody>
      </p:sp>
      <p:sp>
        <p:nvSpPr>
          <p:cNvPr id="44" name="Text 40"/>
          <p:cNvSpPr/>
          <p:nvPr/>
        </p:nvSpPr>
        <p:spPr>
          <a:xfrm>
            <a:off x="8383219" y="4224528"/>
            <a:ext cx="289316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BOXES</a:t>
            </a:r>
            <a:endParaRPr lang="en-US" sz="1500" dirty="0"/>
          </a:p>
        </p:txBody>
      </p:sp>
      <p:sp>
        <p:nvSpPr>
          <p:cNvPr id="45" name="Text 41"/>
          <p:cNvSpPr/>
          <p:nvPr/>
        </p:nvSpPr>
        <p:spPr>
          <a:xfrm>
            <a:off x="8383219" y="4590288"/>
            <a:ext cx="289316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ARE FOR</a:t>
            </a:r>
            <a:endParaRPr lang="en-US" sz="750" dirty="0"/>
          </a:p>
        </p:txBody>
      </p:sp>
      <p:sp>
        <p:nvSpPr>
          <p:cNvPr id="46" name="Text 42"/>
          <p:cNvSpPr/>
          <p:nvPr/>
        </p:nvSpPr>
        <p:spPr>
          <a:xfrm>
            <a:off x="8383219" y="4791456"/>
            <a:ext cx="289316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node and a locker — the first things we can sell. The ShadowBox relays for the neighbourhood, runs the local model and generates the proof; the Nobody Box is escrow at the front door, a parcel locker whose bolt turns when the deal settles.</a:t>
            </a:r>
            <a:endParaRPr lang="en-US" sz="920" dirty="0"/>
          </a:p>
        </p:txBody>
      </p:sp>
      <p:sp>
        <p:nvSpPr>
          <p:cNvPr id="47" name="Shape 43"/>
          <p:cNvSpPr/>
          <p:nvPr/>
        </p:nvSpPr>
        <p:spPr>
          <a:xfrm>
            <a:off x="658368" y="6035040"/>
            <a:ext cx="10874959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58368" y="6199632"/>
            <a:ext cx="10698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OF IT CHECKABLE — 61 automated tests · escrow live on Fuji 0xCaFF53657191d75Aa4f5C2182210302656d8B392 · demo youtu.be/Z3ooub-mnCw · code github.com/kurodenjiro/Cabal-Mesh</a:t>
            </a:r>
            <a:endParaRPr lang="en-US" sz="7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17375" y="27432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17375" y="6583680"/>
            <a:ext cx="-146304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583680"/>
            <a:ext cx="0" cy="-14630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7432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CABALMESH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4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· 2026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58368" y="566928"/>
            <a:ext cx="10874959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0" y="6419088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" y="7863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10972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building it — and how they decide what ships.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58368" y="2011680"/>
            <a:ext cx="4023360" cy="3291840"/>
          </a:xfrm>
          <a:prstGeom prst="rect">
            <a:avLst/>
          </a:prstGeom>
          <a:solidFill>
            <a:srgbClr val="0D0D0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011680"/>
            <a:ext cx="4023360" cy="25603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8" name="Text 16"/>
          <p:cNvSpPr/>
          <p:nvPr/>
        </p:nvSpPr>
        <p:spPr>
          <a:xfrm>
            <a:off x="987552" y="2340864"/>
            <a:ext cx="3364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· ENGINEERING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87552" y="2615184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kurodenjiro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87552" y="3163824"/>
            <a:ext cx="33649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Wrote the mesh, the BLE offline plane, the vault, guardian recovery and the on-chain settlement path — 74 commits in the first 30 days.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87552" y="4498848"/>
            <a:ext cx="3364992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4663440"/>
            <a:ext cx="33649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team of two to three. Full bios on request.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047488" y="2029968"/>
            <a:ext cx="6485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TEAM WORKS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47488" y="23957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522976" y="2377440"/>
            <a:ext cx="6010351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audit ships with the pitch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522976" y="2688336"/>
            <a:ext cx="5937199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code-read status document lists what does not work, feature by feature, with the file to check.</a:t>
            </a:r>
            <a:endParaRPr lang="en-US" sz="940" dirty="0"/>
          </a:p>
        </p:txBody>
      </p:sp>
      <p:sp>
        <p:nvSpPr>
          <p:cNvPr id="27" name="Text 25"/>
          <p:cNvSpPr/>
          <p:nvPr/>
        </p:nvSpPr>
        <p:spPr>
          <a:xfrm>
            <a:off x="5522976" y="3145536"/>
            <a:ext cx="593719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docs/product-status.md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5047488" y="3346704"/>
            <a:ext cx="6485839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47488" y="343814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522976" y="3419856"/>
            <a:ext cx="6010351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proposes, Rust signs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522976" y="3730752"/>
            <a:ext cx="5937199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only produces validated fields. Rust still validates, previews and signs — the safety property holds by construction.</a:t>
            </a:r>
            <a:endParaRPr lang="en-US" sz="940" dirty="0"/>
          </a:p>
        </p:txBody>
      </p:sp>
      <p:sp>
        <p:nvSpPr>
          <p:cNvPr id="32" name="Text 30"/>
          <p:cNvSpPr/>
          <p:nvPr/>
        </p:nvSpPr>
        <p:spPr>
          <a:xfrm>
            <a:off x="5522976" y="4187952"/>
            <a:ext cx="593719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parse_intent_chat · commands.rs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5047488" y="4389120"/>
            <a:ext cx="6485839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47488" y="44805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522976" y="4462272"/>
            <a:ext cx="6010351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true story over three half-built ones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522976" y="4773168"/>
            <a:ext cx="5937199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4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that imply capability we do not have get hidden rather than demoed. The offline path is the one we stake the pitch on.</a:t>
            </a:r>
            <a:endParaRPr lang="en-US" sz="940" dirty="0"/>
          </a:p>
        </p:txBody>
      </p:sp>
      <p:sp>
        <p:nvSpPr>
          <p:cNvPr id="37" name="Text 35"/>
          <p:cNvSpPr/>
          <p:nvPr/>
        </p:nvSpPr>
        <p:spPr>
          <a:xfrm>
            <a:off x="5522976" y="5230368"/>
            <a:ext cx="593719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CabalMesh-Project-Plan.md §4</a:t>
            </a:r>
            <a:endParaRPr lang="en-US" sz="760" dirty="0"/>
          </a:p>
        </p:txBody>
      </p:sp>
      <p:sp>
        <p:nvSpPr>
          <p:cNvPr id="38" name="Shape 36"/>
          <p:cNvSpPr/>
          <p:nvPr/>
        </p:nvSpPr>
        <p:spPr>
          <a:xfrm>
            <a:off x="658368" y="5669280"/>
            <a:ext cx="10874959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583387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in this deck points at a file, a contract address or a video. Nothing on these seven slides is a projection.</a:t>
            </a: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CabalMesh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CabalMesh — Pitch</dc:title>
  <dc:subject>PptxGenJS Presentation</dc:subject>
  <dc:creator>CabalMesh</dc:creator>
  <cp:lastModifiedBy>CabalMesh</cp:lastModifiedBy>
  <cp:revision>1</cp:revision>
  <dcterms:created xsi:type="dcterms:W3CDTF">2026-08-27T10:17:41Z</dcterms:created>
  <dcterms:modified xsi:type="dcterms:W3CDTF">2026-08-27T10:17:41Z</dcterms:modified>
</cp:coreProperties>
</file>